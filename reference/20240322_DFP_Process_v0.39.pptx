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6" r:id="rId1"/>
  </p:sldMasterIdLst>
  <p:sldIdLst>
    <p:sldId id="268" r:id="rId2"/>
    <p:sldId id="377" r:id="rId3"/>
    <p:sldId id="381" r:id="rId4"/>
    <p:sldId id="382" r:id="rId5"/>
    <p:sldId id="378" r:id="rId6"/>
    <p:sldId id="256" r:id="rId7"/>
    <p:sldId id="340" r:id="rId8"/>
    <p:sldId id="331" r:id="rId9"/>
    <p:sldId id="349" r:id="rId10"/>
    <p:sldId id="332" r:id="rId11"/>
    <p:sldId id="333" r:id="rId12"/>
    <p:sldId id="334" r:id="rId13"/>
    <p:sldId id="335" r:id="rId14"/>
    <p:sldId id="336" r:id="rId15"/>
    <p:sldId id="337" r:id="rId16"/>
    <p:sldId id="339" r:id="rId17"/>
    <p:sldId id="355" r:id="rId18"/>
    <p:sldId id="261" r:id="rId19"/>
    <p:sldId id="353" r:id="rId20"/>
    <p:sldId id="354" r:id="rId21"/>
    <p:sldId id="356" r:id="rId22"/>
    <p:sldId id="359" r:id="rId23"/>
    <p:sldId id="360" r:id="rId24"/>
    <p:sldId id="361" r:id="rId25"/>
    <p:sldId id="362" r:id="rId26"/>
    <p:sldId id="363" r:id="rId27"/>
    <p:sldId id="367" r:id="rId28"/>
    <p:sldId id="368" r:id="rId29"/>
    <p:sldId id="369" r:id="rId30"/>
    <p:sldId id="370" r:id="rId31"/>
    <p:sldId id="371" r:id="rId32"/>
    <p:sldId id="372" r:id="rId33"/>
    <p:sldId id="287" r:id="rId34"/>
    <p:sldId id="375" r:id="rId35"/>
    <p:sldId id="289" r:id="rId36"/>
    <p:sldId id="376" r:id="rId37"/>
    <p:sldId id="290" r:id="rId38"/>
    <p:sldId id="291" r:id="rId39"/>
    <p:sldId id="292" r:id="rId40"/>
    <p:sldId id="373" r:id="rId41"/>
    <p:sldId id="275" r:id="rId42"/>
    <p:sldId id="293" r:id="rId43"/>
    <p:sldId id="294" r:id="rId44"/>
    <p:sldId id="295" r:id="rId45"/>
    <p:sldId id="298" r:id="rId46"/>
    <p:sldId id="299" r:id="rId47"/>
    <p:sldId id="374" r:id="rId48"/>
    <p:sldId id="364" r:id="rId49"/>
    <p:sldId id="365" r:id="rId50"/>
    <p:sldId id="366" r:id="rId51"/>
    <p:sldId id="357" r:id="rId52"/>
    <p:sldId id="352" r:id="rId53"/>
    <p:sldId id="351" r:id="rId54"/>
    <p:sldId id="348" r:id="rId55"/>
    <p:sldId id="350" r:id="rId56"/>
    <p:sldId id="288" r:id="rId57"/>
    <p:sldId id="358" r:id="rId58"/>
    <p:sldId id="346" r:id="rId59"/>
    <p:sldId id="322" r:id="rId60"/>
  </p:sldIdLst>
  <p:sldSz cx="9906000" cy="6858000" type="A4"/>
  <p:notesSz cx="6797675" cy="9926638"/>
  <p:embeddedFontLst>
    <p:embeddedFont>
      <p:font typeface="Arial Narrow" panose="020B0606020202030204" pitchFamily="34" charset="0"/>
      <p:regular r:id="rId61"/>
      <p:bold r:id="rId62"/>
      <p:italic r:id="rId63"/>
      <p:boldItalic r:id="rId6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252525"/>
    <a:srgbClr val="292C4B"/>
    <a:srgbClr val="CC00CC"/>
    <a:srgbClr val="0086D1"/>
    <a:srgbClr val="FFFFFF"/>
    <a:srgbClr val="E2564B"/>
    <a:srgbClr val="000000"/>
    <a:srgbClr val="FB31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86" autoAdjust="0"/>
    <p:restoredTop sz="95026" autoAdjust="0"/>
  </p:normalViewPr>
  <p:slideViewPr>
    <p:cSldViewPr snapToGrid="0">
      <p:cViewPr varScale="1">
        <p:scale>
          <a:sx n="110" d="100"/>
          <a:sy n="110" d="100"/>
        </p:scale>
        <p:origin x="16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3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500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974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524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588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58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1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67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2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73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805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82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2B1AB-A98D-4F59-83FE-F4B720A62F9C}" type="datetimeFigureOut">
              <a:rPr lang="ko-KR" altLang="en-US" smtClean="0"/>
              <a:t>2024-04-11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63FCA-EDEA-433A-A0A4-90151E0039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848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7.png"/><Relationship Id="rId7" Type="http://schemas.openxmlformats.org/officeDocument/2006/relationships/image" Target="../media/image4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F14DDA78-E719-8A20-3E6B-13992B7EE6A6}"/>
              </a:ext>
            </a:extLst>
          </p:cNvPr>
          <p:cNvGrpSpPr/>
          <p:nvPr/>
        </p:nvGrpSpPr>
        <p:grpSpPr>
          <a:xfrm>
            <a:off x="903000" y="1654693"/>
            <a:ext cx="8100000" cy="4500000"/>
            <a:chOff x="452999" y="2022367"/>
            <a:chExt cx="7941180" cy="426732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0812CF6-0DA9-4AA9-B5BE-DBE38DC7A5CF}"/>
                </a:ext>
              </a:extLst>
            </p:cNvPr>
            <p:cNvSpPr/>
            <p:nvPr/>
          </p:nvSpPr>
          <p:spPr>
            <a:xfrm>
              <a:off x="452999" y="2022367"/>
              <a:ext cx="7941180" cy="4267322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853AD2-896A-42FA-968B-8A645CB96ACA}"/>
                </a:ext>
              </a:extLst>
            </p:cNvPr>
            <p:cNvSpPr txBox="1"/>
            <p:nvPr/>
          </p:nvSpPr>
          <p:spPr>
            <a:xfrm>
              <a:off x="505940" y="2069210"/>
              <a:ext cx="7835298" cy="4173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★ 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기본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프로세스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] 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 직접 운임 견적 요청 기능을 구현</a:t>
              </a:r>
              <a:endParaRPr lang="en-US" altLang="ko-KR" sz="14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화주가 직접 운임 견적 요청 시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상하이컨테이너운임지수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(SCFI)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기준으로 우선 견적</a:t>
              </a:r>
              <a:endParaRPr lang="en-US" altLang="ko-KR" sz="13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 견적 요청 완료 전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물성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구간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일정이 겹치는 모든 운임 공동구매 건이 추천으로 화면에 출력</a:t>
              </a:r>
              <a:endParaRPr lang="en-US" altLang="ko-KR" sz="13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화주가 특정 운임 공동구매 건을 선택하면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해당 공동구매의 참여 여부 결정 가능</a:t>
              </a:r>
              <a:endParaRPr lang="en-US" altLang="ko-KR" sz="13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화주가 운임 공동구매에 참여하지 않고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신규 운임 공동구매를 신청하거나 기존 운임 견적 요청 유지 가능</a:t>
              </a:r>
              <a:endParaRPr lang="en-US" altLang="ko-KR" sz="13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endParaRPr lang="en-US" altLang="ko-KR" sz="14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ko-KR" altLang="en-US" sz="14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★ 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차별화 프로세스 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1] 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화주의 물성과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물량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그리고 선적 일정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(From – To)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에 기반한 운임 공동구매 방식을 구현 </a:t>
              </a:r>
              <a:endParaRPr lang="en-US" altLang="ko-KR" sz="13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화주가 운임 공동구매를 메뉴를 통해 접근 가능 </a:t>
              </a:r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 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공동구매 참여 이후 무단 이탈을 방지하기 위한 방지 대책 필요</a:t>
              </a:r>
              <a:endParaRPr lang="en-US" altLang="ko-KR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공동구매는 선적 요청일 </a:t>
              </a:r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D-14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전까지 유효하며</a:t>
              </a:r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그 이후는 </a:t>
              </a:r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Close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되어 선사의 운임 입찰 모드로 전환</a:t>
              </a:r>
              <a:endParaRPr lang="en-US" altLang="ko-KR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공동구매 선적 요청일 </a:t>
              </a:r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D-7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까지 선사 미입찰 시</a:t>
              </a:r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화주에게 운임 공동구매 미진행 통지</a:t>
              </a:r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(SCFI 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적용</a:t>
              </a:r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  <a:p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공동구매 전체 물량에 대해서는 개별 화주에게 공개되지 않도록 조치 필요</a:t>
              </a:r>
              <a:endParaRPr lang="en-US" altLang="ko-KR" sz="13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endPara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ko-KR" altLang="en-US" sz="14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★ 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차별화 프로세스 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2] 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공동구매가 진행 중인 건에 대해서는 선사에서 경매 형식으로 운임 입찰 방식을 구현</a:t>
              </a:r>
              <a:endParaRPr lang="en-US" altLang="ko-KR" sz="14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공동구매 건의 일정 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D-14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부터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D-7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전까지 선사는 특정 건에 대한 운임을 경매 형식으로 제안</a:t>
              </a:r>
              <a:endParaRPr lang="en-US" altLang="ko-KR" sz="13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선사의 운임 투찰은 상하이컨테이너운임지수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(SCFI)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보다는 반드시 낮은 가격으로 제안</a:t>
              </a:r>
              <a:endParaRPr lang="en-US" altLang="ko-KR" sz="13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특수한 시황 발생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급등 및 급락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선복 이슈 등</a:t>
              </a:r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시는 선사 제안가에 대한 제한 해제 가능</a:t>
              </a:r>
              <a:endParaRPr lang="en-US" altLang="ko-KR" sz="13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endParaRPr lang="en-US" altLang="ko-KR" sz="14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ko-KR" altLang="en-US" sz="14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★ 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[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차별화 프로세스 </a:t>
              </a:r>
              <a:r>
                <a:rPr lang="en-US" altLang="ko-KR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3] </a:t>
              </a:r>
              <a:r>
                <a:rPr lang="ko-KR" altLang="en-US" sz="1400" b="1" dirty="0">
                  <a:highlight>
                    <a:srgbClr val="FFFF00"/>
                  </a:highlight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포워더도 화주 역할로 참여 가능할 수 있도록 구현</a:t>
              </a:r>
              <a:endParaRPr lang="en-US" altLang="ko-KR" sz="14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 보유 물량에 대해서도 포워더가 직접 운임 견적 요청이 가능하도록 구성</a:t>
              </a:r>
              <a:endParaRPr lang="en-US" altLang="ko-KR" sz="13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포워더의 물량에 대해서도 운임 공동구매에 참여할 수 있도록 구성</a:t>
              </a:r>
              <a:endParaRPr lang="en-US" altLang="ko-KR" sz="1300" b="1" dirty="0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 - </a:t>
              </a:r>
              <a:r>
                <a:rPr lang="ko-KR" altLang="en-US" sz="13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공동구매 전체 물량에 대해서는 개별 포워더에게 공개되지 않도록 조치 필요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AEF242F-2EE8-41A1-9790-E0BBDBDAF8A0}"/>
              </a:ext>
            </a:extLst>
          </p:cNvPr>
          <p:cNvGrpSpPr/>
          <p:nvPr/>
        </p:nvGrpSpPr>
        <p:grpSpPr>
          <a:xfrm>
            <a:off x="1328447" y="473922"/>
            <a:ext cx="7249100" cy="958816"/>
            <a:chOff x="1825935" y="562352"/>
            <a:chExt cx="6254125" cy="95881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7D2F13-BB50-4EE3-8EC2-AF8FC35506B2}"/>
                </a:ext>
              </a:extLst>
            </p:cNvPr>
            <p:cNvSpPr txBox="1"/>
            <p:nvPr/>
          </p:nvSpPr>
          <p:spPr>
            <a:xfrm>
              <a:off x="1825935" y="562352"/>
              <a:ext cx="62541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3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디지털</a:t>
              </a:r>
              <a:r>
                <a:rPr lang="en-US" altLang="ko-KR" sz="3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3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해운 포워딩 플랫폼 개발 </a:t>
              </a:r>
              <a:r>
                <a:rPr lang="en-US" altLang="ko-KR" sz="3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Project</a:t>
              </a:r>
              <a:endParaRPr lang="ko-KR" altLang="en-US" sz="36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744855-46CF-48B2-A8A2-FF004D11185A}"/>
                </a:ext>
              </a:extLst>
            </p:cNvPr>
            <p:cNvSpPr txBox="1"/>
            <p:nvPr/>
          </p:nvSpPr>
          <p:spPr>
            <a:xfrm>
              <a:off x="2095627" y="1182614"/>
              <a:ext cx="571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(“</a:t>
              </a:r>
              <a:r>
                <a:rPr lang="ko-KR" altLang="en-US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 운임 공동구매</a:t>
              </a:r>
              <a:r>
                <a:rPr lang="en-US" altLang="ko-KR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”</a:t>
              </a:r>
              <a:r>
                <a:rPr lang="ko-KR" altLang="en-US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– “</a:t>
              </a:r>
              <a:r>
                <a:rPr lang="ko-KR" altLang="en-US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 수수료 비딩</a:t>
              </a:r>
              <a:r>
                <a:rPr lang="en-US" altLang="ko-KR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”</a:t>
              </a:r>
              <a:r>
                <a:rPr lang="ko-KR" altLang="en-US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– “</a:t>
              </a:r>
              <a:r>
                <a:rPr lang="ko-KR" altLang="en-US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선사 운임 입찰 방식</a:t>
              </a:r>
              <a:r>
                <a:rPr lang="en-US" altLang="ko-KR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”</a:t>
              </a:r>
              <a:r>
                <a:rPr lang="ko-KR" altLang="en-US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결합 구조</a:t>
              </a:r>
              <a:r>
                <a:rPr lang="en-US" altLang="ko-KR" sz="1600" b="1" u="sng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ko-KR" altLang="en-US" sz="16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004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E7D223-2D12-35B3-C0B4-A277E7597DE5}"/>
              </a:ext>
            </a:extLst>
          </p:cNvPr>
          <p:cNvSpPr txBox="1"/>
          <p:nvPr/>
        </p:nvSpPr>
        <p:spPr>
          <a:xfrm>
            <a:off x="321013" y="405930"/>
            <a:ext cx="1213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cap="all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Index</a:t>
            </a:r>
            <a:endParaRPr lang="ko-KR" altLang="en-US" sz="3200" b="1" cap="all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9F814B-CE26-21CD-0634-EE3C23F37ACA}"/>
              </a:ext>
            </a:extLst>
          </p:cNvPr>
          <p:cNvCxnSpPr>
            <a:cxnSpLocks/>
          </p:cNvCxnSpPr>
          <p:nvPr/>
        </p:nvCxnSpPr>
        <p:spPr>
          <a:xfrm>
            <a:off x="1534807" y="698318"/>
            <a:ext cx="799613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3674938-EFDF-82D4-3DB4-D55A81BD786D}"/>
              </a:ext>
            </a:extLst>
          </p:cNvPr>
          <p:cNvSpPr txBox="1"/>
          <p:nvPr/>
        </p:nvSpPr>
        <p:spPr>
          <a:xfrm>
            <a:off x="410135" y="1283093"/>
            <a:ext cx="407675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1. Business Model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Business Flowchart (Process)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UML Diagram (Scenario)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설계 </a:t>
            </a: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(UI/UX)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5.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 구성도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6. ERD</a:t>
            </a:r>
            <a:endParaRPr lang="ko-KR" altLang="en-US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84FF3B0-9F04-EB49-46D3-30C135F72B85}"/>
              </a:ext>
            </a:extLst>
          </p:cNvPr>
          <p:cNvSpPr/>
          <p:nvPr/>
        </p:nvSpPr>
        <p:spPr>
          <a:xfrm>
            <a:off x="407972" y="1219201"/>
            <a:ext cx="4166746" cy="5847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386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EE33CE9-9ECA-93D2-9F86-104A1BC9C57D}"/>
              </a:ext>
            </a:extLst>
          </p:cNvPr>
          <p:cNvSpPr txBox="1"/>
          <p:nvPr/>
        </p:nvSpPr>
        <p:spPr>
          <a:xfrm>
            <a:off x="65521" y="66231"/>
            <a:ext cx="28568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Basic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Business Model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0BDAF-82EC-0BEB-9AAD-968EC0FFDF75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1. Business Model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4EEAFC1-130F-D0B8-6C0E-3ECA47F38AD1}"/>
              </a:ext>
            </a:extLst>
          </p:cNvPr>
          <p:cNvGrpSpPr/>
          <p:nvPr/>
        </p:nvGrpSpPr>
        <p:grpSpPr>
          <a:xfrm>
            <a:off x="222887" y="1006197"/>
            <a:ext cx="9493686" cy="5472000"/>
            <a:chOff x="226163" y="873641"/>
            <a:chExt cx="9493686" cy="54720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F4B9B70-5373-F691-95F6-0EE0D3D9F7D3}"/>
                </a:ext>
              </a:extLst>
            </p:cNvPr>
            <p:cNvSpPr/>
            <p:nvPr/>
          </p:nvSpPr>
          <p:spPr>
            <a:xfrm>
              <a:off x="226163" y="4653641"/>
              <a:ext cx="4752000" cy="169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r>
                <a:rPr lang="ko-KR" altLang="en-US" sz="14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⑨ 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비용 구조</a:t>
              </a:r>
              <a:endParaRPr lang="en-US" altLang="ko-KR" sz="14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(Cost Structure)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5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lang="ko-KR" altLang="en-US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플랫폼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어플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포함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r>
                <a:rPr lang="en-US" altLang="ko-KR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관리 유지 비용</a:t>
              </a:r>
              <a:endParaRPr lang="en-US" altLang="ko-KR" sz="1050" b="1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</a:t>
              </a: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.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인프라 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투자 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 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운영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비용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클라우드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보안 인증서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도메인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인증 비용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API 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연계 비용 등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.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플랫폼 관리 및 운영 인력 인건 비용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홍보 </a:t>
              </a: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/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마케팅 비용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화주 </a:t>
              </a: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–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선사 운임 계약 기반 연계 프로세스 관리 및 운영을 위한 인건 비용</a:t>
              </a:r>
              <a:endParaRPr lang="ko-KR" altLang="en-US" sz="11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047940E-F0D5-1D01-AAAB-570F4FC81523}"/>
                </a:ext>
              </a:extLst>
            </p:cNvPr>
            <p:cNvSpPr/>
            <p:nvPr/>
          </p:nvSpPr>
          <p:spPr>
            <a:xfrm>
              <a:off x="4967849" y="4653641"/>
              <a:ext cx="4716000" cy="169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r>
                <a:rPr lang="ko-KR" altLang="en-US" sz="14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⑤ 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수익원</a:t>
              </a:r>
              <a:endParaRPr lang="en-US" altLang="ko-KR" sz="14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(Revenue Streams)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5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중개 수수료 </a:t>
              </a:r>
              <a:r>
                <a:rPr lang="en-US" altLang="ko-KR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별첨 참조</a:t>
              </a:r>
              <a:r>
                <a:rPr lang="en-US" altLang="ko-KR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광고료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데이터 분석 </a:t>
              </a: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/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판매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C4363A3-BE76-5E60-E954-BDE681471689}"/>
                </a:ext>
              </a:extLst>
            </p:cNvPr>
            <p:cNvSpPr/>
            <p:nvPr/>
          </p:nvSpPr>
          <p:spPr>
            <a:xfrm>
              <a:off x="5910022" y="3573641"/>
              <a:ext cx="2088000" cy="10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r>
                <a:rPr lang="ko-KR" altLang="en-US" sz="14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③ 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채널</a:t>
              </a:r>
              <a:endParaRPr lang="en-US" altLang="ko-KR" sz="14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(Channels)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6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lang="ko-KR" altLang="en-US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플랫폼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웹 기반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en-US" altLang="ko-KR" sz="105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모바일 어플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정보 </a:t>
              </a:r>
              <a:r>
                <a:rPr kumimoji="0" lang="ko-KR" altLang="en-US" sz="1000" i="0" u="none" strike="noStrike" kern="1200" cap="none" spc="-5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알림용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C66F19B-DD99-B0F6-563F-F727AE310107}"/>
                </a:ext>
              </a:extLst>
            </p:cNvPr>
            <p:cNvSpPr/>
            <p:nvPr/>
          </p:nvSpPr>
          <p:spPr>
            <a:xfrm>
              <a:off x="5910022" y="873643"/>
              <a:ext cx="2088000" cy="270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r>
                <a:rPr lang="ko-KR" altLang="en-US" sz="14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④ 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고객 관계</a:t>
              </a:r>
              <a:endParaRPr lang="en-US" altLang="ko-KR" sz="14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(Customer Relationships)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5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중소형 화주 중심 모집 및 운영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 .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시장 대비 저렴한 운임 제공 가능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. 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플랫폼 기반 물류 서비스 간소화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. 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물량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/</a:t>
              </a:r>
              <a:r>
                <a:rPr kumimoji="0" lang="ko-KR" altLang="en-US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거래 횟수 별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수수료 할인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 </a:t>
              </a: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.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금융 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상품 연계 서비스 </a:t>
              </a:r>
              <a:endParaRPr lang="en-US" altLang="ko-KR" sz="105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 .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데이터 분석 기반 해외 영업 지원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선사 모집 및 운영</a:t>
              </a:r>
              <a:endParaRPr lang="en-US" altLang="ko-KR" sz="1050" b="1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 .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직접 화주</a:t>
              </a: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물량</a:t>
              </a: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모집 대행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 . 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물량 규모별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플랫폼 수수료 할인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포워더 모집 및 운영</a:t>
              </a:r>
              <a:endParaRPr lang="en-US" altLang="ko-KR" sz="1050" b="1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 .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직접 화주</a:t>
              </a: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물량</a:t>
              </a: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모집 대행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 . 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물량 규모별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플랫폼 수수료 할인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BF582F1-081B-0EF0-6082-A38DE7B5B878}"/>
                </a:ext>
              </a:extLst>
            </p:cNvPr>
            <p:cNvSpPr/>
            <p:nvPr/>
          </p:nvSpPr>
          <p:spPr>
            <a:xfrm>
              <a:off x="2168272" y="2853641"/>
              <a:ext cx="1836000" cy="180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r>
                <a:rPr lang="ko-KR" altLang="en-US" sz="14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⑥ 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핵심 자원</a:t>
              </a:r>
              <a:endParaRPr lang="en-US" altLang="ko-KR" sz="14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(Key Resources)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화주 </a:t>
              </a:r>
              <a:r>
                <a:rPr lang="en-US" altLang="ko-KR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Pool </a:t>
              </a: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화주</a:t>
              </a: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물량 데이터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선사</a:t>
              </a: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Pool</a:t>
              </a: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lang="ko-KR" altLang="en-US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선사 운임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데이터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플랫폼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브랜드 인지도</a:t>
              </a:r>
              <a:endParaRPr lang="ko-KR" altLang="en-US" sz="11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C29B2A6-30BA-96AC-7E40-445AEFBDC13F}"/>
                </a:ext>
              </a:extLst>
            </p:cNvPr>
            <p:cNvSpPr/>
            <p:nvPr/>
          </p:nvSpPr>
          <p:spPr>
            <a:xfrm>
              <a:off x="2168272" y="873643"/>
              <a:ext cx="1836000" cy="19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r>
                <a:rPr lang="ko-KR" altLang="en-US" sz="14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⑦ 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핵심 활동</a:t>
              </a:r>
              <a:endParaRPr lang="en-US" altLang="ko-KR" sz="14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(Key Activities)</a:t>
              </a:r>
            </a:p>
            <a:p>
              <a:endParaRPr lang="en-US" altLang="ko-KR" sz="5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>
                <a:lnSpc>
                  <a:spcPct val="110000"/>
                </a:lnSpc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화주 및 선사 대상 홍보 </a:t>
              </a: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/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마케팅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고객 관점 플랫폼 고도화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96838" marR="0" lvl="0" indent="-96838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. 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계약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선적 예약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운송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통관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선적 연계 업무 기능 고도화 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 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자동화</a:t>
              </a:r>
              <a:endParaRPr lang="en-US" altLang="ko-KR" sz="1050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. 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부가 서비스 고도화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(Visibility </a:t>
              </a:r>
              <a:r>
                <a:rPr lang="ko-KR" altLang="en-US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등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en-US" altLang="ko-KR" sz="105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적시 업데이트</a:t>
              </a:r>
              <a:endParaRPr lang="en-US" altLang="ko-KR" sz="1050" b="1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데이터 분석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</a:t>
              </a:r>
              <a:r>
                <a:rPr kumimoji="0" lang="ko-KR" altLang="en-US" sz="100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운임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화주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, </a:t>
              </a:r>
              <a:r>
                <a:rPr kumimoji="0" lang="ko-KR" altLang="en-US" sz="100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화물 등</a:t>
              </a:r>
              <a:r>
                <a:rPr kumimoji="0" lang="en-US" altLang="ko-KR" sz="1000" i="0" u="none" strike="noStrike" kern="1200" cap="none" spc="-5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3E61532-D1C7-7235-B95A-DDADFD67DDBB}"/>
                </a:ext>
              </a:extLst>
            </p:cNvPr>
            <p:cNvSpPr/>
            <p:nvPr/>
          </p:nvSpPr>
          <p:spPr>
            <a:xfrm>
              <a:off x="226851" y="873641"/>
              <a:ext cx="1944000" cy="37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r>
                <a:rPr lang="ko-KR" altLang="en-US" sz="14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⑧ 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핵심 파트너십</a:t>
              </a:r>
              <a:endParaRPr lang="en-US" altLang="ko-KR" sz="14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(Key Partners)</a:t>
              </a:r>
            </a:p>
            <a:p>
              <a:pPr>
                <a:lnSpc>
                  <a:spcPct val="110000"/>
                </a:lnSpc>
              </a:pPr>
              <a:endParaRPr lang="en-US" altLang="ko-KR" sz="500" b="1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>
                <a:lnSpc>
                  <a:spcPct val="110000"/>
                </a:lnSpc>
              </a:pPr>
              <a:r>
                <a:rPr lang="en-US" altLang="ko-KR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한국무역협회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(www.kita.net)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한국국제물류협회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(www.kiffa.or.kr)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국가물류통합정보센터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(www.nlic.go.kr)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한국통합물류협회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(www.koila.or.kr)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한국해운협회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(www.oneksa.kr)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한국해운조합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(www.theksa.or.kr)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대한상공회의소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(www.korcham.net)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정부기관</a:t>
              </a:r>
              <a:endParaRPr lang="en-US" altLang="ko-KR" sz="1050" b="1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>
                <a:lnSpc>
                  <a:spcPct val="110000"/>
                </a:lnSpc>
              </a:pPr>
              <a:r>
                <a:rPr lang="ko-KR" altLang="en-US" sz="1050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</a:t>
              </a:r>
              <a:r>
                <a:rPr lang="en-US" altLang="ko-KR" sz="1050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. </a:t>
              </a:r>
              <a:r>
                <a:rPr lang="ko-KR" altLang="en-US" sz="1050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국토교통부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(www.molit.go.kr)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050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. </a:t>
              </a:r>
              <a:r>
                <a:rPr lang="ko-KR" altLang="en-US" sz="1050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부산항만공사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(www.busanpa.com)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050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. </a:t>
              </a:r>
              <a:r>
                <a:rPr lang="ko-KR" altLang="en-US" sz="1050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울산항만공사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(www.upa.or.kr)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050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. </a:t>
              </a:r>
              <a:r>
                <a:rPr lang="ko-KR" altLang="en-US" sz="1050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인천항만공사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(www.icpa.or.kr)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050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. </a:t>
              </a:r>
              <a:r>
                <a:rPr lang="ko-KR" altLang="en-US" sz="1050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한국해양진흥공사</a:t>
              </a:r>
              <a:r>
                <a:rPr lang="en-US" altLang="ko-KR" sz="1000" spc="-5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(www.kobc.or.kr)</a:t>
              </a:r>
              <a:endParaRPr lang="en-US" altLang="ko-KR" sz="1050" spc="-5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>
                <a:lnSpc>
                  <a:spcPct val="110000"/>
                </a:lnSpc>
              </a:pPr>
              <a:r>
                <a:rPr lang="en-US" altLang="ko-KR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금융사</a:t>
              </a:r>
              <a:endParaRPr lang="en-US" altLang="ko-KR" sz="1050" b="1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>
                <a:lnSpc>
                  <a:spcPct val="110000"/>
                </a:lnSpc>
              </a:pPr>
              <a:r>
                <a:rPr lang="en-US" altLang="ko-KR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50" b="1" spc="-50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선사</a:t>
              </a:r>
              <a:endParaRPr lang="en-US" altLang="ko-KR" sz="1050" b="1" spc="-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D464AC7-C5F7-175E-AF7E-F46CE19ED8E1}"/>
                </a:ext>
              </a:extLst>
            </p:cNvPr>
            <p:cNvSpPr/>
            <p:nvPr/>
          </p:nvSpPr>
          <p:spPr>
            <a:xfrm>
              <a:off x="4001387" y="873643"/>
              <a:ext cx="1908000" cy="37799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r>
                <a:rPr lang="ko-KR" altLang="en-US" sz="14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② 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가치 제안</a:t>
              </a:r>
              <a:endParaRPr lang="en-US" altLang="ko-KR" sz="14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(Value Proposition)</a:t>
              </a:r>
            </a:p>
            <a:p>
              <a:endParaRPr lang="en-US" altLang="ko-KR" sz="6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중소형 화주 중심 물류 비용 절감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.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기존 포워더 활용 대비 절감 효과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>
                <a:lnSpc>
                  <a:spcPct val="110000"/>
                </a:lnSpc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중소형 화주의 포워더 선정 </a:t>
              </a:r>
              <a:r>
                <a:rPr lang="ko-KR" altLang="en-US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효율화</a:t>
              </a:r>
              <a:endParaRPr lang="en-US" altLang="ko-KR" sz="1050" b="1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>
                <a:lnSpc>
                  <a:spcPct val="110000"/>
                </a:lnSpc>
                <a:defRPr/>
              </a:pP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</a:t>
              </a: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.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직접 비딩 비용 절감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>
                <a:lnSpc>
                  <a:spcPct val="110000"/>
                </a:lnSpc>
                <a:defRPr/>
              </a:pP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. 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경쟁력 있는 포워더 선정 가능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화주 대상 안정적 물류 서비스 제공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>
                <a:lnSpc>
                  <a:spcPct val="110000"/>
                </a:lnSpc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선사의 직접 영업 한계 해소</a:t>
              </a:r>
              <a:endParaRPr lang="en-US" altLang="ko-KR" sz="1050" b="1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>
                <a:lnSpc>
                  <a:spcPct val="110000"/>
                </a:lnSpc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포워더의 직접 영업 한계 해소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EA1F537-72BA-2992-F01E-DC2BECA3D577}"/>
                </a:ext>
              </a:extLst>
            </p:cNvPr>
            <p:cNvSpPr/>
            <p:nvPr/>
          </p:nvSpPr>
          <p:spPr>
            <a:xfrm>
              <a:off x="7991849" y="873643"/>
              <a:ext cx="1728000" cy="378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r>
                <a:rPr lang="ko-KR" altLang="en-US" sz="14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① 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고객 세그먼트</a:t>
              </a:r>
              <a:endParaRPr lang="en-US" altLang="ko-KR" sz="14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(Customer Segments)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5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중소형 화주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. B2B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고객 화주 중심 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우선 영업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선사</a:t>
              </a:r>
              <a:endParaRPr lang="en-US" altLang="ko-KR" sz="11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10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포워더</a:t>
              </a:r>
              <a:endParaRPr kumimoji="0" lang="en-US" altLang="ko-KR" sz="11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7B3CDCD-8A6E-FC42-A2A5-6F5AA7E3F7F2}"/>
              </a:ext>
            </a:extLst>
          </p:cNvPr>
          <p:cNvSpPr txBox="1"/>
          <p:nvPr/>
        </p:nvSpPr>
        <p:spPr>
          <a:xfrm>
            <a:off x="148241" y="653352"/>
            <a:ext cx="9532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l"/>
            <a:r>
              <a:rPr lang="en-US" altLang="ko-KR" sz="1600" u="sng" dirty="0">
                <a:solidFill>
                  <a:schemeClr val="tx1"/>
                </a:solidFill>
              </a:rPr>
              <a:t>New Business Model : </a:t>
            </a:r>
            <a:r>
              <a:rPr lang="ko-KR" altLang="en-US" sz="1600" u="sng" dirty="0">
                <a:solidFill>
                  <a:schemeClr val="tx1"/>
                </a:solidFill>
              </a:rPr>
              <a:t>화주의 운임 공동구매와 선사의 운임 경쟁 입찰에 기반한 통합 국제 운송 중개 플랫폼</a:t>
            </a:r>
            <a:r>
              <a:rPr lang="en-US" altLang="ko-KR" sz="1600" u="sng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496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EE33CE9-9ECA-93D2-9F86-104A1BC9C57D}"/>
              </a:ext>
            </a:extLst>
          </p:cNvPr>
          <p:cNvSpPr txBox="1"/>
          <p:nvPr/>
        </p:nvSpPr>
        <p:spPr>
          <a:xfrm>
            <a:off x="65521" y="66231"/>
            <a:ext cx="28568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Basic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Business Model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0BDAF-82EC-0BEB-9AAD-968EC0FFDF75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1. Business Model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4EEAFC1-130F-D0B8-6C0E-3ECA47F38AD1}"/>
              </a:ext>
            </a:extLst>
          </p:cNvPr>
          <p:cNvGrpSpPr/>
          <p:nvPr/>
        </p:nvGrpSpPr>
        <p:grpSpPr>
          <a:xfrm>
            <a:off x="222887" y="1006197"/>
            <a:ext cx="9457686" cy="5472000"/>
            <a:chOff x="226163" y="873641"/>
            <a:chExt cx="9457686" cy="5472000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F4B9B70-5373-F691-95F6-0EE0D3D9F7D3}"/>
                </a:ext>
              </a:extLst>
            </p:cNvPr>
            <p:cNvSpPr/>
            <p:nvPr/>
          </p:nvSpPr>
          <p:spPr>
            <a:xfrm>
              <a:off x="226163" y="4653641"/>
              <a:ext cx="4752000" cy="169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r>
                <a:rPr lang="ko-KR" altLang="en-US" sz="14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⑨ </a:t>
              </a:r>
              <a:r>
                <a:rPr lang="ko-KR" altLang="en-US" sz="1400" b="1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비용 구조</a:t>
              </a:r>
              <a:endParaRPr lang="en-US" altLang="ko-KR" sz="1400" b="1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1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(Cost Structure)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5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lang="ko-KR" altLang="en-US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플랫폼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어플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포함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r>
                <a:rPr lang="en-US" altLang="ko-KR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50" b="1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관리 유지 비용</a:t>
              </a:r>
              <a:endParaRPr lang="en-US" altLang="ko-KR" sz="1050" b="1" spc="-5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</a:t>
              </a: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.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인프라 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투자 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 </a:t>
              </a:r>
              <a:r>
                <a:rPr lang="ko-KR" altLang="en-US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운영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비용</a:t>
              </a:r>
              <a:r>
                <a:rPr lang="en-US" altLang="ko-KR" sz="105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클라우드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보안 인증서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도메인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인증 비용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API </a:t>
              </a:r>
              <a:r>
                <a:rPr lang="ko-KR" altLang="en-US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연계 비용 등</a:t>
              </a:r>
              <a:r>
                <a:rPr lang="en-US" altLang="ko-KR" sz="1000" spc="-5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 . </a:t>
              </a:r>
              <a:r>
                <a:rPr kumimoji="0" lang="ko-KR" altLang="en-US" sz="1050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플랫폼 관리 및 운영 인력 인건 비용</a:t>
              </a:r>
              <a:endParaRPr kumimoji="0" lang="en-US" altLang="ko-KR" sz="105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홍보 </a:t>
              </a: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/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마케팅 비용</a:t>
              </a:r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-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화주 </a:t>
              </a:r>
              <a:r>
                <a:rPr kumimoji="0" lang="en-US" altLang="ko-KR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– </a:t>
              </a:r>
              <a:r>
                <a:rPr kumimoji="0" lang="ko-KR" altLang="en-US" sz="1050" b="1" i="0" u="none" strike="noStrike" kern="1200" cap="none" spc="-5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선사 운임 계약 기반 연계 프로세스 관리 및 운영을 위한 인건 비용</a:t>
              </a:r>
              <a:endParaRPr lang="ko-KR" altLang="en-US" sz="11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047940E-F0D5-1D01-AAAB-570F4FC81523}"/>
                </a:ext>
              </a:extLst>
            </p:cNvPr>
            <p:cNvSpPr/>
            <p:nvPr/>
          </p:nvSpPr>
          <p:spPr>
            <a:xfrm>
              <a:off x="226163" y="873641"/>
              <a:ext cx="9457686" cy="54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endParaRPr kumimoji="0" lang="en-US" altLang="ko-KR" sz="105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7B3CDCD-8A6E-FC42-A2A5-6F5AA7E3F7F2}"/>
              </a:ext>
            </a:extLst>
          </p:cNvPr>
          <p:cNvSpPr txBox="1"/>
          <p:nvPr/>
        </p:nvSpPr>
        <p:spPr>
          <a:xfrm>
            <a:off x="222886" y="653352"/>
            <a:ext cx="94576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l"/>
            <a:r>
              <a:rPr lang="ko-KR" altLang="en-US" sz="1600" u="sng" dirty="0">
                <a:solidFill>
                  <a:schemeClr val="tx1"/>
                </a:solidFill>
              </a:rPr>
              <a:t>화주는 무료 회원 가입</a:t>
            </a:r>
            <a:r>
              <a:rPr lang="en-US" altLang="ko-KR" sz="1600" u="sng" dirty="0">
                <a:solidFill>
                  <a:schemeClr val="tx1"/>
                </a:solidFill>
              </a:rPr>
              <a:t> </a:t>
            </a:r>
            <a:r>
              <a:rPr lang="ko-KR" altLang="en-US" sz="1600" u="sng" dirty="0">
                <a:solidFill>
                  <a:schemeClr val="tx1"/>
                </a:solidFill>
              </a:rPr>
              <a:t>및 </a:t>
            </a:r>
            <a:r>
              <a:rPr lang="ko-KR" altLang="en-US" sz="1600" u="sng" dirty="0" err="1">
                <a:solidFill>
                  <a:schemeClr val="tx1"/>
                </a:solidFill>
              </a:rPr>
              <a:t>포워더는</a:t>
            </a:r>
            <a:r>
              <a:rPr lang="ko-KR" altLang="en-US" sz="1600" u="sng" dirty="0">
                <a:solidFill>
                  <a:schemeClr val="tx1"/>
                </a:solidFill>
              </a:rPr>
              <a:t> 멤버십 가입 구조를 유지하고</a:t>
            </a:r>
            <a:r>
              <a:rPr lang="en-US" altLang="ko-KR" sz="1600" u="sng" dirty="0">
                <a:solidFill>
                  <a:schemeClr val="tx1"/>
                </a:solidFill>
              </a:rPr>
              <a:t>, </a:t>
            </a:r>
            <a:r>
              <a:rPr lang="ko-KR" altLang="en-US" sz="1600" u="sng" dirty="0">
                <a:solidFill>
                  <a:schemeClr val="tx1"/>
                </a:solidFill>
              </a:rPr>
              <a:t>선사는 가입비와 물량 낙찰 기반 수수료 부과를 검토</a:t>
            </a:r>
            <a:r>
              <a:rPr lang="en-US" altLang="ko-KR" sz="1600" u="sng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44DBC2D-E9CA-931D-4E03-0FE4C1E6E48B}"/>
              </a:ext>
            </a:extLst>
          </p:cNvPr>
          <p:cNvSpPr/>
          <p:nvPr/>
        </p:nvSpPr>
        <p:spPr>
          <a:xfrm>
            <a:off x="4708478" y="3112197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2000" b="1" dirty="0">
                <a:solidFill>
                  <a:srgbClr val="FFC000"/>
                </a:solidFill>
              </a:rPr>
              <a:t>플랫폼</a:t>
            </a:r>
            <a:endParaRPr lang="en-US" altLang="ko-KR" sz="2000" b="1" dirty="0">
              <a:solidFill>
                <a:srgbClr val="FFC000"/>
              </a:solidFill>
            </a:endParaRPr>
          </a:p>
          <a:p>
            <a:pPr algn="ctr"/>
            <a:r>
              <a:rPr lang="ko-KR" altLang="en-US" sz="2000" b="1" dirty="0">
                <a:solidFill>
                  <a:srgbClr val="FFC000"/>
                </a:solidFill>
              </a:rPr>
              <a:t>서비스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849E3BA-9143-63C2-8E13-2444E3028B04}"/>
              </a:ext>
            </a:extLst>
          </p:cNvPr>
          <p:cNvSpPr/>
          <p:nvPr/>
        </p:nvSpPr>
        <p:spPr>
          <a:xfrm>
            <a:off x="8617799" y="3292197"/>
            <a:ext cx="900000" cy="9000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b="1" dirty="0">
                <a:solidFill>
                  <a:schemeClr val="accent2">
                    <a:lumMod val="50000"/>
                  </a:schemeClr>
                </a:solidFill>
              </a:rPr>
              <a:t>선사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5D445F-325B-6AA1-2EB7-0924D3792CB6}"/>
              </a:ext>
            </a:extLst>
          </p:cNvPr>
          <p:cNvSpPr txBox="1"/>
          <p:nvPr/>
        </p:nvSpPr>
        <p:spPr>
          <a:xfrm>
            <a:off x="6182702" y="3041009"/>
            <a:ext cx="1872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ko-KR" altLang="en-US" sz="1050" u="sng" dirty="0">
                <a:solidFill>
                  <a:schemeClr val="tx1"/>
                </a:solidFill>
              </a:rPr>
              <a:t>안정적 물량 제공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en-US" altLang="ko-KR" sz="1050" u="sng" dirty="0">
                <a:solidFill>
                  <a:schemeClr val="tx1"/>
                </a:solidFill>
              </a:rPr>
              <a:t> </a:t>
            </a:r>
            <a:r>
              <a:rPr lang="ko-KR" altLang="en-US" sz="1050" u="sng" dirty="0">
                <a:solidFill>
                  <a:schemeClr val="tx1"/>
                </a:solidFill>
              </a:rPr>
              <a:t>데이터 분석 결과 제공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en-US" altLang="ko-KR" sz="1050" u="sng" dirty="0">
                <a:solidFill>
                  <a:schemeClr val="tx1"/>
                </a:solidFill>
              </a:rPr>
              <a:t> </a:t>
            </a:r>
            <a:r>
              <a:rPr lang="ko-KR" altLang="en-US" sz="1050" u="sng" dirty="0">
                <a:solidFill>
                  <a:schemeClr val="tx1"/>
                </a:solidFill>
              </a:rPr>
              <a:t>저렴한 수수료 보장</a:t>
            </a:r>
            <a:endParaRPr lang="en-US" altLang="ko-KR" sz="1050" u="sng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F451AD-2D91-6281-390C-EA701BBDB398}"/>
              </a:ext>
            </a:extLst>
          </p:cNvPr>
          <p:cNvSpPr txBox="1"/>
          <p:nvPr/>
        </p:nvSpPr>
        <p:spPr>
          <a:xfrm>
            <a:off x="6190322" y="3840000"/>
            <a:ext cx="2750478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dirty="0">
                <a:solidFill>
                  <a:schemeClr val="tx1"/>
                </a:solidFill>
              </a:rPr>
              <a:t> </a:t>
            </a:r>
            <a:r>
              <a:rPr lang="ko-KR" altLang="en-US" sz="1050" u="sng" dirty="0">
                <a:solidFill>
                  <a:schemeClr val="tx1"/>
                </a:solidFill>
              </a:rPr>
              <a:t>운임 입찰 결과 기반 수수료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dirty="0">
                <a:solidFill>
                  <a:srgbClr val="006600"/>
                </a:solidFill>
              </a:rPr>
              <a:t>    ※ </a:t>
            </a:r>
            <a:r>
              <a:rPr lang="ko-KR" altLang="en-US" sz="1000" dirty="0">
                <a:solidFill>
                  <a:srgbClr val="006600"/>
                </a:solidFill>
              </a:rPr>
              <a:t>물량 </a:t>
            </a:r>
            <a:r>
              <a:rPr lang="en-US" altLang="ko-KR" sz="1000" dirty="0">
                <a:solidFill>
                  <a:srgbClr val="006600"/>
                </a:solidFill>
              </a:rPr>
              <a:t>/ </a:t>
            </a:r>
            <a:r>
              <a:rPr lang="ko-KR" altLang="en-US" sz="1000" dirty="0">
                <a:solidFill>
                  <a:srgbClr val="006600"/>
                </a:solidFill>
              </a:rPr>
              <a:t>결정 운임 기반 자동 수수료 산정</a:t>
            </a:r>
            <a:endParaRPr lang="en-US" altLang="ko-KR" sz="1000" dirty="0">
              <a:solidFill>
                <a:srgbClr val="006600"/>
              </a:solidFill>
            </a:endParaRPr>
          </a:p>
          <a:p>
            <a:pPr algn="l"/>
            <a:r>
              <a:rPr lang="en-US" altLang="ko-KR" sz="1000" dirty="0">
                <a:solidFill>
                  <a:srgbClr val="006600"/>
                </a:solidFill>
              </a:rPr>
              <a:t>    ※ </a:t>
            </a:r>
            <a:r>
              <a:rPr lang="ko-KR" altLang="en-US" sz="1000" dirty="0">
                <a:solidFill>
                  <a:srgbClr val="006600"/>
                </a:solidFill>
              </a:rPr>
              <a:t>거래 물량에 비례하여 수수료율 차등 적용</a:t>
            </a:r>
            <a:endParaRPr lang="en-US" altLang="ko-KR" sz="1000" dirty="0">
              <a:solidFill>
                <a:srgbClr val="006600"/>
              </a:solidFill>
            </a:endParaRPr>
          </a:p>
          <a:p>
            <a:pPr algn="l"/>
            <a:r>
              <a:rPr lang="en-US" altLang="ko-KR" sz="1000" dirty="0">
                <a:solidFill>
                  <a:srgbClr val="006600"/>
                </a:solidFill>
              </a:rPr>
              <a:t>         (</a:t>
            </a:r>
            <a:r>
              <a:rPr lang="ko-KR" altLang="en-US" sz="1000" dirty="0">
                <a:solidFill>
                  <a:srgbClr val="006600"/>
                </a:solidFill>
              </a:rPr>
              <a:t>물량이 늘어날수록 수수료가 낮아지는 구조</a:t>
            </a:r>
            <a:r>
              <a:rPr lang="en-US" altLang="ko-KR" sz="1000" dirty="0">
                <a:solidFill>
                  <a:srgbClr val="006600"/>
                </a:solidFill>
              </a:rPr>
              <a:t>)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69870B6-8CDE-7503-14A8-9D146118D2EA}"/>
              </a:ext>
            </a:extLst>
          </p:cNvPr>
          <p:cNvGrpSpPr/>
          <p:nvPr/>
        </p:nvGrpSpPr>
        <p:grpSpPr>
          <a:xfrm>
            <a:off x="385274" y="1183347"/>
            <a:ext cx="2490987" cy="5111495"/>
            <a:chOff x="385274" y="1216368"/>
            <a:chExt cx="2490987" cy="5111495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5974E2BF-5AD1-86E5-97E2-58BFA430071F}"/>
                </a:ext>
              </a:extLst>
            </p:cNvPr>
            <p:cNvSpPr/>
            <p:nvPr/>
          </p:nvSpPr>
          <p:spPr>
            <a:xfrm>
              <a:off x="1472261" y="1216368"/>
              <a:ext cx="1404000" cy="468000"/>
            </a:xfrm>
            <a:prstGeom prst="roundRect">
              <a:avLst/>
            </a:prstGeom>
            <a:solidFill>
              <a:srgbClr val="25252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u="sng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B2B </a:t>
              </a:r>
              <a:r>
                <a:rPr lang="ko-KR" altLang="en-US" sz="1400" b="1" u="sng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중소형 화주</a:t>
              </a: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EEF23F3C-EA72-94B9-FFB0-C4B4294695BC}"/>
                </a:ext>
              </a:extLst>
            </p:cNvPr>
            <p:cNvSpPr/>
            <p:nvPr/>
          </p:nvSpPr>
          <p:spPr>
            <a:xfrm>
              <a:off x="1472261" y="5859863"/>
              <a:ext cx="1404000" cy="468000"/>
            </a:xfrm>
            <a:prstGeom prst="roundRect">
              <a:avLst/>
            </a:prstGeom>
            <a:solidFill>
              <a:srgbClr val="25252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u="sng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B2C </a:t>
              </a:r>
              <a:r>
                <a:rPr lang="ko-KR" altLang="en-US" sz="1400" b="1" u="sng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중소형 화주</a:t>
              </a: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480377F3-FC89-7AB2-36A4-467316F45FED}"/>
                </a:ext>
              </a:extLst>
            </p:cNvPr>
            <p:cNvSpPr/>
            <p:nvPr/>
          </p:nvSpPr>
          <p:spPr>
            <a:xfrm>
              <a:off x="385274" y="3541218"/>
              <a:ext cx="1404000" cy="468000"/>
            </a:xfrm>
            <a:prstGeom prst="roundRect">
              <a:avLst/>
            </a:prstGeom>
            <a:solidFill>
              <a:srgbClr val="25252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u="sng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ACD971E-A393-4ACD-C72F-E4D4AA1DAFE6}"/>
              </a:ext>
            </a:extLst>
          </p:cNvPr>
          <p:cNvGrpSpPr/>
          <p:nvPr/>
        </p:nvGrpSpPr>
        <p:grpSpPr>
          <a:xfrm>
            <a:off x="1898703" y="3673820"/>
            <a:ext cx="2701529" cy="136755"/>
            <a:chOff x="6734907" y="3714206"/>
            <a:chExt cx="1724306" cy="136755"/>
          </a:xfrm>
        </p:grpSpPr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6408CD8C-83AE-3944-A634-E5032E4A886C}"/>
                </a:ext>
              </a:extLst>
            </p:cNvPr>
            <p:cNvCxnSpPr/>
            <p:nvPr/>
          </p:nvCxnSpPr>
          <p:spPr>
            <a:xfrm>
              <a:off x="6734907" y="3714206"/>
              <a:ext cx="172430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D6AAB870-5792-5627-F178-62BD4E0FF6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4907" y="3850961"/>
              <a:ext cx="172430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9DA46C9-4939-CA5A-CEBD-C151856A7F48}"/>
              </a:ext>
            </a:extLst>
          </p:cNvPr>
          <p:cNvGrpSpPr/>
          <p:nvPr/>
        </p:nvGrpSpPr>
        <p:grpSpPr>
          <a:xfrm rot="2370469" flipH="1">
            <a:off x="2582352" y="2332689"/>
            <a:ext cx="2547482" cy="225535"/>
            <a:chOff x="6734907" y="3714206"/>
            <a:chExt cx="1724306" cy="225535"/>
          </a:xfrm>
        </p:grpSpPr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C14B1674-8257-498C-66C9-293A37070976}"/>
                </a:ext>
              </a:extLst>
            </p:cNvPr>
            <p:cNvCxnSpPr/>
            <p:nvPr/>
          </p:nvCxnSpPr>
          <p:spPr>
            <a:xfrm>
              <a:off x="6734907" y="3714206"/>
              <a:ext cx="172430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5D886B72-A6A1-3E75-7CDD-3376A77B0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4907" y="3939741"/>
              <a:ext cx="172430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01B592C-E9E4-292C-0698-26A0C4D66560}"/>
              </a:ext>
            </a:extLst>
          </p:cNvPr>
          <p:cNvSpPr txBox="1"/>
          <p:nvPr/>
        </p:nvSpPr>
        <p:spPr>
          <a:xfrm>
            <a:off x="1916990" y="2794154"/>
            <a:ext cx="270959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u="sng" dirty="0">
                <a:solidFill>
                  <a:schemeClr val="tx1"/>
                </a:solidFill>
              </a:rPr>
              <a:t>멤버십 가입비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b="0" dirty="0">
                <a:solidFill>
                  <a:schemeClr val="tx1"/>
                </a:solidFill>
              </a:rPr>
              <a:t>    </a:t>
            </a:r>
            <a:r>
              <a:rPr lang="ko-KR" altLang="en-US" sz="1000" b="0" dirty="0">
                <a:solidFill>
                  <a:schemeClr val="tx1"/>
                </a:solidFill>
              </a:rPr>
              <a:t>①</a:t>
            </a:r>
            <a:r>
              <a:rPr lang="en-US" altLang="ko-KR" sz="1000" b="0" dirty="0">
                <a:solidFill>
                  <a:schemeClr val="tx1"/>
                </a:solidFill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</a:rPr>
              <a:t>무료 가입 가능</a:t>
            </a:r>
            <a:r>
              <a:rPr lang="en-US" altLang="ko-KR" sz="900" b="0" dirty="0">
                <a:solidFill>
                  <a:schemeClr val="tx1"/>
                </a:solidFill>
              </a:rPr>
              <a:t>(</a:t>
            </a:r>
            <a:r>
              <a:rPr lang="ko-KR" altLang="en-US" sz="900" b="0" dirty="0">
                <a:solidFill>
                  <a:schemeClr val="tx1"/>
                </a:solidFill>
              </a:rPr>
              <a:t>서비스 체험 가능</a:t>
            </a:r>
            <a:r>
              <a:rPr lang="en-US" altLang="ko-KR" sz="900" b="0" dirty="0">
                <a:solidFill>
                  <a:schemeClr val="tx1"/>
                </a:solidFill>
              </a:rPr>
              <a:t>)</a:t>
            </a:r>
            <a:endParaRPr lang="en-US" altLang="ko-KR" sz="1000" b="0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b="0" dirty="0">
                <a:solidFill>
                  <a:schemeClr val="tx1"/>
                </a:solidFill>
              </a:rPr>
              <a:t>    </a:t>
            </a:r>
            <a:r>
              <a:rPr lang="ko-KR" altLang="en-US" sz="1000" b="0" dirty="0">
                <a:solidFill>
                  <a:schemeClr val="tx1"/>
                </a:solidFill>
              </a:rPr>
              <a:t>②</a:t>
            </a:r>
            <a:r>
              <a:rPr lang="en-US" altLang="ko-KR" sz="1000" b="0" dirty="0">
                <a:solidFill>
                  <a:schemeClr val="tx1"/>
                </a:solidFill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</a:rPr>
              <a:t>멤버십 가입 후</a:t>
            </a:r>
            <a:r>
              <a:rPr lang="en-US" altLang="ko-KR" sz="1000" b="0" dirty="0">
                <a:solidFill>
                  <a:schemeClr val="tx1"/>
                </a:solidFill>
              </a:rPr>
              <a:t>, </a:t>
            </a:r>
            <a:r>
              <a:rPr lang="ko-KR" altLang="en-US" sz="1000" b="0" dirty="0">
                <a:solidFill>
                  <a:schemeClr val="tx1"/>
                </a:solidFill>
              </a:rPr>
              <a:t>정상 서비스 이용 가능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u="sng" dirty="0">
                <a:solidFill>
                  <a:schemeClr val="tx1"/>
                </a:solidFill>
              </a:rPr>
              <a:t>멤버십 </a:t>
            </a:r>
            <a:r>
              <a:rPr lang="en-US" altLang="ko-KR" sz="900" b="0" u="sng" dirty="0">
                <a:solidFill>
                  <a:schemeClr val="tx1"/>
                </a:solidFill>
              </a:rPr>
              <a:t>(3</a:t>
            </a:r>
            <a:r>
              <a:rPr lang="ko-KR" altLang="en-US" sz="900" b="0" u="sng" dirty="0">
                <a:solidFill>
                  <a:schemeClr val="tx1"/>
                </a:solidFill>
              </a:rPr>
              <a:t>레벨 구성</a:t>
            </a:r>
            <a:r>
              <a:rPr lang="en-US" altLang="ko-KR" sz="900" b="0" u="sng" dirty="0">
                <a:solidFill>
                  <a:schemeClr val="tx1"/>
                </a:solidFill>
              </a:rPr>
              <a:t>)</a:t>
            </a:r>
            <a:r>
              <a:rPr lang="en-US" altLang="ko-KR" sz="1050" u="sng" dirty="0">
                <a:solidFill>
                  <a:schemeClr val="tx1"/>
                </a:solidFill>
              </a:rPr>
              <a:t> </a:t>
            </a:r>
            <a:r>
              <a:rPr lang="ko-KR" altLang="en-US" sz="1050" u="sng" dirty="0">
                <a:solidFill>
                  <a:schemeClr val="tx1"/>
                </a:solidFill>
              </a:rPr>
              <a:t>가입비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b="0" dirty="0">
                <a:solidFill>
                  <a:schemeClr val="tx1"/>
                </a:solidFill>
              </a:rPr>
              <a:t>    - </a:t>
            </a:r>
            <a:r>
              <a:rPr lang="ko-KR" altLang="en-US" sz="1000" b="0" dirty="0">
                <a:solidFill>
                  <a:schemeClr val="tx1"/>
                </a:solidFill>
              </a:rPr>
              <a:t>멤버십</a:t>
            </a:r>
            <a:r>
              <a:rPr lang="en-US" altLang="ko-KR" sz="1000" b="0" dirty="0">
                <a:solidFill>
                  <a:schemeClr val="tx1"/>
                </a:solidFill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</a:rPr>
              <a:t>등급별 활용 기능</a:t>
            </a:r>
            <a:r>
              <a:rPr lang="en-US" altLang="ko-KR" sz="1000" b="0" dirty="0">
                <a:solidFill>
                  <a:schemeClr val="tx1"/>
                </a:solidFill>
              </a:rPr>
              <a:t> / </a:t>
            </a:r>
            <a:r>
              <a:rPr lang="ko-KR" altLang="en-US" sz="1000" b="0" dirty="0">
                <a:solidFill>
                  <a:schemeClr val="tx1"/>
                </a:solidFill>
              </a:rPr>
              <a:t>서비스 기능 제한</a:t>
            </a:r>
            <a:endParaRPr lang="en-US" altLang="ko-KR" sz="1000" b="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EA5EE9-7D23-0AAA-AEDC-958F5E82E1FB}"/>
              </a:ext>
            </a:extLst>
          </p:cNvPr>
          <p:cNvSpPr txBox="1"/>
          <p:nvPr/>
        </p:nvSpPr>
        <p:spPr>
          <a:xfrm>
            <a:off x="1916991" y="3791820"/>
            <a:ext cx="270959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u="sng" dirty="0">
                <a:solidFill>
                  <a:schemeClr val="tx1"/>
                </a:solidFill>
              </a:rPr>
              <a:t>멤버십 등급에 따라</a:t>
            </a:r>
            <a:r>
              <a:rPr lang="en-US" altLang="ko-KR" sz="1050" u="sng" dirty="0">
                <a:solidFill>
                  <a:schemeClr val="tx1"/>
                </a:solidFill>
              </a:rPr>
              <a:t>, </a:t>
            </a:r>
            <a:r>
              <a:rPr lang="ko-KR" altLang="en-US" sz="1050" u="sng" dirty="0">
                <a:solidFill>
                  <a:schemeClr val="tx1"/>
                </a:solidFill>
              </a:rPr>
              <a:t>공동구매 참여 차별화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b="0" dirty="0">
                <a:solidFill>
                  <a:schemeClr val="tx1"/>
                </a:solidFill>
              </a:rPr>
              <a:t>    </a:t>
            </a:r>
            <a:r>
              <a:rPr lang="ko-KR" altLang="en-US" sz="1000" b="0" dirty="0">
                <a:solidFill>
                  <a:schemeClr val="tx1"/>
                </a:solidFill>
              </a:rPr>
              <a:t>①</a:t>
            </a:r>
            <a:r>
              <a:rPr lang="en-US" altLang="ko-KR" sz="1000" b="0" dirty="0">
                <a:solidFill>
                  <a:schemeClr val="tx1"/>
                </a:solidFill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</a:rPr>
              <a:t>하위 멤버십은 운임 공동구매만 참여 가능</a:t>
            </a:r>
            <a:endParaRPr lang="en-US" altLang="ko-KR" sz="1000" b="0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b="0" dirty="0">
                <a:solidFill>
                  <a:schemeClr val="tx1"/>
                </a:solidFill>
              </a:rPr>
              <a:t>    </a:t>
            </a:r>
            <a:r>
              <a:rPr lang="ko-KR" altLang="en-US" sz="1000" b="0" dirty="0">
                <a:solidFill>
                  <a:schemeClr val="tx1"/>
                </a:solidFill>
              </a:rPr>
              <a:t>②</a:t>
            </a:r>
            <a:r>
              <a:rPr lang="en-US" altLang="ko-KR" sz="1000" b="0" dirty="0">
                <a:solidFill>
                  <a:schemeClr val="tx1"/>
                </a:solidFill>
              </a:rPr>
              <a:t> </a:t>
            </a:r>
            <a:r>
              <a:rPr lang="ko-KR" altLang="en-US" sz="1000" b="0" dirty="0">
                <a:solidFill>
                  <a:schemeClr val="tx1"/>
                </a:solidFill>
              </a:rPr>
              <a:t>상위 멤버십은 물량 공동구매도 참여 가능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45CD94-344F-2B50-15C9-13E5220B0504}"/>
              </a:ext>
            </a:extLst>
          </p:cNvPr>
          <p:cNvSpPr txBox="1"/>
          <p:nvPr/>
        </p:nvSpPr>
        <p:spPr>
          <a:xfrm>
            <a:off x="3816849" y="1905786"/>
            <a:ext cx="18326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u="sng" dirty="0">
                <a:solidFill>
                  <a:schemeClr val="tx1"/>
                </a:solidFill>
              </a:rPr>
              <a:t>물량 기반 포워딩 경매 참여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u="sng" dirty="0">
                <a:solidFill>
                  <a:schemeClr val="tx1"/>
                </a:solidFill>
              </a:rPr>
              <a:t>운임 공동구매 참여</a:t>
            </a:r>
            <a:endParaRPr lang="en-US" altLang="ko-KR" sz="1050" u="sng" dirty="0">
              <a:solidFill>
                <a:schemeClr val="tx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F5015AB-0281-17CC-4C0D-FB6BEBF0FAC2}"/>
              </a:ext>
            </a:extLst>
          </p:cNvPr>
          <p:cNvGrpSpPr/>
          <p:nvPr/>
        </p:nvGrpSpPr>
        <p:grpSpPr>
          <a:xfrm>
            <a:off x="6074815" y="3673820"/>
            <a:ext cx="2448000" cy="136755"/>
            <a:chOff x="6734907" y="3714206"/>
            <a:chExt cx="1724306" cy="136755"/>
          </a:xfrm>
        </p:grpSpPr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ADA7B709-85D7-5767-A22A-831B153FDFF1}"/>
                </a:ext>
              </a:extLst>
            </p:cNvPr>
            <p:cNvCxnSpPr/>
            <p:nvPr/>
          </p:nvCxnSpPr>
          <p:spPr>
            <a:xfrm>
              <a:off x="6734907" y="3714206"/>
              <a:ext cx="172430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2E00D536-B3D9-BE9E-7604-4D9B7C5E6B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4907" y="3850961"/>
              <a:ext cx="172430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946416E-7C93-2CC2-B7B5-F0F02F174ACB}"/>
              </a:ext>
            </a:extLst>
          </p:cNvPr>
          <p:cNvGrpSpPr/>
          <p:nvPr/>
        </p:nvGrpSpPr>
        <p:grpSpPr>
          <a:xfrm rot="19229531" flipH="1" flipV="1">
            <a:off x="2582351" y="4912682"/>
            <a:ext cx="2547482" cy="225535"/>
            <a:chOff x="6734907" y="3714206"/>
            <a:chExt cx="1724306" cy="225535"/>
          </a:xfrm>
        </p:grpSpPr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C5F121F1-F362-F288-D189-A827FB8F1A77}"/>
                </a:ext>
              </a:extLst>
            </p:cNvPr>
            <p:cNvCxnSpPr/>
            <p:nvPr/>
          </p:nvCxnSpPr>
          <p:spPr>
            <a:xfrm>
              <a:off x="6734907" y="3714206"/>
              <a:ext cx="172430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48E20F3B-0023-E244-33CD-85D729B252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4907" y="3939741"/>
              <a:ext cx="172430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67BCAE5-0598-A1C4-3351-FF90193B93C4}"/>
              </a:ext>
            </a:extLst>
          </p:cNvPr>
          <p:cNvSpPr txBox="1"/>
          <p:nvPr/>
        </p:nvSpPr>
        <p:spPr>
          <a:xfrm>
            <a:off x="1607649" y="1702296"/>
            <a:ext cx="1832681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u="sng" dirty="0">
                <a:solidFill>
                  <a:schemeClr val="tx1"/>
                </a:solidFill>
              </a:rPr>
              <a:t>무료 회원 가입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b="0" dirty="0">
                <a:solidFill>
                  <a:schemeClr val="tx1"/>
                </a:solidFill>
              </a:rPr>
              <a:t>    - </a:t>
            </a:r>
            <a:r>
              <a:rPr lang="ko-KR" altLang="en-US" sz="1000" b="0" dirty="0">
                <a:solidFill>
                  <a:schemeClr val="tx1"/>
                </a:solidFill>
              </a:rPr>
              <a:t>운임공동 구매 무료</a:t>
            </a:r>
            <a:endParaRPr lang="en-US" altLang="ko-KR" sz="1000" b="0" dirty="0">
              <a:solidFill>
                <a:schemeClr val="tx1"/>
              </a:solidFill>
            </a:endParaRPr>
          </a:p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u="sng" dirty="0">
                <a:solidFill>
                  <a:schemeClr val="tx1"/>
                </a:solidFill>
              </a:rPr>
              <a:t>서비스 이용 요금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b="0" dirty="0">
                <a:solidFill>
                  <a:schemeClr val="tx1"/>
                </a:solidFill>
              </a:rPr>
              <a:t>    - </a:t>
            </a:r>
            <a:r>
              <a:rPr lang="ko-KR" altLang="en-US" sz="1000" b="0" dirty="0">
                <a:solidFill>
                  <a:schemeClr val="tx1"/>
                </a:solidFill>
              </a:rPr>
              <a:t>물류 중계 서비스 이용 시   </a:t>
            </a:r>
            <a:endParaRPr lang="en-US" altLang="ko-KR" sz="1000" b="0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b="0" dirty="0">
                <a:solidFill>
                  <a:schemeClr val="tx1"/>
                </a:solidFill>
              </a:rPr>
              <a:t>      </a:t>
            </a:r>
            <a:r>
              <a:rPr lang="ko-KR" altLang="en-US" sz="1000" b="0" dirty="0">
                <a:solidFill>
                  <a:schemeClr val="tx1"/>
                </a:solidFill>
              </a:rPr>
              <a:t>비용 실비 청구</a:t>
            </a:r>
            <a:r>
              <a:rPr lang="en-US" altLang="ko-KR" sz="900" b="0" dirty="0">
                <a:solidFill>
                  <a:schemeClr val="tx1"/>
                </a:solidFill>
              </a:rPr>
              <a:t>(</a:t>
            </a:r>
            <a:r>
              <a:rPr lang="ko-KR" altLang="en-US" sz="900" b="0" dirty="0">
                <a:solidFill>
                  <a:schemeClr val="tx1"/>
                </a:solidFill>
              </a:rPr>
              <a:t>행정 처리 등</a:t>
            </a:r>
            <a:r>
              <a:rPr lang="en-US" altLang="ko-KR" sz="900" b="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D0A910-FA7A-923C-8C75-AE89EC8B8532}"/>
              </a:ext>
            </a:extLst>
          </p:cNvPr>
          <p:cNvSpPr txBox="1"/>
          <p:nvPr/>
        </p:nvSpPr>
        <p:spPr>
          <a:xfrm>
            <a:off x="1607649" y="4574413"/>
            <a:ext cx="1832681" cy="8848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u="sng" dirty="0">
                <a:solidFill>
                  <a:schemeClr val="tx1"/>
                </a:solidFill>
              </a:rPr>
              <a:t>무료 회원 가입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b="0" dirty="0">
                <a:solidFill>
                  <a:schemeClr val="tx1"/>
                </a:solidFill>
              </a:rPr>
              <a:t>    - </a:t>
            </a:r>
            <a:r>
              <a:rPr lang="ko-KR" altLang="en-US" sz="1000" b="0" dirty="0">
                <a:solidFill>
                  <a:schemeClr val="tx1"/>
                </a:solidFill>
              </a:rPr>
              <a:t>운임공동 구매 무료</a:t>
            </a:r>
            <a:endParaRPr lang="en-US" altLang="ko-KR" sz="1000" b="0" dirty="0">
              <a:solidFill>
                <a:schemeClr val="tx1"/>
              </a:solidFill>
            </a:endParaRPr>
          </a:p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u="sng" dirty="0">
                <a:solidFill>
                  <a:schemeClr val="tx1"/>
                </a:solidFill>
              </a:rPr>
              <a:t>서비스 이용 요금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b="0" dirty="0">
                <a:solidFill>
                  <a:schemeClr val="tx1"/>
                </a:solidFill>
              </a:rPr>
              <a:t>    - </a:t>
            </a:r>
            <a:r>
              <a:rPr lang="ko-KR" altLang="en-US" sz="1000" b="0" dirty="0">
                <a:solidFill>
                  <a:schemeClr val="tx1"/>
                </a:solidFill>
              </a:rPr>
              <a:t>물류 중계 서비스 이용 시   </a:t>
            </a:r>
            <a:endParaRPr lang="en-US" altLang="ko-KR" sz="1000" b="0" dirty="0">
              <a:solidFill>
                <a:schemeClr val="tx1"/>
              </a:solidFill>
            </a:endParaRPr>
          </a:p>
          <a:p>
            <a:pPr algn="l"/>
            <a:r>
              <a:rPr lang="en-US" altLang="ko-KR" sz="1000" b="0" dirty="0">
                <a:solidFill>
                  <a:schemeClr val="tx1"/>
                </a:solidFill>
              </a:rPr>
              <a:t>      </a:t>
            </a:r>
            <a:r>
              <a:rPr lang="ko-KR" altLang="en-US" sz="1000" b="0" dirty="0">
                <a:solidFill>
                  <a:schemeClr val="tx1"/>
                </a:solidFill>
              </a:rPr>
              <a:t>비용 실비 청구</a:t>
            </a:r>
            <a:r>
              <a:rPr lang="en-US" altLang="ko-KR" sz="900" b="0" dirty="0">
                <a:solidFill>
                  <a:schemeClr val="tx1"/>
                </a:solidFill>
              </a:rPr>
              <a:t>(</a:t>
            </a:r>
            <a:r>
              <a:rPr lang="ko-KR" altLang="en-US" sz="900" b="0" dirty="0">
                <a:solidFill>
                  <a:schemeClr val="tx1"/>
                </a:solidFill>
              </a:rPr>
              <a:t>행정 처리 등</a:t>
            </a:r>
            <a:r>
              <a:rPr lang="en-US" altLang="ko-KR" sz="900" b="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0DC52D-2C11-5847-F871-F2A5B76877AF}"/>
              </a:ext>
            </a:extLst>
          </p:cNvPr>
          <p:cNvSpPr txBox="1"/>
          <p:nvPr/>
        </p:nvSpPr>
        <p:spPr>
          <a:xfrm>
            <a:off x="3937314" y="5050806"/>
            <a:ext cx="2802328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93663" indent="-93663" algn="l">
              <a:buFont typeface="Wingdings" panose="05000000000000000000" pitchFamily="2" charset="2"/>
              <a:buChar char="§"/>
            </a:pPr>
            <a:r>
              <a:rPr lang="ko-KR" altLang="en-US" sz="1050" u="sng" dirty="0">
                <a:solidFill>
                  <a:schemeClr val="tx1"/>
                </a:solidFill>
              </a:rPr>
              <a:t>물량 기반 포워딩 경매 참여를 진행해야만</a:t>
            </a:r>
            <a:r>
              <a:rPr lang="en-US" altLang="ko-KR" sz="1050" u="sng" dirty="0">
                <a:solidFill>
                  <a:schemeClr val="tx1"/>
                </a:solidFill>
              </a:rPr>
              <a:t>, </a:t>
            </a:r>
            <a:r>
              <a:rPr lang="ko-KR" altLang="en-US" sz="1050" u="sng" dirty="0">
                <a:solidFill>
                  <a:schemeClr val="tx1"/>
                </a:solidFill>
              </a:rPr>
              <a:t>운임 공동구매 참여 가능</a:t>
            </a:r>
            <a:endParaRPr lang="en-US" altLang="ko-KR" sz="1050" u="sng" dirty="0">
              <a:solidFill>
                <a:schemeClr val="tx1"/>
              </a:solidFill>
            </a:endParaRPr>
          </a:p>
          <a:p>
            <a:pPr marL="220663" indent="-220663" algn="l"/>
            <a:r>
              <a:rPr lang="en-US" altLang="ko-KR" sz="1000" dirty="0">
                <a:solidFill>
                  <a:srgbClr val="006600"/>
                </a:solidFill>
              </a:rPr>
              <a:t>   ※ </a:t>
            </a:r>
            <a:r>
              <a:rPr lang="en-US" altLang="ko-KR" sz="1000" u="sng" dirty="0">
                <a:solidFill>
                  <a:srgbClr val="006600"/>
                </a:solidFill>
              </a:rPr>
              <a:t>B2C</a:t>
            </a:r>
            <a:r>
              <a:rPr lang="ko-KR" altLang="en-US" sz="1000" u="sng" dirty="0">
                <a:solidFill>
                  <a:srgbClr val="006600"/>
                </a:solidFill>
              </a:rPr>
              <a:t>의 경우에는 물량 규모가 작아 플랫폼 참여 여부에 대한 추가 검토가 필요</a:t>
            </a:r>
            <a:endParaRPr lang="en-US" altLang="ko-KR" sz="1000" u="sng" dirty="0">
              <a:solidFill>
                <a:srgbClr val="006600"/>
              </a:solidFill>
            </a:endParaRPr>
          </a:p>
          <a:p>
            <a:pPr marL="220663" indent="-220663" algn="l"/>
            <a:r>
              <a:rPr lang="en-US" altLang="ko-KR" sz="1000" dirty="0">
                <a:solidFill>
                  <a:srgbClr val="006600"/>
                </a:solidFill>
              </a:rPr>
              <a:t>   ※ </a:t>
            </a:r>
            <a:r>
              <a:rPr lang="ko-KR" altLang="en-US" sz="1000" u="sng" dirty="0">
                <a:solidFill>
                  <a:srgbClr val="006600"/>
                </a:solidFill>
              </a:rPr>
              <a:t>플랫폼 </a:t>
            </a:r>
            <a:r>
              <a:rPr lang="en-US" altLang="ko-KR" sz="1000" u="sng" dirty="0">
                <a:solidFill>
                  <a:srgbClr val="006600"/>
                </a:solidFill>
              </a:rPr>
              <a:t>Player</a:t>
            </a:r>
            <a:r>
              <a:rPr lang="ko-KR" altLang="en-US" sz="1000" u="sng" dirty="0">
                <a:solidFill>
                  <a:srgbClr val="006600"/>
                </a:solidFill>
              </a:rPr>
              <a:t> 참여가 필요하다면</a:t>
            </a:r>
            <a:r>
              <a:rPr lang="en-US" altLang="ko-KR" sz="1000" u="sng" dirty="0">
                <a:solidFill>
                  <a:srgbClr val="006600"/>
                </a:solidFill>
              </a:rPr>
              <a:t>, </a:t>
            </a:r>
            <a:r>
              <a:rPr lang="ko-KR" altLang="en-US" sz="1000" u="sng" dirty="0">
                <a:solidFill>
                  <a:srgbClr val="006600"/>
                </a:solidFill>
              </a:rPr>
              <a:t>운임 공동구매 보다 포워더 입찰 형태로 고민이 필요</a:t>
            </a:r>
            <a:endParaRPr lang="en-US" altLang="ko-KR" sz="1000" u="sng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110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E7D223-2D12-35B3-C0B4-A277E7597DE5}"/>
              </a:ext>
            </a:extLst>
          </p:cNvPr>
          <p:cNvSpPr txBox="1"/>
          <p:nvPr/>
        </p:nvSpPr>
        <p:spPr>
          <a:xfrm>
            <a:off x="321013" y="405930"/>
            <a:ext cx="1213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cap="all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Index</a:t>
            </a:r>
            <a:endParaRPr lang="ko-KR" altLang="en-US" sz="3200" b="1" cap="all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9F814B-CE26-21CD-0634-EE3C23F37ACA}"/>
              </a:ext>
            </a:extLst>
          </p:cNvPr>
          <p:cNvCxnSpPr>
            <a:cxnSpLocks/>
          </p:cNvCxnSpPr>
          <p:nvPr/>
        </p:nvCxnSpPr>
        <p:spPr>
          <a:xfrm>
            <a:off x="1534807" y="698318"/>
            <a:ext cx="799613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3674938-EFDF-82D4-3DB4-D55A81BD786D}"/>
              </a:ext>
            </a:extLst>
          </p:cNvPr>
          <p:cNvSpPr txBox="1"/>
          <p:nvPr/>
        </p:nvSpPr>
        <p:spPr>
          <a:xfrm>
            <a:off x="410135" y="1283093"/>
            <a:ext cx="407675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Business Model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2. Business Flowchart (Process)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UML Diagram (Scenario)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설계 </a:t>
            </a: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(UI/UX)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5.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 구성도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6. ERD</a:t>
            </a:r>
            <a:endParaRPr lang="ko-KR" altLang="en-US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84FF3B0-9F04-EB49-46D3-30C135F72B85}"/>
              </a:ext>
            </a:extLst>
          </p:cNvPr>
          <p:cNvSpPr/>
          <p:nvPr/>
        </p:nvSpPr>
        <p:spPr>
          <a:xfrm>
            <a:off x="407972" y="1959297"/>
            <a:ext cx="4166746" cy="5847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239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6ECF51-70E9-5594-7958-D20008424F06}"/>
              </a:ext>
            </a:extLst>
          </p:cNvPr>
          <p:cNvSpPr txBox="1"/>
          <p:nvPr/>
        </p:nvSpPr>
        <p:spPr>
          <a:xfrm>
            <a:off x="65521" y="66231"/>
            <a:ext cx="2294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01.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전체 프로세스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95C2-F89A-C561-B693-C4CF90598E96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2. Business Flowchart (Process)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4AD1D57-7B5D-4CB3-AF68-221CEAAA6BD9}"/>
              </a:ext>
            </a:extLst>
          </p:cNvPr>
          <p:cNvSpPr/>
          <p:nvPr/>
        </p:nvSpPr>
        <p:spPr>
          <a:xfrm>
            <a:off x="562432" y="1806621"/>
            <a:ext cx="1080000" cy="432000"/>
          </a:xfrm>
          <a:prstGeom prst="roundRect">
            <a:avLst>
              <a:gd name="adj" fmla="val 2676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 회원 가입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24524402-0D0F-460A-8B0C-906B27E0E77B}"/>
              </a:ext>
            </a:extLst>
          </p:cNvPr>
          <p:cNvSpPr/>
          <p:nvPr/>
        </p:nvSpPr>
        <p:spPr>
          <a:xfrm>
            <a:off x="1941835" y="1803145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 필수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요청 내용 입력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EF3D03E6-1628-47ED-B7D0-5CD6E649CD63}"/>
              </a:ext>
            </a:extLst>
          </p:cNvPr>
          <p:cNvSpPr/>
          <p:nvPr/>
        </p:nvSpPr>
        <p:spPr>
          <a:xfrm>
            <a:off x="562431" y="2599507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신청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7971A2EF-238E-40A3-920A-CF0C5A93DFDE}"/>
              </a:ext>
            </a:extLst>
          </p:cNvPr>
          <p:cNvSpPr/>
          <p:nvPr/>
        </p:nvSpPr>
        <p:spPr>
          <a:xfrm>
            <a:off x="562431" y="3315992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현황 조회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E368F068-36D2-48F3-8E98-87CB745A7F33}"/>
              </a:ext>
            </a:extLst>
          </p:cNvPr>
          <p:cNvSpPr/>
          <p:nvPr/>
        </p:nvSpPr>
        <p:spPr>
          <a:xfrm>
            <a:off x="6283324" y="1425503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업데이트 시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 견적 완료</a:t>
            </a: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83724A72-43A5-4D29-9B42-FAE4C54286B6}"/>
              </a:ext>
            </a:extLst>
          </p:cNvPr>
          <p:cNvCxnSpPr>
            <a:cxnSpLocks/>
            <a:stCxn id="254" idx="3"/>
            <a:endCxn id="262" idx="1"/>
          </p:cNvCxnSpPr>
          <p:nvPr/>
        </p:nvCxnSpPr>
        <p:spPr>
          <a:xfrm>
            <a:off x="4522756" y="1641503"/>
            <a:ext cx="34028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FD6E8B30-4ECD-46AF-B9BF-12807822ECDF}"/>
              </a:ext>
            </a:extLst>
          </p:cNvPr>
          <p:cNvCxnSpPr>
            <a:cxnSpLocks/>
            <a:stCxn id="2" idx="2"/>
            <a:endCxn id="92" idx="0"/>
          </p:cNvCxnSpPr>
          <p:nvPr/>
        </p:nvCxnSpPr>
        <p:spPr>
          <a:xfrm flipH="1">
            <a:off x="1102431" y="2238621"/>
            <a:ext cx="1" cy="36088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다이아몬드 108">
            <a:extLst>
              <a:ext uri="{FF2B5EF4-FFF2-40B4-BE49-F238E27FC236}">
                <a16:creationId xmlns:a16="http://schemas.microsoft.com/office/drawing/2014/main" id="{856B6110-C7D2-4F4D-A165-CCF819AEA8FE}"/>
              </a:ext>
            </a:extLst>
          </p:cNvPr>
          <p:cNvSpPr/>
          <p:nvPr/>
        </p:nvSpPr>
        <p:spPr>
          <a:xfrm>
            <a:off x="1905835" y="3261992"/>
            <a:ext cx="1152000" cy="54000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200"/>
              </a:lnSpc>
            </a:pPr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공동구매 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참여</a:t>
            </a: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7C4F572-F9CE-4BA2-900B-CBCDC11E14C5}"/>
              </a:ext>
            </a:extLst>
          </p:cNvPr>
          <p:cNvCxnSpPr>
            <a:cxnSpLocks/>
            <a:stCxn id="92" idx="2"/>
            <a:endCxn id="94" idx="0"/>
          </p:cNvCxnSpPr>
          <p:nvPr/>
        </p:nvCxnSpPr>
        <p:spPr>
          <a:xfrm>
            <a:off x="1102431" y="3031507"/>
            <a:ext cx="0" cy="28448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F35E5378-818C-4FD9-98FB-91FBF435A229}"/>
              </a:ext>
            </a:extLst>
          </p:cNvPr>
          <p:cNvSpPr/>
          <p:nvPr/>
        </p:nvSpPr>
        <p:spPr>
          <a:xfrm>
            <a:off x="1941835" y="2599507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목록 조회</a:t>
            </a:r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0D5B46CE-87AB-4A1C-9470-B93D5BF48981}"/>
              </a:ext>
            </a:extLst>
          </p:cNvPr>
          <p:cNvCxnSpPr>
            <a:cxnSpLocks/>
            <a:stCxn id="126" idx="2"/>
            <a:endCxn id="109" idx="0"/>
          </p:cNvCxnSpPr>
          <p:nvPr/>
        </p:nvCxnSpPr>
        <p:spPr>
          <a:xfrm>
            <a:off x="2481835" y="3031507"/>
            <a:ext cx="0" cy="23048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BBA2B760-132A-4620-9CFD-4ADE4B4F6243}"/>
              </a:ext>
            </a:extLst>
          </p:cNvPr>
          <p:cNvCxnSpPr>
            <a:cxnSpLocks/>
            <a:stCxn id="92" idx="3"/>
            <a:endCxn id="126" idx="1"/>
          </p:cNvCxnSpPr>
          <p:nvPr/>
        </p:nvCxnSpPr>
        <p:spPr>
          <a:xfrm>
            <a:off x="1642431" y="2815507"/>
            <a:ext cx="29940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2DC00170-E0BF-4F58-ADC5-0137A774AE2F}"/>
              </a:ext>
            </a:extLst>
          </p:cNvPr>
          <p:cNvCxnSpPr>
            <a:cxnSpLocks/>
            <a:stCxn id="109" idx="1"/>
            <a:endCxn id="94" idx="3"/>
          </p:cNvCxnSpPr>
          <p:nvPr/>
        </p:nvCxnSpPr>
        <p:spPr>
          <a:xfrm flipH="1">
            <a:off x="1642431" y="3531992"/>
            <a:ext cx="26340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16860929-8680-4D93-AD92-95FF049886AB}"/>
              </a:ext>
            </a:extLst>
          </p:cNvPr>
          <p:cNvSpPr/>
          <p:nvPr/>
        </p:nvSpPr>
        <p:spPr>
          <a:xfrm>
            <a:off x="3442756" y="3707284"/>
            <a:ext cx="1080000" cy="432000"/>
          </a:xfrm>
          <a:prstGeom prst="roundRect">
            <a:avLst>
              <a:gd name="adj" fmla="val 2676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선사 회원 가입</a:t>
            </a:r>
          </a:p>
        </p:txBody>
      </p:sp>
      <p:sp>
        <p:nvSpPr>
          <p:cNvPr id="236" name="다이아몬드 235">
            <a:extLst>
              <a:ext uri="{FF2B5EF4-FFF2-40B4-BE49-F238E27FC236}">
                <a16:creationId xmlns:a16="http://schemas.microsoft.com/office/drawing/2014/main" id="{E7776DE8-B425-43FF-B236-2816E743EC04}"/>
              </a:ext>
            </a:extLst>
          </p:cNvPr>
          <p:cNvSpPr/>
          <p:nvPr/>
        </p:nvSpPr>
        <p:spPr>
          <a:xfrm>
            <a:off x="3406756" y="2140438"/>
            <a:ext cx="1152000" cy="54000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200"/>
              </a:lnSpc>
            </a:pPr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존재 여부 </a:t>
            </a:r>
          </a:p>
        </p:txBody>
      </p:sp>
      <p:sp>
        <p:nvSpPr>
          <p:cNvPr id="254" name="사각형: 둥근 모서리 253">
            <a:extLst>
              <a:ext uri="{FF2B5EF4-FFF2-40B4-BE49-F238E27FC236}">
                <a16:creationId xmlns:a16="http://schemas.microsoft.com/office/drawing/2014/main" id="{90A3D946-6482-4938-B119-3F9E88F3A908}"/>
              </a:ext>
            </a:extLst>
          </p:cNvPr>
          <p:cNvSpPr/>
          <p:nvPr/>
        </p:nvSpPr>
        <p:spPr>
          <a:xfrm>
            <a:off x="3442756" y="1425503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 완료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57" name="직선 화살표 연결선 256">
            <a:extLst>
              <a:ext uri="{FF2B5EF4-FFF2-40B4-BE49-F238E27FC236}">
                <a16:creationId xmlns:a16="http://schemas.microsoft.com/office/drawing/2014/main" id="{62FFC382-5003-4503-86F6-D1ADB4125BCA}"/>
              </a:ext>
            </a:extLst>
          </p:cNvPr>
          <p:cNvCxnSpPr>
            <a:cxnSpLocks/>
            <a:stCxn id="236" idx="0"/>
            <a:endCxn id="254" idx="2"/>
          </p:cNvCxnSpPr>
          <p:nvPr/>
        </p:nvCxnSpPr>
        <p:spPr>
          <a:xfrm flipV="1">
            <a:off x="3982756" y="1857503"/>
            <a:ext cx="0" cy="28293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사각형: 둥근 모서리 261">
            <a:extLst>
              <a:ext uri="{FF2B5EF4-FFF2-40B4-BE49-F238E27FC236}">
                <a16:creationId xmlns:a16="http://schemas.microsoft.com/office/drawing/2014/main" id="{86F6E7D0-046F-40FC-AE13-A1F91DC1A90C}"/>
              </a:ext>
            </a:extLst>
          </p:cNvPr>
          <p:cNvSpPr/>
          <p:nvPr/>
        </p:nvSpPr>
        <p:spPr>
          <a:xfrm>
            <a:off x="4863040" y="1425503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 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현황 조회</a:t>
            </a:r>
          </a:p>
        </p:txBody>
      </p:sp>
      <p:sp>
        <p:nvSpPr>
          <p:cNvPr id="287" name="다이아몬드 286">
            <a:extLst>
              <a:ext uri="{FF2B5EF4-FFF2-40B4-BE49-F238E27FC236}">
                <a16:creationId xmlns:a16="http://schemas.microsoft.com/office/drawing/2014/main" id="{A3631F05-4324-41A4-B452-08FF4D71FF04}"/>
              </a:ext>
            </a:extLst>
          </p:cNvPr>
          <p:cNvSpPr/>
          <p:nvPr/>
        </p:nvSpPr>
        <p:spPr>
          <a:xfrm>
            <a:off x="3406756" y="4642738"/>
            <a:ext cx="1152000" cy="540000"/>
          </a:xfrm>
          <a:prstGeom prst="diamond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200"/>
              </a:lnSpc>
            </a:pPr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선사 운임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경매 입찰</a:t>
            </a:r>
          </a:p>
        </p:txBody>
      </p:sp>
      <p:cxnSp>
        <p:nvCxnSpPr>
          <p:cNvPr id="222" name="연결선: 꺾임 221">
            <a:extLst>
              <a:ext uri="{FF2B5EF4-FFF2-40B4-BE49-F238E27FC236}">
                <a16:creationId xmlns:a16="http://schemas.microsoft.com/office/drawing/2014/main" id="{C95D7AED-6325-4F09-BEE6-CBAA443FB123}"/>
              </a:ext>
            </a:extLst>
          </p:cNvPr>
          <p:cNvCxnSpPr>
            <a:cxnSpLocks/>
            <a:stCxn id="94" idx="2"/>
            <a:endCxn id="287" idx="1"/>
          </p:cNvCxnSpPr>
          <p:nvPr/>
        </p:nvCxnSpPr>
        <p:spPr>
          <a:xfrm rot="16200000" flipH="1">
            <a:off x="1672220" y="3178202"/>
            <a:ext cx="1164746" cy="2304325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56A6B65B-1D88-4681-896A-24F210D7D649}"/>
              </a:ext>
            </a:extLst>
          </p:cNvPr>
          <p:cNvSpPr txBox="1"/>
          <p:nvPr/>
        </p:nvSpPr>
        <p:spPr>
          <a:xfrm>
            <a:off x="1690347" y="3350355"/>
            <a:ext cx="221517" cy="184666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lang="en-US" altLang="ko-KR" sz="1200" i="1" spc="-69" dirty="0">
                <a:solidFill>
                  <a:srgbClr val="0000FF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Y</a:t>
            </a:r>
            <a:endParaRPr lang="ko-KR" altLang="en-US" sz="1200" i="1" spc="-69" dirty="0">
              <a:solidFill>
                <a:srgbClr val="0000FF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9A48C63D-4DFB-40BE-8F01-18C152935CC3}"/>
              </a:ext>
            </a:extLst>
          </p:cNvPr>
          <p:cNvSpPr txBox="1"/>
          <p:nvPr/>
        </p:nvSpPr>
        <p:spPr>
          <a:xfrm>
            <a:off x="2944201" y="3544732"/>
            <a:ext cx="227929" cy="184666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lang="en-US" altLang="ko-KR" sz="1200" i="1" spc="-69" dirty="0">
                <a:solidFill>
                  <a:srgbClr val="FF0000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N</a:t>
            </a:r>
            <a:endParaRPr lang="ko-KR" altLang="en-US" sz="1200" i="1" spc="-69" dirty="0">
              <a:solidFill>
                <a:srgbClr val="FF0000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341" name="직선 화살표 연결선 340">
            <a:extLst>
              <a:ext uri="{FF2B5EF4-FFF2-40B4-BE49-F238E27FC236}">
                <a16:creationId xmlns:a16="http://schemas.microsoft.com/office/drawing/2014/main" id="{CBB9250B-A9D0-48E2-A0F2-7E610ADBBFAB}"/>
              </a:ext>
            </a:extLst>
          </p:cNvPr>
          <p:cNvCxnSpPr>
            <a:cxnSpLocks/>
            <a:stCxn id="164" idx="0"/>
            <a:endCxn id="236" idx="2"/>
          </p:cNvCxnSpPr>
          <p:nvPr/>
        </p:nvCxnSpPr>
        <p:spPr>
          <a:xfrm flipV="1">
            <a:off x="3982756" y="2680438"/>
            <a:ext cx="0" cy="31036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직선 화살표 연결선 346">
            <a:extLst>
              <a:ext uri="{FF2B5EF4-FFF2-40B4-BE49-F238E27FC236}">
                <a16:creationId xmlns:a16="http://schemas.microsoft.com/office/drawing/2014/main" id="{72EA23EC-A985-462A-B1EE-E2E987BA8293}"/>
              </a:ext>
            </a:extLst>
          </p:cNvPr>
          <p:cNvCxnSpPr>
            <a:cxnSpLocks/>
            <a:stCxn id="177" idx="0"/>
            <a:endCxn id="164" idx="2"/>
          </p:cNvCxnSpPr>
          <p:nvPr/>
        </p:nvCxnSpPr>
        <p:spPr>
          <a:xfrm flipV="1">
            <a:off x="3982756" y="3422800"/>
            <a:ext cx="0" cy="28448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직선 화살표 연결선 363">
            <a:extLst>
              <a:ext uri="{FF2B5EF4-FFF2-40B4-BE49-F238E27FC236}">
                <a16:creationId xmlns:a16="http://schemas.microsoft.com/office/drawing/2014/main" id="{1E0DAD02-0844-4BA4-8B04-75C0391F5346}"/>
              </a:ext>
            </a:extLst>
          </p:cNvPr>
          <p:cNvCxnSpPr>
            <a:cxnSpLocks/>
            <a:stCxn id="177" idx="2"/>
            <a:endCxn id="287" idx="0"/>
          </p:cNvCxnSpPr>
          <p:nvPr/>
        </p:nvCxnSpPr>
        <p:spPr>
          <a:xfrm>
            <a:off x="3982756" y="4139284"/>
            <a:ext cx="0" cy="50345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화살표 연결선 374">
            <a:extLst>
              <a:ext uri="{FF2B5EF4-FFF2-40B4-BE49-F238E27FC236}">
                <a16:creationId xmlns:a16="http://schemas.microsoft.com/office/drawing/2014/main" id="{57576DA7-E3EB-4BFB-9E28-77EFB14B15ED}"/>
              </a:ext>
            </a:extLst>
          </p:cNvPr>
          <p:cNvCxnSpPr>
            <a:cxnSpLocks/>
            <a:stCxn id="287" idx="2"/>
            <a:endCxn id="245" idx="0"/>
          </p:cNvCxnSpPr>
          <p:nvPr/>
        </p:nvCxnSpPr>
        <p:spPr>
          <a:xfrm>
            <a:off x="3982756" y="5182738"/>
            <a:ext cx="0" cy="58158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3E65359-2677-4E94-A57C-FE91151303FB}"/>
              </a:ext>
            </a:extLst>
          </p:cNvPr>
          <p:cNvSpPr/>
          <p:nvPr/>
        </p:nvSpPr>
        <p:spPr>
          <a:xfrm>
            <a:off x="1941100" y="4032477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신청 완료</a:t>
            </a: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172E2976-6F8E-4805-859F-A42F09367FE2}"/>
              </a:ext>
            </a:extLst>
          </p:cNvPr>
          <p:cNvCxnSpPr>
            <a:cxnSpLocks/>
            <a:stCxn id="91" idx="2"/>
            <a:endCxn id="126" idx="0"/>
          </p:cNvCxnSpPr>
          <p:nvPr/>
        </p:nvCxnSpPr>
        <p:spPr>
          <a:xfrm>
            <a:off x="2481835" y="2235145"/>
            <a:ext cx="0" cy="36436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D1263658-E2DB-418E-BAB6-DC87F17567B3}"/>
              </a:ext>
            </a:extLst>
          </p:cNvPr>
          <p:cNvCxnSpPr>
            <a:cxnSpLocks/>
            <a:stCxn id="47" idx="3"/>
            <a:endCxn id="236" idx="1"/>
          </p:cNvCxnSpPr>
          <p:nvPr/>
        </p:nvCxnSpPr>
        <p:spPr>
          <a:xfrm flipV="1">
            <a:off x="3021100" y="2410438"/>
            <a:ext cx="385656" cy="183803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605A14C7-5FAE-4BA7-9267-116166D83C58}"/>
              </a:ext>
            </a:extLst>
          </p:cNvPr>
          <p:cNvCxnSpPr>
            <a:cxnSpLocks/>
            <a:stCxn id="109" idx="2"/>
            <a:endCxn id="47" idx="0"/>
          </p:cNvCxnSpPr>
          <p:nvPr/>
        </p:nvCxnSpPr>
        <p:spPr>
          <a:xfrm flipH="1">
            <a:off x="2481100" y="3801992"/>
            <a:ext cx="735" cy="23048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EA481148-83A1-4134-BD2F-81202A4EA741}"/>
              </a:ext>
            </a:extLst>
          </p:cNvPr>
          <p:cNvSpPr/>
          <p:nvPr/>
        </p:nvSpPr>
        <p:spPr>
          <a:xfrm>
            <a:off x="3442756" y="2990800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매주</a:t>
            </a:r>
            <a:r>
              <a: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매월 구간별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운임표 등록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44BBFB2-65FC-4E9B-886A-89F91AFBD37D}"/>
              </a:ext>
            </a:extLst>
          </p:cNvPr>
          <p:cNvSpPr txBox="1"/>
          <p:nvPr/>
        </p:nvSpPr>
        <p:spPr>
          <a:xfrm>
            <a:off x="3998089" y="1935713"/>
            <a:ext cx="221517" cy="184666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lang="en-US" altLang="ko-KR" sz="1200" i="1" spc="-69" dirty="0">
                <a:solidFill>
                  <a:srgbClr val="0000FF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Y</a:t>
            </a:r>
            <a:endParaRPr lang="ko-KR" altLang="en-US" sz="1200" i="1" spc="-69" dirty="0">
              <a:solidFill>
                <a:srgbClr val="0000FF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B54C4C2B-BC34-4C8C-91E9-3100771D37CE}"/>
              </a:ext>
            </a:extLst>
          </p:cNvPr>
          <p:cNvSpPr/>
          <p:nvPr/>
        </p:nvSpPr>
        <p:spPr>
          <a:xfrm>
            <a:off x="4863040" y="2194438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예상 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 제공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D9E51FF4-1560-416C-B0C0-F1154C04845B}"/>
              </a:ext>
            </a:extLst>
          </p:cNvPr>
          <p:cNvCxnSpPr>
            <a:cxnSpLocks/>
            <a:stCxn id="236" idx="3"/>
            <a:endCxn id="170" idx="1"/>
          </p:cNvCxnSpPr>
          <p:nvPr/>
        </p:nvCxnSpPr>
        <p:spPr>
          <a:xfrm>
            <a:off x="4558756" y="2410438"/>
            <a:ext cx="30428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C7D1A896-4577-4CDF-8128-B842F201C76D}"/>
              </a:ext>
            </a:extLst>
          </p:cNvPr>
          <p:cNvSpPr txBox="1"/>
          <p:nvPr/>
        </p:nvSpPr>
        <p:spPr>
          <a:xfrm>
            <a:off x="4863040" y="2668672"/>
            <a:ext cx="125933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예상 운임을 명시하고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업데이트 시 자동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재 견적 및 알림 안내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339296F-44C6-4461-97E5-0EBBAF51A3E9}"/>
              </a:ext>
            </a:extLst>
          </p:cNvPr>
          <p:cNvSpPr txBox="1"/>
          <p:nvPr/>
        </p:nvSpPr>
        <p:spPr>
          <a:xfrm>
            <a:off x="4054874" y="4182109"/>
            <a:ext cx="2058305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매주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매월 구간별 운임표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회 업데이트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미수행 시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입찰 제한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가능 여부 검토</a:t>
            </a:r>
          </a:p>
        </p:txBody>
      </p:sp>
      <p:sp>
        <p:nvSpPr>
          <p:cNvPr id="183" name="다이아몬드 182">
            <a:extLst>
              <a:ext uri="{FF2B5EF4-FFF2-40B4-BE49-F238E27FC236}">
                <a16:creationId xmlns:a16="http://schemas.microsoft.com/office/drawing/2014/main" id="{8F2E90A3-B74C-44B6-9BA1-0011B2BE205E}"/>
              </a:ext>
            </a:extLst>
          </p:cNvPr>
          <p:cNvSpPr/>
          <p:nvPr/>
        </p:nvSpPr>
        <p:spPr>
          <a:xfrm>
            <a:off x="6247324" y="2140438"/>
            <a:ext cx="1152000" cy="54000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200"/>
              </a:lnSpc>
            </a:pPr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갱신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>
              <a:lnSpc>
                <a:spcPts val="1200"/>
              </a:lnSpc>
            </a:pPr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여부 </a:t>
            </a: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06752987-F7A4-4E82-8421-F2C3A744B8EF}"/>
              </a:ext>
            </a:extLst>
          </p:cNvPr>
          <p:cNvCxnSpPr>
            <a:cxnSpLocks/>
            <a:stCxn id="170" idx="3"/>
            <a:endCxn id="183" idx="1"/>
          </p:cNvCxnSpPr>
          <p:nvPr/>
        </p:nvCxnSpPr>
        <p:spPr>
          <a:xfrm>
            <a:off x="5943040" y="2410438"/>
            <a:ext cx="30428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연결선: 꺾임 186">
            <a:extLst>
              <a:ext uri="{FF2B5EF4-FFF2-40B4-BE49-F238E27FC236}">
                <a16:creationId xmlns:a16="http://schemas.microsoft.com/office/drawing/2014/main" id="{ABA81BA8-A011-461A-BFBC-492667ED95D9}"/>
              </a:ext>
            </a:extLst>
          </p:cNvPr>
          <p:cNvCxnSpPr>
            <a:cxnSpLocks/>
            <a:stCxn id="164" idx="3"/>
            <a:endCxn id="183" idx="2"/>
          </p:cNvCxnSpPr>
          <p:nvPr/>
        </p:nvCxnSpPr>
        <p:spPr>
          <a:xfrm flipV="1">
            <a:off x="4522756" y="2680438"/>
            <a:ext cx="2300568" cy="526362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16B7C8A5-6AF4-469F-B763-8FF586E940D0}"/>
              </a:ext>
            </a:extLst>
          </p:cNvPr>
          <p:cNvCxnSpPr>
            <a:cxnSpLocks/>
            <a:stCxn id="183" idx="0"/>
            <a:endCxn id="95" idx="2"/>
          </p:cNvCxnSpPr>
          <p:nvPr/>
        </p:nvCxnSpPr>
        <p:spPr>
          <a:xfrm flipV="1">
            <a:off x="6823324" y="1857503"/>
            <a:ext cx="0" cy="282935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화살표 연결선 208">
            <a:extLst>
              <a:ext uri="{FF2B5EF4-FFF2-40B4-BE49-F238E27FC236}">
                <a16:creationId xmlns:a16="http://schemas.microsoft.com/office/drawing/2014/main" id="{C92CF12D-581A-403B-BFDB-29638F69B5E9}"/>
              </a:ext>
            </a:extLst>
          </p:cNvPr>
          <p:cNvCxnSpPr>
            <a:cxnSpLocks/>
            <a:stCxn id="95" idx="1"/>
            <a:endCxn id="262" idx="3"/>
          </p:cNvCxnSpPr>
          <p:nvPr/>
        </p:nvCxnSpPr>
        <p:spPr>
          <a:xfrm flipH="1">
            <a:off x="5943040" y="1641503"/>
            <a:ext cx="34028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1ABB97FB-A2F4-476D-B00A-916F311EAA65}"/>
              </a:ext>
            </a:extLst>
          </p:cNvPr>
          <p:cNvSpPr txBox="1"/>
          <p:nvPr/>
        </p:nvSpPr>
        <p:spPr>
          <a:xfrm>
            <a:off x="6823324" y="1935713"/>
            <a:ext cx="221517" cy="184666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lang="en-US" altLang="ko-KR" sz="1200" i="1" spc="-69" dirty="0">
                <a:solidFill>
                  <a:srgbClr val="0000FF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Y</a:t>
            </a:r>
            <a:endParaRPr lang="ko-KR" altLang="en-US" sz="1200" i="1" spc="-69" dirty="0">
              <a:solidFill>
                <a:srgbClr val="0000FF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15" name="사각형: 둥근 모서리 214">
            <a:extLst>
              <a:ext uri="{FF2B5EF4-FFF2-40B4-BE49-F238E27FC236}">
                <a16:creationId xmlns:a16="http://schemas.microsoft.com/office/drawing/2014/main" id="{BA39694F-ECCF-4DE5-9D78-3FAE64CDB99D}"/>
              </a:ext>
            </a:extLst>
          </p:cNvPr>
          <p:cNvSpPr/>
          <p:nvPr/>
        </p:nvSpPr>
        <p:spPr>
          <a:xfrm>
            <a:off x="7704289" y="2194438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 불가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0B855D1A-AE2C-49B4-B717-19151206D38E}"/>
              </a:ext>
            </a:extLst>
          </p:cNvPr>
          <p:cNvSpPr txBox="1"/>
          <p:nvPr/>
        </p:nvSpPr>
        <p:spPr>
          <a:xfrm>
            <a:off x="4458753" y="2423203"/>
            <a:ext cx="227929" cy="184666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lang="en-US" altLang="ko-KR" sz="1200" i="1" spc="-69" dirty="0">
                <a:solidFill>
                  <a:srgbClr val="FF0000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N</a:t>
            </a:r>
            <a:endParaRPr lang="ko-KR" altLang="en-US" sz="1200" i="1" spc="-69" dirty="0">
              <a:solidFill>
                <a:srgbClr val="FF0000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176F23FB-291C-4061-87C5-540E045D4582}"/>
              </a:ext>
            </a:extLst>
          </p:cNvPr>
          <p:cNvCxnSpPr>
            <a:cxnSpLocks/>
            <a:stCxn id="183" idx="3"/>
            <a:endCxn id="215" idx="1"/>
          </p:cNvCxnSpPr>
          <p:nvPr/>
        </p:nvCxnSpPr>
        <p:spPr>
          <a:xfrm>
            <a:off x="7399324" y="2410438"/>
            <a:ext cx="30496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C510F037-05BB-4493-B14B-8FA5E2879D34}"/>
              </a:ext>
            </a:extLst>
          </p:cNvPr>
          <p:cNvSpPr txBox="1"/>
          <p:nvPr/>
        </p:nvSpPr>
        <p:spPr>
          <a:xfrm>
            <a:off x="7305695" y="2423203"/>
            <a:ext cx="227929" cy="184666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lang="en-US" altLang="ko-KR" sz="1200" i="1" spc="-69" dirty="0">
                <a:solidFill>
                  <a:srgbClr val="FF0000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N</a:t>
            </a:r>
            <a:endParaRPr lang="ko-KR" altLang="en-US" sz="1200" i="1" spc="-69" dirty="0">
              <a:solidFill>
                <a:srgbClr val="FF0000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00BBB51F-32EA-437A-B432-79CA6B1D8E65}"/>
              </a:ext>
            </a:extLst>
          </p:cNvPr>
          <p:cNvSpPr txBox="1"/>
          <p:nvPr/>
        </p:nvSpPr>
        <p:spPr>
          <a:xfrm>
            <a:off x="6911264" y="2668672"/>
            <a:ext cx="122600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D-7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 운임 미 확정 시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 불가 안내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B35B5C75-731D-400D-A9B4-A76CB2C3C303}"/>
              </a:ext>
            </a:extLst>
          </p:cNvPr>
          <p:cNvSpPr txBox="1"/>
          <p:nvPr/>
        </p:nvSpPr>
        <p:spPr>
          <a:xfrm>
            <a:off x="7397828" y="1434207"/>
            <a:ext cx="129887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 업데이트 시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알림 안내</a:t>
            </a:r>
          </a:p>
        </p:txBody>
      </p:sp>
      <p:cxnSp>
        <p:nvCxnSpPr>
          <p:cNvPr id="235" name="연결선: 꺾임 234">
            <a:extLst>
              <a:ext uri="{FF2B5EF4-FFF2-40B4-BE49-F238E27FC236}">
                <a16:creationId xmlns:a16="http://schemas.microsoft.com/office/drawing/2014/main" id="{0A4DBB5F-D460-4BD6-9AD0-9DEFC385FB44}"/>
              </a:ext>
            </a:extLst>
          </p:cNvPr>
          <p:cNvCxnSpPr>
            <a:cxnSpLocks/>
            <a:stCxn id="287" idx="3"/>
            <a:endCxn id="215" idx="2"/>
          </p:cNvCxnSpPr>
          <p:nvPr/>
        </p:nvCxnSpPr>
        <p:spPr>
          <a:xfrm flipV="1">
            <a:off x="4558756" y="2626438"/>
            <a:ext cx="3685533" cy="2286300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C159F0C9-FD7B-4E2B-B149-9AED571BF3F4}"/>
              </a:ext>
            </a:extLst>
          </p:cNvPr>
          <p:cNvSpPr txBox="1"/>
          <p:nvPr/>
        </p:nvSpPr>
        <p:spPr>
          <a:xfrm>
            <a:off x="4435418" y="4923723"/>
            <a:ext cx="227929" cy="184666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lang="en-US" altLang="ko-KR" sz="1200" i="1" spc="-69" dirty="0">
                <a:solidFill>
                  <a:srgbClr val="FF0000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N</a:t>
            </a:r>
            <a:endParaRPr lang="ko-KR" altLang="en-US" sz="1200" i="1" spc="-69" dirty="0">
              <a:solidFill>
                <a:srgbClr val="FF0000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7107D134-2429-471C-81B7-D501A70A489C}"/>
              </a:ext>
            </a:extLst>
          </p:cNvPr>
          <p:cNvSpPr txBox="1"/>
          <p:nvPr/>
        </p:nvSpPr>
        <p:spPr>
          <a:xfrm>
            <a:off x="3998089" y="5182738"/>
            <a:ext cx="221517" cy="184666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lang="en-US" altLang="ko-KR" sz="1200" i="1" spc="-69" dirty="0">
                <a:solidFill>
                  <a:srgbClr val="0000FF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Y</a:t>
            </a:r>
            <a:endParaRPr lang="ko-KR" altLang="en-US" sz="1200" i="1" spc="-69" dirty="0">
              <a:solidFill>
                <a:srgbClr val="0000FF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3D6C7980-F6FE-4A2F-8305-92FFF6ED3DEF}"/>
              </a:ext>
            </a:extLst>
          </p:cNvPr>
          <p:cNvSpPr/>
          <p:nvPr/>
        </p:nvSpPr>
        <p:spPr>
          <a:xfrm>
            <a:off x="2072535" y="5818322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경매 낙찰 완료</a:t>
            </a:r>
          </a:p>
        </p:txBody>
      </p:sp>
      <p:sp>
        <p:nvSpPr>
          <p:cNvPr id="245" name="다이아몬드 244">
            <a:extLst>
              <a:ext uri="{FF2B5EF4-FFF2-40B4-BE49-F238E27FC236}">
                <a16:creationId xmlns:a16="http://schemas.microsoft.com/office/drawing/2014/main" id="{10924944-48C3-4E87-9476-8EF9DA7AC71A}"/>
              </a:ext>
            </a:extLst>
          </p:cNvPr>
          <p:cNvSpPr/>
          <p:nvPr/>
        </p:nvSpPr>
        <p:spPr>
          <a:xfrm>
            <a:off x="3406756" y="5764322"/>
            <a:ext cx="1152000" cy="540000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선사 운임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경매 낙찰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7DCE066D-B908-4A8F-BD04-6C56DCBB18B3}"/>
              </a:ext>
            </a:extLst>
          </p:cNvPr>
          <p:cNvSpPr txBox="1"/>
          <p:nvPr/>
        </p:nvSpPr>
        <p:spPr>
          <a:xfrm>
            <a:off x="1212630" y="5082577"/>
            <a:ext cx="272571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 입찰에 참여한 선사 목록 및 입찰 가격 표시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입찰 최저가 금액 갱신 시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참여 선사에게 알람 안내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687D280-C7BF-480A-A18C-4A96B6BD9D31}"/>
              </a:ext>
            </a:extLst>
          </p:cNvPr>
          <p:cNvSpPr txBox="1"/>
          <p:nvPr/>
        </p:nvSpPr>
        <p:spPr>
          <a:xfrm>
            <a:off x="4712390" y="4954300"/>
            <a:ext cx="14007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입찰이 유찰될 경우에는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해당 운임 공동구매 견적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불가로 알림 안내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52" name="직선 화살표 연결선 251">
            <a:extLst>
              <a:ext uri="{FF2B5EF4-FFF2-40B4-BE49-F238E27FC236}">
                <a16:creationId xmlns:a16="http://schemas.microsoft.com/office/drawing/2014/main" id="{40DDC6E9-ECAE-44D1-A12C-083746CE4769}"/>
              </a:ext>
            </a:extLst>
          </p:cNvPr>
          <p:cNvCxnSpPr>
            <a:cxnSpLocks/>
            <a:stCxn id="245" idx="1"/>
            <a:endCxn id="241" idx="3"/>
          </p:cNvCxnSpPr>
          <p:nvPr/>
        </p:nvCxnSpPr>
        <p:spPr>
          <a:xfrm flipH="1">
            <a:off x="3152535" y="6034322"/>
            <a:ext cx="25422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2FC9AA31-F730-4FB5-9299-B2F1EEA22E54}"/>
              </a:ext>
            </a:extLst>
          </p:cNvPr>
          <p:cNvSpPr txBox="1"/>
          <p:nvPr/>
        </p:nvSpPr>
        <p:spPr>
          <a:xfrm>
            <a:off x="3207819" y="5855459"/>
            <a:ext cx="221517" cy="184666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lang="en-US" altLang="ko-KR" sz="1200" i="1" spc="-69" dirty="0">
                <a:solidFill>
                  <a:srgbClr val="0000FF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Y</a:t>
            </a:r>
            <a:endParaRPr lang="ko-KR" altLang="en-US" sz="1200" i="1" spc="-69" dirty="0">
              <a:solidFill>
                <a:srgbClr val="0000FF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58" name="사각형: 둥근 모서리 257">
            <a:extLst>
              <a:ext uri="{FF2B5EF4-FFF2-40B4-BE49-F238E27FC236}">
                <a16:creationId xmlns:a16="http://schemas.microsoft.com/office/drawing/2014/main" id="{B3680771-D26C-43B1-9E20-4C1913CD72AE}"/>
              </a:ext>
            </a:extLst>
          </p:cNvPr>
          <p:cNvSpPr/>
          <p:nvPr/>
        </p:nvSpPr>
        <p:spPr>
          <a:xfrm>
            <a:off x="4863040" y="5818322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경매 </a:t>
            </a:r>
            <a:r>
              <a:rPr lang="ko-KR" altLang="en-US" sz="1200" b="1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미낙찰</a:t>
            </a:r>
            <a:endParaRPr lang="ko-KR" altLang="en-US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2F12A3BF-6808-40A4-BFA9-9AAC70C0EF04}"/>
              </a:ext>
            </a:extLst>
          </p:cNvPr>
          <p:cNvCxnSpPr>
            <a:cxnSpLocks/>
            <a:stCxn id="245" idx="3"/>
            <a:endCxn id="258" idx="1"/>
          </p:cNvCxnSpPr>
          <p:nvPr/>
        </p:nvCxnSpPr>
        <p:spPr>
          <a:xfrm>
            <a:off x="4558756" y="6034322"/>
            <a:ext cx="30428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F83C531B-E255-4242-A33A-16E8BC2A08C8}"/>
              </a:ext>
            </a:extLst>
          </p:cNvPr>
          <p:cNvSpPr txBox="1"/>
          <p:nvPr/>
        </p:nvSpPr>
        <p:spPr>
          <a:xfrm>
            <a:off x="4458753" y="6045013"/>
            <a:ext cx="227929" cy="184666"/>
          </a:xfrm>
          <a:prstGeom prst="rect">
            <a:avLst/>
          </a:prstGeom>
          <a:noFill/>
        </p:spPr>
        <p:txBody>
          <a:bodyPr wrap="none" lIns="72000" tIns="0" rIns="72000" bIns="0" rtlCol="0">
            <a:spAutoFit/>
          </a:bodyPr>
          <a:lstStyle/>
          <a:p>
            <a:r>
              <a:rPr lang="en-US" altLang="ko-KR" sz="1200" i="1" spc="-69" dirty="0">
                <a:solidFill>
                  <a:srgbClr val="FF0000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N</a:t>
            </a:r>
            <a:endParaRPr lang="ko-KR" altLang="en-US" sz="1200" i="1" spc="-69" dirty="0">
              <a:solidFill>
                <a:srgbClr val="FF0000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BA4E547-5D14-452E-A562-DE7E4C2B3100}"/>
              </a:ext>
            </a:extLst>
          </p:cNvPr>
          <p:cNvSpPr txBox="1"/>
          <p:nvPr/>
        </p:nvSpPr>
        <p:spPr>
          <a:xfrm>
            <a:off x="4863040" y="6289489"/>
            <a:ext cx="97083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경매 종료 후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참여 화주에게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알람 안내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67" name="사각형: 둥근 모서리 266">
            <a:extLst>
              <a:ext uri="{FF2B5EF4-FFF2-40B4-BE49-F238E27FC236}">
                <a16:creationId xmlns:a16="http://schemas.microsoft.com/office/drawing/2014/main" id="{5AA188A0-9CDD-4CEA-A5C1-D993A43F9FD3}"/>
              </a:ext>
            </a:extLst>
          </p:cNvPr>
          <p:cNvSpPr/>
          <p:nvPr/>
        </p:nvSpPr>
        <p:spPr>
          <a:xfrm>
            <a:off x="562431" y="5818322"/>
            <a:ext cx="1080000" cy="432000"/>
          </a:xfrm>
          <a:prstGeom prst="roundRect">
            <a:avLst>
              <a:gd name="adj" fmla="val 26768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</a:t>
            </a:r>
            <a:endParaRPr lang="en-US" altLang="ko-KR" sz="1200" b="1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낙찰 현황 조회</a:t>
            </a:r>
          </a:p>
        </p:txBody>
      </p:sp>
      <p:cxnSp>
        <p:nvCxnSpPr>
          <p:cNvPr id="268" name="직선 화살표 연결선 267">
            <a:extLst>
              <a:ext uri="{FF2B5EF4-FFF2-40B4-BE49-F238E27FC236}">
                <a16:creationId xmlns:a16="http://schemas.microsoft.com/office/drawing/2014/main" id="{815F8A27-0FA9-43FE-A15B-EEF33D3C3066}"/>
              </a:ext>
            </a:extLst>
          </p:cNvPr>
          <p:cNvCxnSpPr>
            <a:cxnSpLocks/>
            <a:stCxn id="241" idx="1"/>
            <a:endCxn id="267" idx="3"/>
          </p:cNvCxnSpPr>
          <p:nvPr/>
        </p:nvCxnSpPr>
        <p:spPr>
          <a:xfrm flipH="1">
            <a:off x="1642431" y="6034322"/>
            <a:ext cx="43010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화살표 연결선 278">
            <a:extLst>
              <a:ext uri="{FF2B5EF4-FFF2-40B4-BE49-F238E27FC236}">
                <a16:creationId xmlns:a16="http://schemas.microsoft.com/office/drawing/2014/main" id="{8689A7E2-6654-406D-81D8-D47F104EE682}"/>
              </a:ext>
            </a:extLst>
          </p:cNvPr>
          <p:cNvCxnSpPr>
            <a:cxnSpLocks/>
            <a:stCxn id="2" idx="3"/>
            <a:endCxn id="91" idx="1"/>
          </p:cNvCxnSpPr>
          <p:nvPr/>
        </p:nvCxnSpPr>
        <p:spPr>
          <a:xfrm flipV="1">
            <a:off x="1642432" y="2019145"/>
            <a:ext cx="299403" cy="347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연결선: 꺾임 287">
            <a:extLst>
              <a:ext uri="{FF2B5EF4-FFF2-40B4-BE49-F238E27FC236}">
                <a16:creationId xmlns:a16="http://schemas.microsoft.com/office/drawing/2014/main" id="{95D42C01-6ADB-4018-9AAE-26E92DEAEFF5}"/>
              </a:ext>
            </a:extLst>
          </p:cNvPr>
          <p:cNvCxnSpPr>
            <a:cxnSpLocks/>
            <a:stCxn id="92" idx="1"/>
            <a:endCxn id="267" idx="1"/>
          </p:cNvCxnSpPr>
          <p:nvPr/>
        </p:nvCxnSpPr>
        <p:spPr>
          <a:xfrm rot="10800000" flipV="1">
            <a:off x="562431" y="2815506"/>
            <a:ext cx="12700" cy="3218815"/>
          </a:xfrm>
          <a:prstGeom prst="bentConnector3">
            <a:avLst>
              <a:gd name="adj1" fmla="val 180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FDE34E1B-EFBA-7AA8-D900-D87381490703}"/>
              </a:ext>
            </a:extLst>
          </p:cNvPr>
          <p:cNvSpPr/>
          <p:nvPr/>
        </p:nvSpPr>
        <p:spPr>
          <a:xfrm>
            <a:off x="9175444" y="2212438"/>
            <a:ext cx="396000" cy="3960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종료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BA0A252-EE55-0CD4-941C-0DCC9E3BD8D2}"/>
              </a:ext>
            </a:extLst>
          </p:cNvPr>
          <p:cNvSpPr/>
          <p:nvPr/>
        </p:nvSpPr>
        <p:spPr>
          <a:xfrm>
            <a:off x="6238590" y="5836322"/>
            <a:ext cx="396000" cy="3960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종료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1D556-76EF-6B30-9FA9-50B9CC4DBAD7}"/>
              </a:ext>
            </a:extLst>
          </p:cNvPr>
          <p:cNvSpPr txBox="1"/>
          <p:nvPr/>
        </p:nvSpPr>
        <p:spPr>
          <a:xfrm>
            <a:off x="2072535" y="6289489"/>
            <a:ext cx="14007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경매 종료 후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참여 화주에게 알람 안내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A4D56BB-751B-D59F-021A-75FA4FA6C216}"/>
              </a:ext>
            </a:extLst>
          </p:cNvPr>
          <p:cNvCxnSpPr>
            <a:cxnSpLocks/>
            <a:stCxn id="258" idx="3"/>
            <a:endCxn id="14" idx="2"/>
          </p:cNvCxnSpPr>
          <p:nvPr/>
        </p:nvCxnSpPr>
        <p:spPr>
          <a:xfrm>
            <a:off x="5943040" y="6034322"/>
            <a:ext cx="295550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A52CD34-4FD2-1FC3-5D15-E71632E04449}"/>
              </a:ext>
            </a:extLst>
          </p:cNvPr>
          <p:cNvCxnSpPr>
            <a:cxnSpLocks/>
            <a:stCxn id="215" idx="3"/>
            <a:endCxn id="13" idx="2"/>
          </p:cNvCxnSpPr>
          <p:nvPr/>
        </p:nvCxnSpPr>
        <p:spPr>
          <a:xfrm>
            <a:off x="8784289" y="2410438"/>
            <a:ext cx="39115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5AB0430-0C19-A434-A3C1-25AB1BF80D1C}"/>
              </a:ext>
            </a:extLst>
          </p:cNvPr>
          <p:cNvSpPr txBox="1"/>
          <p:nvPr/>
        </p:nvSpPr>
        <p:spPr>
          <a:xfrm>
            <a:off x="8908229" y="2668672"/>
            <a:ext cx="92721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 요청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실패 건 분석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F0C342-DE31-343C-BE67-574F1E7F51A7}"/>
              </a:ext>
            </a:extLst>
          </p:cNvPr>
          <p:cNvSpPr txBox="1"/>
          <p:nvPr/>
        </p:nvSpPr>
        <p:spPr>
          <a:xfrm>
            <a:off x="6718115" y="5891124"/>
            <a:ext cx="92721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실패 건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16D8F-4288-18CA-FFB0-99B3F8D0490E}"/>
              </a:ext>
            </a:extLst>
          </p:cNvPr>
          <p:cNvSpPr txBox="1"/>
          <p:nvPr/>
        </p:nvSpPr>
        <p:spPr>
          <a:xfrm>
            <a:off x="93514" y="607422"/>
            <a:ext cx="8917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 </a:t>
            </a:r>
            <a:r>
              <a:rPr lang="en-US" altLang="ko-KR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– </a:t>
            </a:r>
            <a:r>
              <a:rPr lang="ko-KR" altLang="en-US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포워더 </a:t>
            </a:r>
            <a:r>
              <a:rPr lang="en-US" altLang="ko-KR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– </a:t>
            </a:r>
            <a:r>
              <a:rPr lang="ko-KR" altLang="en-US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선사가 각각의 목적에 맞게 플랫폼을 활용할 수 있도록 구성하는 것을 목적으로 함</a:t>
            </a:r>
            <a:r>
              <a:rPr lang="en-US" altLang="ko-KR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  <a:p>
            <a:r>
              <a:rPr lang="ko-KR" altLang="en-US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단</a:t>
            </a:r>
            <a:r>
              <a:rPr lang="en-US" altLang="ko-KR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화주의 물량을 </a:t>
            </a:r>
            <a:r>
              <a:rPr lang="ko-KR" altLang="en-US" b="1" u="sng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포워더가</a:t>
            </a:r>
            <a:r>
              <a:rPr lang="ko-KR" altLang="en-US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모으는 기능은 현재 프로세스가 아닌 별도 프로세스로 구현을 고민함</a:t>
            </a:r>
            <a:r>
              <a:rPr lang="en-US" altLang="ko-KR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ko-KR" altLang="en-US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BAC22ED-0484-CE62-2C81-5A8F01FACD90}"/>
              </a:ext>
            </a:extLst>
          </p:cNvPr>
          <p:cNvGrpSpPr/>
          <p:nvPr/>
        </p:nvGrpSpPr>
        <p:grpSpPr>
          <a:xfrm>
            <a:off x="6203585" y="3346153"/>
            <a:ext cx="3600000" cy="2268000"/>
            <a:chOff x="6185297" y="3388825"/>
            <a:chExt cx="3600000" cy="2268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F78419F-FC84-0ACF-0A62-B6E2D5971A9C}"/>
                </a:ext>
              </a:extLst>
            </p:cNvPr>
            <p:cNvSpPr/>
            <p:nvPr/>
          </p:nvSpPr>
          <p:spPr>
            <a:xfrm>
              <a:off x="6185297" y="3388825"/>
              <a:ext cx="3600000" cy="2268000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C6202C3E-C5CF-CB35-0846-A0133C2FB503}"/>
                </a:ext>
              </a:extLst>
            </p:cNvPr>
            <p:cNvSpPr/>
            <p:nvPr/>
          </p:nvSpPr>
          <p:spPr>
            <a:xfrm>
              <a:off x="6729695" y="3679976"/>
              <a:ext cx="576000" cy="288000"/>
            </a:xfrm>
            <a:prstGeom prst="roundRect">
              <a:avLst>
                <a:gd name="adj" fmla="val 26768"/>
              </a:avLst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요청 정보 입력</a:t>
              </a:r>
              <a:endParaRPr lang="en-US" altLang="ko-KR" sz="9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28803F5-9D9D-575D-581B-64717A1AF2F1}"/>
                </a:ext>
              </a:extLst>
            </p:cNvPr>
            <p:cNvSpPr/>
            <p:nvPr/>
          </p:nvSpPr>
          <p:spPr>
            <a:xfrm>
              <a:off x="6276094" y="3679976"/>
              <a:ext cx="288000" cy="288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</a:t>
              </a:r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6102DE45-A8C0-B734-E5B0-99945DC32220}"/>
                </a:ext>
              </a:extLst>
            </p:cNvPr>
            <p:cNvSpPr/>
            <p:nvPr/>
          </p:nvSpPr>
          <p:spPr>
            <a:xfrm>
              <a:off x="6210749" y="3413496"/>
              <a:ext cx="2329748" cy="185222"/>
            </a:xfrm>
            <a:prstGeom prst="roundRect">
              <a:avLst>
                <a:gd name="adj" fmla="val 26768"/>
              </a:avLst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105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통합 물류 서비스 요청</a:t>
              </a:r>
              <a:r>
                <a:rPr lang="en-US" altLang="ko-KR" sz="10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공동구매 포함</a:t>
              </a:r>
              <a:r>
                <a:rPr lang="en-US" altLang="ko-KR" sz="10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ko-KR" altLang="en-US" sz="105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880539F3-977B-2AF4-28DB-487FF9A30F3B}"/>
                </a:ext>
              </a:extLst>
            </p:cNvPr>
            <p:cNvCxnSpPr>
              <a:cxnSpLocks/>
              <a:stCxn id="27" idx="6"/>
              <a:endCxn id="20" idx="1"/>
            </p:cNvCxnSpPr>
            <p:nvPr/>
          </p:nvCxnSpPr>
          <p:spPr>
            <a:xfrm>
              <a:off x="6564094" y="3823976"/>
              <a:ext cx="165601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다이아몬드 39">
              <a:extLst>
                <a:ext uri="{FF2B5EF4-FFF2-40B4-BE49-F238E27FC236}">
                  <a16:creationId xmlns:a16="http://schemas.microsoft.com/office/drawing/2014/main" id="{DCBBF62B-CFF8-103C-C0A2-75BEA30E989A}"/>
                </a:ext>
              </a:extLst>
            </p:cNvPr>
            <p:cNvSpPr/>
            <p:nvPr/>
          </p:nvSpPr>
          <p:spPr>
            <a:xfrm>
              <a:off x="7469029" y="3679976"/>
              <a:ext cx="648000" cy="288000"/>
            </a:xfrm>
            <a:prstGeom prst="diamond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900"/>
                </a:lnSpc>
              </a:pPr>
              <a:r>
                <a:rPr lang="ko-KR" altLang="en-US" sz="9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요청 중복 </a:t>
              </a:r>
              <a:endParaRPr lang="en-US" altLang="ko-KR" sz="9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18437275-D23C-070C-702E-27F923A69A1D}"/>
                </a:ext>
              </a:extLst>
            </p:cNvPr>
            <p:cNvCxnSpPr>
              <a:cxnSpLocks/>
              <a:stCxn id="20" idx="3"/>
              <a:endCxn id="40" idx="1"/>
            </p:cNvCxnSpPr>
            <p:nvPr/>
          </p:nvCxnSpPr>
          <p:spPr>
            <a:xfrm>
              <a:off x="7305695" y="3823976"/>
              <a:ext cx="163334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EF440467-593F-9AF7-038E-B06A40FDD7E5}"/>
                </a:ext>
              </a:extLst>
            </p:cNvPr>
            <p:cNvSpPr/>
            <p:nvPr/>
          </p:nvSpPr>
          <p:spPr>
            <a:xfrm>
              <a:off x="7505029" y="4189683"/>
              <a:ext cx="576000" cy="288000"/>
            </a:xfrm>
            <a:prstGeom prst="roundRect">
              <a:avLst>
                <a:gd name="adj" fmla="val 26768"/>
              </a:avLst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기존 요청에</a:t>
              </a:r>
              <a:endParaRPr lang="en-US" altLang="ko-KR" sz="9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9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추가</a:t>
              </a:r>
              <a:endParaRPr lang="en-US" altLang="ko-KR" sz="9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7F2539F0-D33A-33F4-69E7-8B19BE881968}"/>
                </a:ext>
              </a:extLst>
            </p:cNvPr>
            <p:cNvCxnSpPr>
              <a:cxnSpLocks/>
              <a:stCxn id="40" idx="2"/>
              <a:endCxn id="51" idx="0"/>
            </p:cNvCxnSpPr>
            <p:nvPr/>
          </p:nvCxnSpPr>
          <p:spPr>
            <a:xfrm>
              <a:off x="7793029" y="3967976"/>
              <a:ext cx="0" cy="22170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B38B4F8F-0DAC-1396-851C-D30F77C5EAA5}"/>
                </a:ext>
              </a:extLst>
            </p:cNvPr>
            <p:cNvSpPr/>
            <p:nvPr/>
          </p:nvSpPr>
          <p:spPr>
            <a:xfrm>
              <a:off x="8328235" y="3679976"/>
              <a:ext cx="576000" cy="288000"/>
            </a:xfrm>
            <a:prstGeom prst="roundRect">
              <a:avLst>
                <a:gd name="adj" fmla="val 26768"/>
              </a:avLst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신규 요청</a:t>
              </a:r>
              <a:endParaRPr lang="en-US" altLang="ko-KR" sz="9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9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생성</a:t>
              </a:r>
              <a:endParaRPr lang="en-US" altLang="ko-KR" sz="9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A4A38097-79D4-ED49-E3F2-5B0BD2A8A33C}"/>
                </a:ext>
              </a:extLst>
            </p:cNvPr>
            <p:cNvCxnSpPr>
              <a:cxnSpLocks/>
              <a:stCxn id="40" idx="3"/>
              <a:endCxn id="60" idx="1"/>
            </p:cNvCxnSpPr>
            <p:nvPr/>
          </p:nvCxnSpPr>
          <p:spPr>
            <a:xfrm>
              <a:off x="8117029" y="3823976"/>
              <a:ext cx="21120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다이아몬드 69">
              <a:extLst>
                <a:ext uri="{FF2B5EF4-FFF2-40B4-BE49-F238E27FC236}">
                  <a16:creationId xmlns:a16="http://schemas.microsoft.com/office/drawing/2014/main" id="{9A1508E6-C9C4-DF97-4D92-B84A2C8EE51B}"/>
                </a:ext>
              </a:extLst>
            </p:cNvPr>
            <p:cNvSpPr/>
            <p:nvPr/>
          </p:nvSpPr>
          <p:spPr>
            <a:xfrm>
              <a:off x="7469029" y="4648273"/>
              <a:ext cx="648000" cy="288000"/>
            </a:xfrm>
            <a:prstGeom prst="diamond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900"/>
                </a:lnSpc>
              </a:pPr>
              <a:r>
                <a:rPr lang="ko-KR" altLang="en-US" sz="9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 입찰</a:t>
              </a:r>
              <a:endParaRPr lang="en-US" altLang="ko-KR" sz="9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02CBFE4D-BDB7-F435-3C37-4CA56577DBF2}"/>
                </a:ext>
              </a:extLst>
            </p:cNvPr>
            <p:cNvCxnSpPr>
              <a:cxnSpLocks/>
              <a:stCxn id="51" idx="2"/>
              <a:endCxn id="70" idx="0"/>
            </p:cNvCxnSpPr>
            <p:nvPr/>
          </p:nvCxnSpPr>
          <p:spPr>
            <a:xfrm>
              <a:off x="7793029" y="4477683"/>
              <a:ext cx="0" cy="17059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다이아몬드 106">
              <a:extLst>
                <a:ext uri="{FF2B5EF4-FFF2-40B4-BE49-F238E27FC236}">
                  <a16:creationId xmlns:a16="http://schemas.microsoft.com/office/drawing/2014/main" id="{AE0AF1A4-ABB2-2C06-D6FE-9B42D1D7C865}"/>
                </a:ext>
              </a:extLst>
            </p:cNvPr>
            <p:cNvSpPr/>
            <p:nvPr/>
          </p:nvSpPr>
          <p:spPr>
            <a:xfrm>
              <a:off x="8292235" y="4189683"/>
              <a:ext cx="648000" cy="288000"/>
            </a:xfrm>
            <a:prstGeom prst="diamond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6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900"/>
                </a:lnSpc>
              </a:pPr>
              <a:r>
                <a:rPr lang="ko-KR" altLang="en-US" sz="9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입찰 조건</a:t>
              </a:r>
              <a:endParaRPr lang="en-US" altLang="ko-KR" sz="9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A817A91C-09C7-88AF-39DD-540565EBC2D2}"/>
                </a:ext>
              </a:extLst>
            </p:cNvPr>
            <p:cNvCxnSpPr>
              <a:cxnSpLocks/>
              <a:stCxn id="60" idx="2"/>
              <a:endCxn id="107" idx="0"/>
            </p:cNvCxnSpPr>
            <p:nvPr/>
          </p:nvCxnSpPr>
          <p:spPr>
            <a:xfrm>
              <a:off x="8616235" y="3967976"/>
              <a:ext cx="0" cy="221707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4499DF3C-0BC8-9F19-BF28-ADC83695BD58}"/>
                </a:ext>
              </a:extLst>
            </p:cNvPr>
            <p:cNvSpPr/>
            <p:nvPr/>
          </p:nvSpPr>
          <p:spPr>
            <a:xfrm>
              <a:off x="9412434" y="4189683"/>
              <a:ext cx="288000" cy="288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종료</a:t>
              </a:r>
              <a:endParaRPr lang="ko-KR" altLang="en-US" sz="9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7B644293-2863-F146-AA1A-1AD0FD2DF0C0}"/>
                </a:ext>
              </a:extLst>
            </p:cNvPr>
            <p:cNvCxnSpPr>
              <a:cxnSpLocks/>
              <a:stCxn id="107" idx="3"/>
              <a:endCxn id="113" idx="2"/>
            </p:cNvCxnSpPr>
            <p:nvPr/>
          </p:nvCxnSpPr>
          <p:spPr>
            <a:xfrm>
              <a:off x="8940235" y="4333683"/>
              <a:ext cx="472199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D20F55B4-58A8-07A0-DA06-9E8BA44549E1}"/>
                </a:ext>
              </a:extLst>
            </p:cNvPr>
            <p:cNvSpPr txBox="1"/>
            <p:nvPr/>
          </p:nvSpPr>
          <p:spPr>
            <a:xfrm>
              <a:off x="8935068" y="4102861"/>
              <a:ext cx="47431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rgbClr val="FF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 입찰 조건 미부합</a:t>
              </a:r>
            </a:p>
          </p:txBody>
        </p:sp>
        <p:cxnSp>
          <p:nvCxnSpPr>
            <p:cNvPr id="120" name="연결선: 꺾임 119">
              <a:extLst>
                <a:ext uri="{FF2B5EF4-FFF2-40B4-BE49-F238E27FC236}">
                  <a16:creationId xmlns:a16="http://schemas.microsoft.com/office/drawing/2014/main" id="{299D5B77-8871-8595-5341-9BA49DA5B346}"/>
                </a:ext>
              </a:extLst>
            </p:cNvPr>
            <p:cNvCxnSpPr>
              <a:stCxn id="107" idx="2"/>
              <a:endCxn id="70" idx="3"/>
            </p:cNvCxnSpPr>
            <p:nvPr/>
          </p:nvCxnSpPr>
          <p:spPr>
            <a:xfrm rot="5400000">
              <a:off x="8209337" y="4385375"/>
              <a:ext cx="314590" cy="499206"/>
            </a:xfrm>
            <a:prstGeom prst="bent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A4C0B69-032F-411C-0510-C80F3526DBF0}"/>
                </a:ext>
              </a:extLst>
            </p:cNvPr>
            <p:cNvSpPr txBox="1"/>
            <p:nvPr/>
          </p:nvSpPr>
          <p:spPr>
            <a:xfrm>
              <a:off x="8654475" y="4516314"/>
              <a:ext cx="47431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 입찰 조건 부합</a:t>
              </a:r>
            </a:p>
          </p:txBody>
        </p:sp>
        <p:cxnSp>
          <p:nvCxnSpPr>
            <p:cNvPr id="124" name="직선 화살표 연결선 123">
              <a:extLst>
                <a:ext uri="{FF2B5EF4-FFF2-40B4-BE49-F238E27FC236}">
                  <a16:creationId xmlns:a16="http://schemas.microsoft.com/office/drawing/2014/main" id="{A1309225-5491-E447-F8D1-01FFD8F6B442}"/>
                </a:ext>
              </a:extLst>
            </p:cNvPr>
            <p:cNvCxnSpPr>
              <a:cxnSpLocks/>
              <a:stCxn id="70" idx="2"/>
              <a:endCxn id="130" idx="0"/>
            </p:cNvCxnSpPr>
            <p:nvPr/>
          </p:nvCxnSpPr>
          <p:spPr>
            <a:xfrm>
              <a:off x="7793029" y="4936273"/>
              <a:ext cx="0" cy="364979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8517A9D3-343E-5315-C30C-5E95565174D5}"/>
                </a:ext>
              </a:extLst>
            </p:cNvPr>
            <p:cNvSpPr/>
            <p:nvPr/>
          </p:nvSpPr>
          <p:spPr>
            <a:xfrm>
              <a:off x="7451029" y="5301252"/>
              <a:ext cx="684000" cy="288000"/>
            </a:xfrm>
            <a:prstGeom prst="roundRect">
              <a:avLst>
                <a:gd name="adj" fmla="val 26768"/>
              </a:avLst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공동구매 자동 생성 </a:t>
              </a:r>
              <a:endParaRPr lang="en-US" altLang="ko-KR" sz="9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3" name="사각형: 둥근 모서리 132">
              <a:extLst>
                <a:ext uri="{FF2B5EF4-FFF2-40B4-BE49-F238E27FC236}">
                  <a16:creationId xmlns:a16="http://schemas.microsoft.com/office/drawing/2014/main" id="{1433C7CD-CFAF-67E8-6DF9-E6260E9B70BB}"/>
                </a:ext>
              </a:extLst>
            </p:cNvPr>
            <p:cNvSpPr/>
            <p:nvPr/>
          </p:nvSpPr>
          <p:spPr>
            <a:xfrm>
              <a:off x="8941767" y="5301252"/>
              <a:ext cx="684000" cy="288000"/>
            </a:xfrm>
            <a:prstGeom prst="roundRect">
              <a:avLst>
                <a:gd name="adj" fmla="val 26768"/>
              </a:avLst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공동구매 신청 </a:t>
              </a:r>
              <a:endParaRPr lang="en-US" altLang="ko-KR" sz="9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39" name="직선 화살표 연결선 138">
              <a:extLst>
                <a:ext uri="{FF2B5EF4-FFF2-40B4-BE49-F238E27FC236}">
                  <a16:creationId xmlns:a16="http://schemas.microsoft.com/office/drawing/2014/main" id="{55E0EEE1-4B5B-3F6F-2C1E-947880E237C8}"/>
                </a:ext>
              </a:extLst>
            </p:cNvPr>
            <p:cNvCxnSpPr>
              <a:cxnSpLocks/>
              <a:stCxn id="130" idx="3"/>
              <a:endCxn id="133" idx="1"/>
            </p:cNvCxnSpPr>
            <p:nvPr/>
          </p:nvCxnSpPr>
          <p:spPr>
            <a:xfrm>
              <a:off x="8135029" y="5445252"/>
              <a:ext cx="806738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8D1AB1ED-4C1A-B646-FE1C-C56A567BDD69}"/>
                </a:ext>
              </a:extLst>
            </p:cNvPr>
            <p:cNvSpPr/>
            <p:nvPr/>
          </p:nvSpPr>
          <p:spPr>
            <a:xfrm>
              <a:off x="6681040" y="4648273"/>
              <a:ext cx="288000" cy="288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63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종료</a:t>
              </a:r>
            </a:p>
          </p:txBody>
        </p:sp>
        <p:cxnSp>
          <p:nvCxnSpPr>
            <p:cNvPr id="145" name="직선 화살표 연결선 144">
              <a:extLst>
                <a:ext uri="{FF2B5EF4-FFF2-40B4-BE49-F238E27FC236}">
                  <a16:creationId xmlns:a16="http://schemas.microsoft.com/office/drawing/2014/main" id="{76B925AF-1135-C147-3F4F-1DCD9E6AEFF5}"/>
                </a:ext>
              </a:extLst>
            </p:cNvPr>
            <p:cNvCxnSpPr>
              <a:cxnSpLocks/>
              <a:stCxn id="70" idx="1"/>
              <a:endCxn id="144" idx="6"/>
            </p:cNvCxnSpPr>
            <p:nvPr/>
          </p:nvCxnSpPr>
          <p:spPr>
            <a:xfrm flipH="1">
              <a:off x="6969040" y="4792273"/>
              <a:ext cx="499989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FC2A39E-8397-8B00-0DF1-F99061461F6E}"/>
                </a:ext>
              </a:extLst>
            </p:cNvPr>
            <p:cNvSpPr txBox="1"/>
            <p:nvPr/>
          </p:nvSpPr>
          <p:spPr>
            <a:xfrm>
              <a:off x="7832048" y="4962712"/>
              <a:ext cx="1843219" cy="323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 입찰이 성공적으로 종료된 경우</a:t>
              </a:r>
              <a:r>
                <a:rPr lang="en-US" altLang="ko-KR" sz="7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7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자동으로 운임 공동구매 신청이 생성되어</a:t>
              </a:r>
              <a:r>
                <a:rPr lang="en-US" altLang="ko-KR" sz="7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700" dirty="0">
                  <a:solidFill>
                    <a:srgbClr val="0000FF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운임 공동구매 신청 프로세스로 연계되도록 구성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4AF591E-74C7-BB71-B068-84DB122A1635}"/>
                </a:ext>
              </a:extLst>
            </p:cNvPr>
            <p:cNvSpPr txBox="1"/>
            <p:nvPr/>
          </p:nvSpPr>
          <p:spPr>
            <a:xfrm>
              <a:off x="7044841" y="4562978"/>
              <a:ext cx="47431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rgbClr val="FF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 입찰 실패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3333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6ECF51-70E9-5594-7958-D20008424F06}"/>
              </a:ext>
            </a:extLst>
          </p:cNvPr>
          <p:cNvSpPr txBox="1"/>
          <p:nvPr/>
        </p:nvSpPr>
        <p:spPr>
          <a:xfrm>
            <a:off x="65521" y="66231"/>
            <a:ext cx="4931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02-01.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회원 가입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: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공통 </a:t>
            </a:r>
            <a:r>
              <a:rPr lang="en-US" altLang="ko-KR" sz="20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20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</a:t>
            </a:r>
            <a:r>
              <a:rPr lang="en-US" altLang="ko-KR" sz="20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20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포워더</a:t>
            </a:r>
            <a:r>
              <a:rPr lang="en-US" altLang="ko-KR" sz="20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20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선사</a:t>
            </a:r>
            <a:r>
              <a:rPr lang="en-US" altLang="ko-KR" sz="20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2400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95C2-F89A-C561-B693-C4CF90598E96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2. Business Flowchart (Process)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89007E-45DC-EBB7-593C-287AE9517585}"/>
              </a:ext>
            </a:extLst>
          </p:cNvPr>
          <p:cNvSpPr txBox="1"/>
          <p:nvPr/>
        </p:nvSpPr>
        <p:spPr>
          <a:xfrm>
            <a:off x="7030310" y="1200536"/>
            <a:ext cx="2856234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28588" indent="-128588"/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 정보로만 회원 가입 시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접근 가능한 서비스 범위</a:t>
            </a:r>
            <a:endParaRPr lang="en-US" altLang="ko-KR" sz="10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28588" indent="-128588"/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홈 화면</a:t>
            </a:r>
            <a:endParaRPr lang="en-US" altLang="ko-KR" sz="10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28588" indent="-128588"/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플랫폼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및 서비스 소개</a:t>
            </a:r>
            <a:endParaRPr lang="en-US" altLang="ko-KR" sz="10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marL="128588" indent="-128588"/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포워딩 견적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일부 회사 정보 추가 입력 시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marL="128588" indent="-128588"/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FAQ</a:t>
            </a:r>
          </a:p>
          <a:p>
            <a:pPr marL="128588" indent="-128588"/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- Q&amp;A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1FDEBD-F5D7-8D66-D063-34314D25AD20}"/>
              </a:ext>
            </a:extLst>
          </p:cNvPr>
          <p:cNvSpPr txBox="1"/>
          <p:nvPr/>
        </p:nvSpPr>
        <p:spPr>
          <a:xfrm>
            <a:off x="93514" y="607422"/>
            <a:ext cx="9632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회원 가입은 화주</a:t>
            </a:r>
            <a:r>
              <a:rPr lang="en-US" altLang="ko-KR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포워더</a:t>
            </a:r>
            <a:r>
              <a:rPr lang="en-US" altLang="ko-KR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선사가 동일 내용</a:t>
            </a:r>
            <a:r>
              <a:rPr lang="en-US" altLang="ko-KR" sz="16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6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국가 선택</a:t>
            </a:r>
            <a:r>
              <a:rPr lang="en-US" altLang="ko-KR" sz="16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6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사업자 번호</a:t>
            </a:r>
            <a:r>
              <a:rPr lang="en-US" altLang="ko-KR" sz="16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6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이메일</a:t>
            </a:r>
            <a:r>
              <a:rPr lang="en-US" altLang="ko-KR" sz="16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6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약관 동의</a:t>
            </a:r>
            <a:r>
              <a:rPr lang="en-US" altLang="ko-KR" sz="1600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기반으로 가능하며</a:t>
            </a:r>
            <a:r>
              <a:rPr lang="en-US" altLang="ko-KR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</a:p>
          <a:p>
            <a:r>
              <a:rPr lang="ko-KR" altLang="en-US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정보 입력 전까지 플랫폼 전체 서비스의 접근 및 활용을 제한함</a:t>
            </a:r>
            <a:r>
              <a:rPr lang="en-US" altLang="ko-KR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r>
              <a:rPr lang="ko-KR" altLang="en-US" sz="16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활용 가능 서비스 별도 정의</a:t>
            </a:r>
            <a:r>
              <a:rPr lang="en-US" altLang="ko-KR" sz="14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endParaRPr lang="ko-KR" altLang="en-US" sz="14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6670C923-1CDD-2235-05F0-706D9D325A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AutoShape 7">
            <a:extLst>
              <a:ext uri="{FF2B5EF4-FFF2-40B4-BE49-F238E27FC236}">
                <a16:creationId xmlns:a16="http://schemas.microsoft.com/office/drawing/2014/main" id="{8381D4FC-7FB7-B01C-C0D3-CEE842F0AF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85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4" name="AutoShape 8">
            <a:extLst>
              <a:ext uri="{FF2B5EF4-FFF2-40B4-BE49-F238E27FC236}">
                <a16:creationId xmlns:a16="http://schemas.microsoft.com/office/drawing/2014/main" id="{B7D50AB3-CD16-A0B2-AAD3-91541F7D5E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850" y="7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61F8D5C6-F6F8-23EC-577C-988F3D44FDF5}"/>
              </a:ext>
            </a:extLst>
          </p:cNvPr>
          <p:cNvGrpSpPr/>
          <p:nvPr/>
        </p:nvGrpSpPr>
        <p:grpSpPr>
          <a:xfrm>
            <a:off x="166142" y="1449068"/>
            <a:ext cx="9683078" cy="5356315"/>
            <a:chOff x="166142" y="1449068"/>
            <a:chExt cx="9683078" cy="5356315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802172B5-636E-4A12-A1CB-AA279E792459}"/>
                </a:ext>
              </a:extLst>
            </p:cNvPr>
            <p:cNvSpPr/>
            <p:nvPr/>
          </p:nvSpPr>
          <p:spPr>
            <a:xfrm>
              <a:off x="166142" y="1449068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회원가입 신청</a:t>
              </a:r>
              <a:endPara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20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버튼 클릭</a:t>
              </a:r>
              <a:r>
                <a:rPr lang="en-US" altLang="ko-KR" sz="120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ko-KR" altLang="en-US" sz="12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75428E0-DAD3-48B3-BF17-60A1CD55440D}"/>
                </a:ext>
              </a:extLst>
            </p:cNvPr>
            <p:cNvSpPr/>
            <p:nvPr/>
          </p:nvSpPr>
          <p:spPr>
            <a:xfrm>
              <a:off x="1637969" y="1449068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회원 가입 유형 선택</a:t>
              </a:r>
              <a:endPara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2485139-262C-40B0-85E9-8F2B07077431}"/>
                </a:ext>
              </a:extLst>
            </p:cNvPr>
            <p:cNvSpPr/>
            <p:nvPr/>
          </p:nvSpPr>
          <p:spPr>
            <a:xfrm>
              <a:off x="3030233" y="1449068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소속 국가 또는 지역 선택</a:t>
              </a:r>
              <a:endParaRPr lang="ko-KR" altLang="en-US" sz="12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F3DCFD2-D2A9-4448-8C1B-D60AAD5678C9}"/>
                </a:ext>
              </a:extLst>
            </p:cNvPr>
            <p:cNvSpPr/>
            <p:nvPr/>
          </p:nvSpPr>
          <p:spPr>
            <a:xfrm>
              <a:off x="8625520" y="2759518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인증 코드 </a:t>
              </a:r>
              <a:endPara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이메일 확인</a:t>
              </a:r>
              <a:endParaRPr lang="ko-KR" altLang="en-US" sz="12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86255388-D564-4494-A066-58842A99792E}"/>
                </a:ext>
              </a:extLst>
            </p:cNvPr>
            <p:cNvSpPr/>
            <p:nvPr/>
          </p:nvSpPr>
          <p:spPr>
            <a:xfrm>
              <a:off x="7316882" y="2759518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인증 코드 요청</a:t>
              </a: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85F6261-9347-4C9F-A956-651EE3FCB857}"/>
                </a:ext>
              </a:extLst>
            </p:cNvPr>
            <p:cNvSpPr/>
            <p:nvPr/>
          </p:nvSpPr>
          <p:spPr>
            <a:xfrm>
              <a:off x="6038718" y="2147518"/>
              <a:ext cx="396000" cy="396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종료</a:t>
              </a: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EC8D55DF-A0D5-453F-8CC8-BBB94B1CFE4A}"/>
                </a:ext>
              </a:extLst>
            </p:cNvPr>
            <p:cNvCxnSpPr>
              <a:cxnSpLocks/>
              <a:stCxn id="64" idx="3"/>
              <a:endCxn id="18" idx="2"/>
            </p:cNvCxnSpPr>
            <p:nvPr/>
          </p:nvCxnSpPr>
          <p:spPr>
            <a:xfrm>
              <a:off x="5652024" y="2345518"/>
              <a:ext cx="386694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ABEF96-5098-46CC-8414-8483AFAFA390}"/>
                </a:ext>
              </a:extLst>
            </p:cNvPr>
            <p:cNvSpPr txBox="1"/>
            <p:nvPr/>
          </p:nvSpPr>
          <p:spPr>
            <a:xfrm>
              <a:off x="6518930" y="2191629"/>
              <a:ext cx="2077638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동일 사업자 번호 가입 회원 중 대표자 등록 이메일 주소 중 일부만 오픈</a:t>
              </a:r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(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대표자가 추가 직원 입력 가능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1642C50-FC00-4075-92BF-537CEB0C4D40}"/>
                </a:ext>
              </a:extLst>
            </p:cNvPr>
            <p:cNvSpPr/>
            <p:nvPr/>
          </p:nvSpPr>
          <p:spPr>
            <a:xfrm>
              <a:off x="4410024" y="1449068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사업자 번호 입력</a:t>
              </a:r>
              <a:endPara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40C8A67-12F0-473B-A08A-E5F3CCA03297}"/>
                </a:ext>
              </a:extLst>
            </p:cNvPr>
            <p:cNvSpPr txBox="1"/>
            <p:nvPr/>
          </p:nvSpPr>
          <p:spPr>
            <a:xfrm>
              <a:off x="1660031" y="1940429"/>
              <a:ext cx="954009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31763" indent="-131763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가입 유형 구분</a:t>
              </a:r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131763" indent="-131763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화주</a:t>
              </a:r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131763" indent="-131763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</a:t>
              </a:r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131763" indent="-131763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선사</a:t>
              </a:r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7B482C58-3663-4733-A6FA-B4485D89FEF2}"/>
                </a:ext>
              </a:extLst>
            </p:cNvPr>
            <p:cNvSpPr/>
            <p:nvPr/>
          </p:nvSpPr>
          <p:spPr>
            <a:xfrm>
              <a:off x="2826228" y="2129518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이메일 주소 입력</a:t>
              </a:r>
              <a:endParaRPr lang="ko-KR" altLang="en-US" sz="12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B2B88FD5-381B-4315-87F0-9E44F09BB234}"/>
                </a:ext>
              </a:extLst>
            </p:cNvPr>
            <p:cNvSpPr/>
            <p:nvPr/>
          </p:nvSpPr>
          <p:spPr>
            <a:xfrm>
              <a:off x="7316882" y="3373452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인증 코드 입력</a:t>
              </a:r>
            </a:p>
          </p:txBody>
        </p:sp>
        <p:cxnSp>
          <p:nvCxnSpPr>
            <p:cNvPr id="14" name="연결선: 꺾임 13">
              <a:extLst>
                <a:ext uri="{FF2B5EF4-FFF2-40B4-BE49-F238E27FC236}">
                  <a16:creationId xmlns:a16="http://schemas.microsoft.com/office/drawing/2014/main" id="{B8F40229-E98A-C3B9-63DB-92C889C5FA8E}"/>
                </a:ext>
              </a:extLst>
            </p:cNvPr>
            <p:cNvCxnSpPr>
              <a:cxnSpLocks/>
              <a:stCxn id="13" idx="2"/>
              <a:endCxn id="25" idx="3"/>
            </p:cNvCxnSpPr>
            <p:nvPr/>
          </p:nvCxnSpPr>
          <p:spPr>
            <a:xfrm rot="5400000">
              <a:off x="8582234" y="3006166"/>
              <a:ext cx="397934" cy="768638"/>
            </a:xfrm>
            <a:prstGeom prst="bentConnector2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DE152AB7-260C-CB06-FCB0-E5E1C49EE80A}"/>
                </a:ext>
              </a:extLst>
            </p:cNvPr>
            <p:cNvCxnSpPr>
              <a:cxnSpLocks/>
              <a:stCxn id="23" idx="2"/>
              <a:endCxn id="98" idx="0"/>
            </p:cNvCxnSpPr>
            <p:nvPr/>
          </p:nvCxnSpPr>
          <p:spPr>
            <a:xfrm>
              <a:off x="3366228" y="2561518"/>
              <a:ext cx="0" cy="19800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1A611FC2-E781-0E62-4807-429781B79063}"/>
                </a:ext>
              </a:extLst>
            </p:cNvPr>
            <p:cNvCxnSpPr>
              <a:cxnSpLocks/>
              <a:stCxn id="15" idx="2"/>
              <a:endCxn id="25" idx="0"/>
            </p:cNvCxnSpPr>
            <p:nvPr/>
          </p:nvCxnSpPr>
          <p:spPr>
            <a:xfrm>
              <a:off x="7856882" y="3191518"/>
              <a:ext cx="0" cy="181934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5D875E98-751D-3EB2-38EA-C646B54B238D}"/>
                </a:ext>
              </a:extLst>
            </p:cNvPr>
            <p:cNvCxnSpPr>
              <a:cxnSpLocks/>
              <a:stCxn id="15" idx="3"/>
              <a:endCxn id="13" idx="1"/>
            </p:cNvCxnSpPr>
            <p:nvPr/>
          </p:nvCxnSpPr>
          <p:spPr>
            <a:xfrm>
              <a:off x="8396882" y="2975518"/>
              <a:ext cx="228638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DF6D1711-305B-01A5-0C4F-1386727FF331}"/>
                </a:ext>
              </a:extLst>
            </p:cNvPr>
            <p:cNvCxnSpPr>
              <a:cxnSpLocks/>
              <a:stCxn id="4" idx="3"/>
              <a:endCxn id="11" idx="1"/>
            </p:cNvCxnSpPr>
            <p:nvPr/>
          </p:nvCxnSpPr>
          <p:spPr>
            <a:xfrm>
              <a:off x="1246142" y="1665068"/>
              <a:ext cx="391827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B4EA861C-9B9D-D537-1C27-471634D1EB24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>
              <a:off x="2717969" y="1665068"/>
              <a:ext cx="312264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ACB65214-942E-3892-D064-BAE0FE38EED3}"/>
                </a:ext>
              </a:extLst>
            </p:cNvPr>
            <p:cNvCxnSpPr>
              <a:cxnSpLocks/>
              <a:stCxn id="12" idx="3"/>
              <a:endCxn id="21" idx="1"/>
            </p:cNvCxnSpPr>
            <p:nvPr/>
          </p:nvCxnSpPr>
          <p:spPr>
            <a:xfrm>
              <a:off x="4110233" y="1665068"/>
              <a:ext cx="299791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다이아몬드 63">
              <a:extLst>
                <a:ext uri="{FF2B5EF4-FFF2-40B4-BE49-F238E27FC236}">
                  <a16:creationId xmlns:a16="http://schemas.microsoft.com/office/drawing/2014/main" id="{EA36095E-972E-4BF0-C657-5E416542038E}"/>
                </a:ext>
              </a:extLst>
            </p:cNvPr>
            <p:cNvSpPr/>
            <p:nvPr/>
          </p:nvSpPr>
          <p:spPr>
            <a:xfrm>
              <a:off x="4248024" y="2129518"/>
              <a:ext cx="1404000" cy="432000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사업자</a:t>
              </a:r>
              <a:endPara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번호</a:t>
              </a:r>
              <a:r>
                <a:rPr lang="en-US" altLang="ko-KR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중복</a:t>
              </a:r>
            </a:p>
          </p:txBody>
        </p: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0B9385CF-3EC3-479B-06DE-364A68170E8B}"/>
                </a:ext>
              </a:extLst>
            </p:cNvPr>
            <p:cNvCxnSpPr>
              <a:cxnSpLocks/>
              <a:stCxn id="21" idx="2"/>
              <a:endCxn id="64" idx="0"/>
            </p:cNvCxnSpPr>
            <p:nvPr/>
          </p:nvCxnSpPr>
          <p:spPr>
            <a:xfrm>
              <a:off x="4950024" y="1881068"/>
              <a:ext cx="0" cy="24845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E992047A-F7D0-8332-4CCB-D1E71B90334C}"/>
                </a:ext>
              </a:extLst>
            </p:cNvPr>
            <p:cNvSpPr/>
            <p:nvPr/>
          </p:nvSpPr>
          <p:spPr>
            <a:xfrm>
              <a:off x="8263858" y="6046815"/>
              <a:ext cx="396000" cy="396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종료</a:t>
              </a:r>
            </a:p>
          </p:txBody>
        </p: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77E7A6C4-0888-84CF-4493-98BBCA3E8D6E}"/>
                </a:ext>
              </a:extLst>
            </p:cNvPr>
            <p:cNvCxnSpPr>
              <a:cxnSpLocks/>
              <a:stCxn id="297" idx="3"/>
              <a:endCxn id="75" idx="2"/>
            </p:cNvCxnSpPr>
            <p:nvPr/>
          </p:nvCxnSpPr>
          <p:spPr>
            <a:xfrm>
              <a:off x="7987466" y="6242640"/>
              <a:ext cx="276392" cy="2175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6DA1FEA-FD1A-E6FF-757B-31BCCE23A3EF}"/>
                </a:ext>
              </a:extLst>
            </p:cNvPr>
            <p:cNvSpPr txBox="1"/>
            <p:nvPr/>
          </p:nvSpPr>
          <p:spPr>
            <a:xfrm>
              <a:off x="8697182" y="6079420"/>
              <a:ext cx="92721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회원가입 완료 </a:t>
              </a:r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메일 발송</a:t>
              </a:r>
            </a:p>
          </p:txBody>
        </p:sp>
        <p:sp>
          <p:nvSpPr>
            <p:cNvPr id="98" name="다이아몬드 97">
              <a:extLst>
                <a:ext uri="{FF2B5EF4-FFF2-40B4-BE49-F238E27FC236}">
                  <a16:creationId xmlns:a16="http://schemas.microsoft.com/office/drawing/2014/main" id="{6FAFE289-7B17-EBE7-D15F-A8881BC119D7}"/>
                </a:ext>
              </a:extLst>
            </p:cNvPr>
            <p:cNvSpPr/>
            <p:nvPr/>
          </p:nvSpPr>
          <p:spPr>
            <a:xfrm>
              <a:off x="2664228" y="2759518"/>
              <a:ext cx="1404000" cy="432000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이메일 </a:t>
              </a:r>
              <a:endPara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>
                <a:lnSpc>
                  <a:spcPts val="1200"/>
                </a:lnSpc>
              </a:pP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주소</a:t>
              </a:r>
              <a:r>
                <a:rPr lang="en-US" altLang="ko-KR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중복</a:t>
              </a:r>
            </a:p>
          </p:txBody>
        </p:sp>
        <p:cxnSp>
          <p:nvCxnSpPr>
            <p:cNvPr id="103" name="직선 화살표 연결선 102">
              <a:extLst>
                <a:ext uri="{FF2B5EF4-FFF2-40B4-BE49-F238E27FC236}">
                  <a16:creationId xmlns:a16="http://schemas.microsoft.com/office/drawing/2014/main" id="{B941195A-4F7D-882A-DA41-2A4AA515140F}"/>
                </a:ext>
              </a:extLst>
            </p:cNvPr>
            <p:cNvCxnSpPr>
              <a:cxnSpLocks/>
              <a:stCxn id="98" idx="3"/>
              <a:endCxn id="15" idx="1"/>
            </p:cNvCxnSpPr>
            <p:nvPr/>
          </p:nvCxnSpPr>
          <p:spPr>
            <a:xfrm>
              <a:off x="4068228" y="2975518"/>
              <a:ext cx="3248654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55579529-12EF-57E1-FCB6-AD7DF2EE1506}"/>
                </a:ext>
              </a:extLst>
            </p:cNvPr>
            <p:cNvSpPr/>
            <p:nvPr/>
          </p:nvSpPr>
          <p:spPr>
            <a:xfrm>
              <a:off x="2034350" y="2777518"/>
              <a:ext cx="396000" cy="3960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종료</a:t>
              </a:r>
            </a:p>
          </p:txBody>
        </p: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DA4E1455-299D-1CEF-B3DF-D9DE45139D55}"/>
                </a:ext>
              </a:extLst>
            </p:cNvPr>
            <p:cNvCxnSpPr>
              <a:cxnSpLocks/>
              <a:stCxn id="98" idx="1"/>
              <a:endCxn id="111" idx="6"/>
            </p:cNvCxnSpPr>
            <p:nvPr/>
          </p:nvCxnSpPr>
          <p:spPr>
            <a:xfrm flipH="1">
              <a:off x="2430350" y="2975518"/>
              <a:ext cx="233878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3E2B710-FA62-AF7A-9CEE-9062B71F1B1D}"/>
                </a:ext>
              </a:extLst>
            </p:cNvPr>
            <p:cNvSpPr txBox="1"/>
            <p:nvPr/>
          </p:nvSpPr>
          <p:spPr>
            <a:xfrm>
              <a:off x="166802" y="2751299"/>
              <a:ext cx="1866838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해당 이메일 주소는 사용 중이라는 메시지 표시 후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다른 이메일 주소 입력을 요청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C93018F-ABFC-BB42-6097-BB2CE7399D66}"/>
                </a:ext>
              </a:extLst>
            </p:cNvPr>
            <p:cNvSpPr txBox="1"/>
            <p:nvPr/>
          </p:nvSpPr>
          <p:spPr>
            <a:xfrm>
              <a:off x="5615630" y="2161329"/>
              <a:ext cx="221517" cy="184666"/>
            </a:xfrm>
            <a:prstGeom prst="rect">
              <a:avLst/>
            </a:prstGeom>
            <a:noFill/>
          </p:spPr>
          <p:txBody>
            <a:bodyPr wrap="none" lIns="72000" tIns="0" rIns="72000" bIns="0" rtlCol="0">
              <a:spAutoFit/>
            </a:bodyPr>
            <a:lstStyle/>
            <a:p>
              <a:r>
                <a:rPr lang="en-US" altLang="ko-KR" sz="1200" i="1" spc="-69" dirty="0">
                  <a:solidFill>
                    <a:srgbClr val="0000FF"/>
                  </a:solidFill>
                  <a:latin typeface="Arial Narrow" panose="020B0606020202030204" pitchFamily="34" charset="0"/>
                  <a:ea typeface="맑은 고딕" panose="020B0503020000020004" pitchFamily="50" charset="-127"/>
                </a:rPr>
                <a:t>Y</a:t>
              </a:r>
              <a:endParaRPr lang="ko-KR" altLang="en-US" sz="1200" i="1" spc="-69" dirty="0">
                <a:solidFill>
                  <a:srgbClr val="0000FF"/>
                </a:solidFill>
                <a:latin typeface="Arial Narrow" panose="020B0606020202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090DA88-51C3-FC1D-9594-7508E1F8DC96}"/>
                </a:ext>
              </a:extLst>
            </p:cNvPr>
            <p:cNvSpPr txBox="1"/>
            <p:nvPr/>
          </p:nvSpPr>
          <p:spPr>
            <a:xfrm>
              <a:off x="4015850" y="2161329"/>
              <a:ext cx="227929" cy="184666"/>
            </a:xfrm>
            <a:prstGeom prst="rect">
              <a:avLst/>
            </a:prstGeom>
            <a:noFill/>
          </p:spPr>
          <p:txBody>
            <a:bodyPr wrap="none" lIns="72000" tIns="0" rIns="72000" bIns="0" rtlCol="0">
              <a:spAutoFit/>
            </a:bodyPr>
            <a:lstStyle/>
            <a:p>
              <a:r>
                <a:rPr lang="en-US" altLang="ko-KR" sz="1200" i="1" spc="-69" dirty="0">
                  <a:solidFill>
                    <a:srgbClr val="FF0000"/>
                  </a:solidFill>
                  <a:latin typeface="Arial Narrow" panose="020B0606020202030204" pitchFamily="34" charset="0"/>
                  <a:ea typeface="맑은 고딕" panose="020B0503020000020004" pitchFamily="50" charset="-127"/>
                </a:rPr>
                <a:t>N</a:t>
              </a:r>
              <a:endParaRPr lang="ko-KR" altLang="en-US" sz="1200" i="1" spc="-69" dirty="0">
                <a:solidFill>
                  <a:srgbClr val="FF0000"/>
                </a:solidFill>
                <a:latin typeface="Arial Narrow" panose="020B0606020202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A1DED2B-AF28-B4A9-99F4-414F1FC7690A}"/>
                </a:ext>
              </a:extLst>
            </p:cNvPr>
            <p:cNvSpPr txBox="1"/>
            <p:nvPr/>
          </p:nvSpPr>
          <p:spPr>
            <a:xfrm>
              <a:off x="2495082" y="2793847"/>
              <a:ext cx="221517" cy="184666"/>
            </a:xfrm>
            <a:prstGeom prst="rect">
              <a:avLst/>
            </a:prstGeom>
            <a:noFill/>
          </p:spPr>
          <p:txBody>
            <a:bodyPr wrap="none" lIns="72000" tIns="0" rIns="72000" bIns="0" rtlCol="0">
              <a:spAutoFit/>
            </a:bodyPr>
            <a:lstStyle/>
            <a:p>
              <a:r>
                <a:rPr lang="en-US" altLang="ko-KR" sz="1200" i="1" spc="-69" dirty="0">
                  <a:solidFill>
                    <a:srgbClr val="0000FF"/>
                  </a:solidFill>
                  <a:latin typeface="Arial Narrow" panose="020B0606020202030204" pitchFamily="34" charset="0"/>
                  <a:ea typeface="맑은 고딕" panose="020B0503020000020004" pitchFamily="50" charset="-127"/>
                </a:rPr>
                <a:t>Y</a:t>
              </a:r>
              <a:endParaRPr lang="ko-KR" altLang="en-US" sz="1200" i="1" spc="-69" dirty="0">
                <a:solidFill>
                  <a:srgbClr val="0000FF"/>
                </a:solidFill>
                <a:latin typeface="Arial Narrow" panose="020B0606020202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C92B570E-090C-642C-592A-A39AC6580872}"/>
                </a:ext>
              </a:extLst>
            </p:cNvPr>
            <p:cNvSpPr txBox="1"/>
            <p:nvPr/>
          </p:nvSpPr>
          <p:spPr>
            <a:xfrm>
              <a:off x="4068937" y="2790231"/>
              <a:ext cx="227929" cy="184666"/>
            </a:xfrm>
            <a:prstGeom prst="rect">
              <a:avLst/>
            </a:prstGeom>
            <a:noFill/>
          </p:spPr>
          <p:txBody>
            <a:bodyPr wrap="none" lIns="72000" tIns="0" rIns="72000" bIns="0" rtlCol="0">
              <a:spAutoFit/>
            </a:bodyPr>
            <a:lstStyle/>
            <a:p>
              <a:r>
                <a:rPr lang="en-US" altLang="ko-KR" sz="1200" i="1" spc="-69" dirty="0">
                  <a:solidFill>
                    <a:srgbClr val="FF0000"/>
                  </a:solidFill>
                  <a:latin typeface="Arial Narrow" panose="020B0606020202030204" pitchFamily="34" charset="0"/>
                  <a:ea typeface="맑은 고딕" panose="020B0503020000020004" pitchFamily="50" charset="-127"/>
                </a:rPr>
                <a:t>N</a:t>
              </a:r>
              <a:endParaRPr lang="ko-KR" altLang="en-US" sz="1200" i="1" spc="-69" dirty="0">
                <a:solidFill>
                  <a:srgbClr val="FF0000"/>
                </a:solidFill>
                <a:latin typeface="Arial Narrow" panose="020B0606020202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CCACA179-88BD-1360-4013-80B957511D89}"/>
                </a:ext>
              </a:extLst>
            </p:cNvPr>
            <p:cNvSpPr/>
            <p:nvPr/>
          </p:nvSpPr>
          <p:spPr>
            <a:xfrm>
              <a:off x="6060190" y="3373452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약관 확인 </a:t>
              </a:r>
              <a:r>
                <a:rPr lang="en-US" altLang="ko-KR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동의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60AB476-FD3B-703A-5090-B96761BE302F}"/>
                </a:ext>
              </a:extLst>
            </p:cNvPr>
            <p:cNvSpPr txBox="1"/>
            <p:nvPr/>
          </p:nvSpPr>
          <p:spPr>
            <a:xfrm>
              <a:off x="6094108" y="3855450"/>
              <a:ext cx="3460441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전체 내용을 강제 확인할 수 있도록 약관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내용 확인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Pop-Up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화면의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스크롤을 최하단으로 이동 시만 동의 버튼 활성화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E2965B1-DC3A-F037-AA0D-1CAE20549F33}"/>
                </a:ext>
              </a:extLst>
            </p:cNvPr>
            <p:cNvSpPr txBox="1"/>
            <p:nvPr/>
          </p:nvSpPr>
          <p:spPr>
            <a:xfrm>
              <a:off x="7771582" y="4220936"/>
              <a:ext cx="2077638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약관 목록</a:t>
              </a:r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서비스 이용약관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필수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필수 개인정보 수집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이용 동의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필수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선택 개인정보 수집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이용 동의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선택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개인정보 제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자 제공 동의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필수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마케팅 정보 제공 동의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선택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이메일 마케팅 수신 동의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선택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만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14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세 이상 동의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필수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131" name="직선 화살표 연결선 130">
              <a:extLst>
                <a:ext uri="{FF2B5EF4-FFF2-40B4-BE49-F238E27FC236}">
                  <a16:creationId xmlns:a16="http://schemas.microsoft.com/office/drawing/2014/main" id="{9B412946-7F6D-3DFF-64DB-34AFE1780A92}"/>
                </a:ext>
              </a:extLst>
            </p:cNvPr>
            <p:cNvCxnSpPr>
              <a:cxnSpLocks/>
              <a:stCxn id="25" idx="1"/>
              <a:endCxn id="127" idx="3"/>
            </p:cNvCxnSpPr>
            <p:nvPr/>
          </p:nvCxnSpPr>
          <p:spPr>
            <a:xfrm flipH="1">
              <a:off x="7140190" y="3589452"/>
              <a:ext cx="176692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8CC0658-34D8-0BDE-6D44-0793DB2C4919}"/>
                </a:ext>
              </a:extLst>
            </p:cNvPr>
            <p:cNvSpPr txBox="1"/>
            <p:nvPr/>
          </p:nvSpPr>
          <p:spPr>
            <a:xfrm>
              <a:off x="5542878" y="1511180"/>
              <a:ext cx="131695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31763" indent="-131763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개인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및 법인 사업자만 가입 가능</a:t>
              </a:r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FEDE8ABA-2CCB-020C-37AF-EC471193B8E2}"/>
                </a:ext>
              </a:extLst>
            </p:cNvPr>
            <p:cNvCxnSpPr>
              <a:cxnSpLocks/>
              <a:stCxn id="64" idx="1"/>
              <a:endCxn id="23" idx="3"/>
            </p:cNvCxnSpPr>
            <p:nvPr/>
          </p:nvCxnSpPr>
          <p:spPr>
            <a:xfrm flipH="1">
              <a:off x="3906228" y="2345518"/>
              <a:ext cx="34179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00511161-39CE-8C92-953B-BFACD884D45C}"/>
                </a:ext>
              </a:extLst>
            </p:cNvPr>
            <p:cNvSpPr/>
            <p:nvPr/>
          </p:nvSpPr>
          <p:spPr>
            <a:xfrm>
              <a:off x="166142" y="3373452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ID </a:t>
              </a: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입력</a:t>
              </a:r>
            </a:p>
          </p:txBody>
        </p:sp>
        <p:sp>
          <p:nvSpPr>
            <p:cNvPr id="184" name="사각형: 둥근 모서리 183">
              <a:extLst>
                <a:ext uri="{FF2B5EF4-FFF2-40B4-BE49-F238E27FC236}">
                  <a16:creationId xmlns:a16="http://schemas.microsoft.com/office/drawing/2014/main" id="{DAFDB2B8-6695-F113-74DC-51E8AFC4AA2E}"/>
                </a:ext>
              </a:extLst>
            </p:cNvPr>
            <p:cNvSpPr/>
            <p:nvPr/>
          </p:nvSpPr>
          <p:spPr>
            <a:xfrm>
              <a:off x="166142" y="3990094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Password </a:t>
              </a: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입력</a:t>
              </a:r>
            </a:p>
          </p:txBody>
        </p:sp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72AA2889-D543-B987-A0C8-541ADF8A74C4}"/>
                </a:ext>
              </a:extLst>
            </p:cNvPr>
            <p:cNvSpPr/>
            <p:nvPr/>
          </p:nvSpPr>
          <p:spPr>
            <a:xfrm>
              <a:off x="1493640" y="3990094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Password </a:t>
              </a: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확인</a:t>
              </a:r>
            </a:p>
          </p:txBody>
        </p:sp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4B8CBBDD-DA6E-76F4-172D-B26C1EA3C7D2}"/>
                </a:ext>
              </a:extLst>
            </p:cNvPr>
            <p:cNvSpPr/>
            <p:nvPr/>
          </p:nvSpPr>
          <p:spPr>
            <a:xfrm>
              <a:off x="166142" y="4794495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국문 성명 입력</a:t>
              </a:r>
            </a:p>
          </p:txBody>
        </p:sp>
        <p:sp>
          <p:nvSpPr>
            <p:cNvPr id="188" name="사각형: 둥근 모서리 187">
              <a:extLst>
                <a:ext uri="{FF2B5EF4-FFF2-40B4-BE49-F238E27FC236}">
                  <a16:creationId xmlns:a16="http://schemas.microsoft.com/office/drawing/2014/main" id="{50BEA40E-2151-A28E-FDDA-6ACEB7DD1C23}"/>
                </a:ext>
              </a:extLst>
            </p:cNvPr>
            <p:cNvSpPr/>
            <p:nvPr/>
          </p:nvSpPr>
          <p:spPr>
            <a:xfrm>
              <a:off x="166142" y="5410567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영문 성명 입력</a:t>
              </a:r>
            </a:p>
          </p:txBody>
        </p:sp>
        <p:sp>
          <p:nvSpPr>
            <p:cNvPr id="189" name="사각형: 둥근 모서리 188">
              <a:extLst>
                <a:ext uri="{FF2B5EF4-FFF2-40B4-BE49-F238E27FC236}">
                  <a16:creationId xmlns:a16="http://schemas.microsoft.com/office/drawing/2014/main" id="{5312FD58-62C6-8360-8022-27FA039CBB4F}"/>
                </a:ext>
              </a:extLst>
            </p:cNvPr>
            <p:cNvSpPr/>
            <p:nvPr/>
          </p:nvSpPr>
          <p:spPr>
            <a:xfrm>
              <a:off x="166142" y="6026640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휴대폰 번호 입력</a:t>
              </a:r>
            </a:p>
          </p:txBody>
        </p:sp>
        <p:cxnSp>
          <p:nvCxnSpPr>
            <p:cNvPr id="195" name="직선 화살표 연결선 194">
              <a:extLst>
                <a:ext uri="{FF2B5EF4-FFF2-40B4-BE49-F238E27FC236}">
                  <a16:creationId xmlns:a16="http://schemas.microsoft.com/office/drawing/2014/main" id="{942B2C4F-422E-7734-F638-CA0D824791A4}"/>
                </a:ext>
              </a:extLst>
            </p:cNvPr>
            <p:cNvCxnSpPr>
              <a:cxnSpLocks/>
              <a:stCxn id="127" idx="1"/>
              <a:endCxn id="183" idx="3"/>
            </p:cNvCxnSpPr>
            <p:nvPr/>
          </p:nvCxnSpPr>
          <p:spPr>
            <a:xfrm flipH="1">
              <a:off x="1246142" y="3589452"/>
              <a:ext cx="4814048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화살표 연결선 208">
              <a:extLst>
                <a:ext uri="{FF2B5EF4-FFF2-40B4-BE49-F238E27FC236}">
                  <a16:creationId xmlns:a16="http://schemas.microsoft.com/office/drawing/2014/main" id="{60F90418-D1B2-D523-A477-EFA179640237}"/>
                </a:ext>
              </a:extLst>
            </p:cNvPr>
            <p:cNvCxnSpPr>
              <a:cxnSpLocks/>
              <a:stCxn id="183" idx="2"/>
              <a:endCxn id="184" idx="0"/>
            </p:cNvCxnSpPr>
            <p:nvPr/>
          </p:nvCxnSpPr>
          <p:spPr>
            <a:xfrm>
              <a:off x="706142" y="3805452"/>
              <a:ext cx="0" cy="184642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화살표 연결선 214">
              <a:extLst>
                <a:ext uri="{FF2B5EF4-FFF2-40B4-BE49-F238E27FC236}">
                  <a16:creationId xmlns:a16="http://schemas.microsoft.com/office/drawing/2014/main" id="{782219D1-FED9-30D7-57AF-24596E9D81A8}"/>
                </a:ext>
              </a:extLst>
            </p:cNvPr>
            <p:cNvCxnSpPr>
              <a:cxnSpLocks/>
              <a:stCxn id="187" idx="2"/>
              <a:endCxn id="188" idx="0"/>
            </p:cNvCxnSpPr>
            <p:nvPr/>
          </p:nvCxnSpPr>
          <p:spPr>
            <a:xfrm>
              <a:off x="706142" y="5226495"/>
              <a:ext cx="0" cy="184072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FDD20C48-1909-2BF5-58EB-4D87147543F9}"/>
                </a:ext>
              </a:extLst>
            </p:cNvPr>
            <p:cNvCxnSpPr>
              <a:cxnSpLocks/>
              <a:stCxn id="188" idx="2"/>
              <a:endCxn id="189" idx="0"/>
            </p:cNvCxnSpPr>
            <p:nvPr/>
          </p:nvCxnSpPr>
          <p:spPr>
            <a:xfrm>
              <a:off x="706142" y="5842567"/>
              <a:ext cx="0" cy="184073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화살표 연결선 221">
              <a:extLst>
                <a:ext uri="{FF2B5EF4-FFF2-40B4-BE49-F238E27FC236}">
                  <a16:creationId xmlns:a16="http://schemas.microsoft.com/office/drawing/2014/main" id="{BD8B3CE2-9B5B-BDA9-EC21-D0CD4E1C0158}"/>
                </a:ext>
              </a:extLst>
            </p:cNvPr>
            <p:cNvCxnSpPr>
              <a:cxnSpLocks/>
              <a:stCxn id="184" idx="3"/>
              <a:endCxn id="185" idx="1"/>
            </p:cNvCxnSpPr>
            <p:nvPr/>
          </p:nvCxnSpPr>
          <p:spPr>
            <a:xfrm>
              <a:off x="1246142" y="4206094"/>
              <a:ext cx="247498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연결선: 꺾임 227">
              <a:extLst>
                <a:ext uri="{FF2B5EF4-FFF2-40B4-BE49-F238E27FC236}">
                  <a16:creationId xmlns:a16="http://schemas.microsoft.com/office/drawing/2014/main" id="{78F574CF-11A3-8C3F-89E5-AB0FC907E772}"/>
                </a:ext>
              </a:extLst>
            </p:cNvPr>
            <p:cNvCxnSpPr>
              <a:cxnSpLocks/>
              <a:stCxn id="185" idx="2"/>
              <a:endCxn id="187" idx="0"/>
            </p:cNvCxnSpPr>
            <p:nvPr/>
          </p:nvCxnSpPr>
          <p:spPr>
            <a:xfrm rot="5400000">
              <a:off x="1183691" y="3944545"/>
              <a:ext cx="372401" cy="132749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A3345BD1-B6C2-D291-3893-F5DB0E611D23}"/>
                </a:ext>
              </a:extLst>
            </p:cNvPr>
            <p:cNvSpPr txBox="1"/>
            <p:nvPr/>
          </p:nvSpPr>
          <p:spPr>
            <a:xfrm>
              <a:off x="166142" y="6497606"/>
              <a:ext cx="207763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지역 번호는 앞서 선택한 소속 국가 또는 지역에 따라 자동으로 입력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EC6496C9-DB41-9AD1-D190-D60EEE3163D2}"/>
                </a:ext>
              </a:extLst>
            </p:cNvPr>
            <p:cNvSpPr txBox="1"/>
            <p:nvPr/>
          </p:nvSpPr>
          <p:spPr>
            <a:xfrm>
              <a:off x="1292797" y="4805606"/>
              <a:ext cx="1395809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소속 국가 또는 지역에 따라 국문 성명 입력 언어는 자동으로 변경</a:t>
              </a:r>
            </a:p>
          </p:txBody>
        </p:sp>
        <p:sp>
          <p:nvSpPr>
            <p:cNvPr id="236" name="사각형: 둥근 모서리 235">
              <a:extLst>
                <a:ext uri="{FF2B5EF4-FFF2-40B4-BE49-F238E27FC236}">
                  <a16:creationId xmlns:a16="http://schemas.microsoft.com/office/drawing/2014/main" id="{97935BE5-9DE1-61A8-60C3-4023A56BA040}"/>
                </a:ext>
              </a:extLst>
            </p:cNvPr>
            <p:cNvSpPr/>
            <p:nvPr/>
          </p:nvSpPr>
          <p:spPr>
            <a:xfrm>
              <a:off x="2853274" y="3990093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명함 첨부</a:t>
              </a:r>
            </a:p>
          </p:txBody>
        </p:sp>
        <p:cxnSp>
          <p:nvCxnSpPr>
            <p:cNvPr id="237" name="연결선: 꺾임 236">
              <a:extLst>
                <a:ext uri="{FF2B5EF4-FFF2-40B4-BE49-F238E27FC236}">
                  <a16:creationId xmlns:a16="http://schemas.microsoft.com/office/drawing/2014/main" id="{782C3437-8638-70C5-EF12-EFB2EFD562D7}"/>
                </a:ext>
              </a:extLst>
            </p:cNvPr>
            <p:cNvCxnSpPr>
              <a:cxnSpLocks/>
              <a:stCxn id="189" idx="3"/>
              <a:endCxn id="236" idx="1"/>
            </p:cNvCxnSpPr>
            <p:nvPr/>
          </p:nvCxnSpPr>
          <p:spPr>
            <a:xfrm flipV="1">
              <a:off x="1246142" y="4206093"/>
              <a:ext cx="1607132" cy="2036547"/>
            </a:xfrm>
            <a:prstGeom prst="bentConnector3">
              <a:avLst>
                <a:gd name="adj1" fmla="val 90060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사각형: 둥근 모서리 243">
              <a:extLst>
                <a:ext uri="{FF2B5EF4-FFF2-40B4-BE49-F238E27FC236}">
                  <a16:creationId xmlns:a16="http://schemas.microsoft.com/office/drawing/2014/main" id="{B14FEA7C-CA83-4AD2-0611-02CD9B491AA5}"/>
                </a:ext>
              </a:extLst>
            </p:cNvPr>
            <p:cNvSpPr/>
            <p:nvPr/>
          </p:nvSpPr>
          <p:spPr>
            <a:xfrm>
              <a:off x="4200750" y="3990093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회사 정보 입력</a:t>
              </a:r>
            </a:p>
          </p:txBody>
        </p:sp>
        <p:cxnSp>
          <p:nvCxnSpPr>
            <p:cNvPr id="245" name="직선 화살표 연결선 244">
              <a:extLst>
                <a:ext uri="{FF2B5EF4-FFF2-40B4-BE49-F238E27FC236}">
                  <a16:creationId xmlns:a16="http://schemas.microsoft.com/office/drawing/2014/main" id="{1CD2F0F4-9375-2066-3DE3-5B5E0160576B}"/>
                </a:ext>
              </a:extLst>
            </p:cNvPr>
            <p:cNvCxnSpPr>
              <a:cxnSpLocks/>
              <a:stCxn id="236" idx="3"/>
              <a:endCxn id="244" idx="1"/>
            </p:cNvCxnSpPr>
            <p:nvPr/>
          </p:nvCxnSpPr>
          <p:spPr>
            <a:xfrm>
              <a:off x="3933274" y="4206093"/>
              <a:ext cx="26747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0055FFA4-9EFF-AAA6-2D24-A76CD545865A}"/>
                </a:ext>
              </a:extLst>
            </p:cNvPr>
            <p:cNvSpPr txBox="1"/>
            <p:nvPr/>
          </p:nvSpPr>
          <p:spPr>
            <a:xfrm>
              <a:off x="4777050" y="4463533"/>
              <a:ext cx="162810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소속 국가 또는 지역 정보와 사업자 번호를 자동으로 표시</a:t>
              </a:r>
            </a:p>
          </p:txBody>
        </p:sp>
        <p:sp>
          <p:nvSpPr>
            <p:cNvPr id="250" name="사각형: 둥근 모서리 249">
              <a:extLst>
                <a:ext uri="{FF2B5EF4-FFF2-40B4-BE49-F238E27FC236}">
                  <a16:creationId xmlns:a16="http://schemas.microsoft.com/office/drawing/2014/main" id="{5F3ECAB3-EDB6-92AA-B0F1-F081A1B6086B}"/>
                </a:ext>
              </a:extLst>
            </p:cNvPr>
            <p:cNvSpPr/>
            <p:nvPr/>
          </p:nvSpPr>
          <p:spPr>
            <a:xfrm>
              <a:off x="4200750" y="4794495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업종 입력</a:t>
              </a:r>
            </a:p>
          </p:txBody>
        </p:sp>
        <p:sp>
          <p:nvSpPr>
            <p:cNvPr id="251" name="사각형: 둥근 모서리 250">
              <a:extLst>
                <a:ext uri="{FF2B5EF4-FFF2-40B4-BE49-F238E27FC236}">
                  <a16:creationId xmlns:a16="http://schemas.microsoft.com/office/drawing/2014/main" id="{4CB0AE52-8B94-0CDD-F26F-D64D46AE5A0D}"/>
                </a:ext>
              </a:extLst>
            </p:cNvPr>
            <p:cNvSpPr/>
            <p:nvPr/>
          </p:nvSpPr>
          <p:spPr>
            <a:xfrm>
              <a:off x="2853274" y="4794495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온라인 판매 여부</a:t>
              </a:r>
              <a:endPara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이커머스</a:t>
              </a:r>
              <a:r>
                <a:rPr lang="en-US" altLang="ko-KR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ko-KR" altLang="en-US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52" name="직선 화살표 연결선 251">
              <a:extLst>
                <a:ext uri="{FF2B5EF4-FFF2-40B4-BE49-F238E27FC236}">
                  <a16:creationId xmlns:a16="http://schemas.microsoft.com/office/drawing/2014/main" id="{9174AA8A-FC38-2806-FA84-C795CFFB7E19}"/>
                </a:ext>
              </a:extLst>
            </p:cNvPr>
            <p:cNvCxnSpPr>
              <a:cxnSpLocks/>
              <a:stCxn id="250" idx="1"/>
              <a:endCxn id="251" idx="3"/>
            </p:cNvCxnSpPr>
            <p:nvPr/>
          </p:nvCxnSpPr>
          <p:spPr>
            <a:xfrm flipH="1">
              <a:off x="3933274" y="5010495"/>
              <a:ext cx="26747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직선 화살표 연결선 254">
              <a:extLst>
                <a:ext uri="{FF2B5EF4-FFF2-40B4-BE49-F238E27FC236}">
                  <a16:creationId xmlns:a16="http://schemas.microsoft.com/office/drawing/2014/main" id="{C158C888-000F-CADD-127D-6BDC8AE1D3B7}"/>
                </a:ext>
              </a:extLst>
            </p:cNvPr>
            <p:cNvCxnSpPr>
              <a:cxnSpLocks/>
              <a:stCxn id="244" idx="2"/>
              <a:endCxn id="250" idx="0"/>
            </p:cNvCxnSpPr>
            <p:nvPr/>
          </p:nvCxnSpPr>
          <p:spPr>
            <a:xfrm>
              <a:off x="4740750" y="4422093"/>
              <a:ext cx="0" cy="372402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사각형: 둥근 모서리 262">
              <a:extLst>
                <a:ext uri="{FF2B5EF4-FFF2-40B4-BE49-F238E27FC236}">
                  <a16:creationId xmlns:a16="http://schemas.microsoft.com/office/drawing/2014/main" id="{C835693D-CF6A-22FA-6E77-6EAF43E57B10}"/>
                </a:ext>
              </a:extLst>
            </p:cNvPr>
            <p:cNvSpPr/>
            <p:nvPr/>
          </p:nvSpPr>
          <p:spPr>
            <a:xfrm>
              <a:off x="2853274" y="5410568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국문</a:t>
              </a:r>
              <a:r>
                <a:rPr lang="en-US" altLang="ko-KR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회사명 </a:t>
              </a:r>
              <a:endPara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입력</a:t>
              </a:r>
            </a:p>
          </p:txBody>
        </p:sp>
        <p:sp>
          <p:nvSpPr>
            <p:cNvPr id="264" name="사각형: 둥근 모서리 263">
              <a:extLst>
                <a:ext uri="{FF2B5EF4-FFF2-40B4-BE49-F238E27FC236}">
                  <a16:creationId xmlns:a16="http://schemas.microsoft.com/office/drawing/2014/main" id="{B91C428F-F175-0CA9-B8C5-EE90909307F6}"/>
                </a:ext>
              </a:extLst>
            </p:cNvPr>
            <p:cNvSpPr/>
            <p:nvPr/>
          </p:nvSpPr>
          <p:spPr>
            <a:xfrm>
              <a:off x="2853274" y="6026640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영문</a:t>
              </a:r>
              <a:r>
                <a:rPr lang="en-US" altLang="ko-KR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회사명 </a:t>
              </a:r>
              <a:endPara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입력</a:t>
              </a:r>
            </a:p>
          </p:txBody>
        </p:sp>
        <p:cxnSp>
          <p:nvCxnSpPr>
            <p:cNvPr id="265" name="직선 화살표 연결선 264">
              <a:extLst>
                <a:ext uri="{FF2B5EF4-FFF2-40B4-BE49-F238E27FC236}">
                  <a16:creationId xmlns:a16="http://schemas.microsoft.com/office/drawing/2014/main" id="{8A941DFD-3E1E-5B87-981B-EA059C637E1F}"/>
                </a:ext>
              </a:extLst>
            </p:cNvPr>
            <p:cNvCxnSpPr>
              <a:cxnSpLocks/>
              <a:stCxn id="251" idx="2"/>
              <a:endCxn id="263" idx="0"/>
            </p:cNvCxnSpPr>
            <p:nvPr/>
          </p:nvCxnSpPr>
          <p:spPr>
            <a:xfrm>
              <a:off x="3393274" y="5226495"/>
              <a:ext cx="0" cy="184073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C6D4A8C0-86DF-3F67-6E90-7E3312045904}"/>
                </a:ext>
              </a:extLst>
            </p:cNvPr>
            <p:cNvSpPr txBox="1"/>
            <p:nvPr/>
          </p:nvSpPr>
          <p:spPr>
            <a:xfrm>
              <a:off x="2853274" y="4541615"/>
              <a:ext cx="107783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Yes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or No</a:t>
              </a:r>
              <a:endPara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71" name="직선 화살표 연결선 270">
              <a:extLst>
                <a:ext uri="{FF2B5EF4-FFF2-40B4-BE49-F238E27FC236}">
                  <a16:creationId xmlns:a16="http://schemas.microsoft.com/office/drawing/2014/main" id="{80421C76-E652-E55D-16BE-18A597315DF9}"/>
                </a:ext>
              </a:extLst>
            </p:cNvPr>
            <p:cNvCxnSpPr>
              <a:cxnSpLocks/>
              <a:stCxn id="263" idx="2"/>
              <a:endCxn id="264" idx="0"/>
            </p:cNvCxnSpPr>
            <p:nvPr/>
          </p:nvCxnSpPr>
          <p:spPr>
            <a:xfrm>
              <a:off x="3393274" y="5842568"/>
              <a:ext cx="0" cy="184072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사각형: 둥근 모서리 278">
              <a:extLst>
                <a:ext uri="{FF2B5EF4-FFF2-40B4-BE49-F238E27FC236}">
                  <a16:creationId xmlns:a16="http://schemas.microsoft.com/office/drawing/2014/main" id="{523013A6-4C31-DC2F-66FA-8EF0B845686D}"/>
                </a:ext>
              </a:extLst>
            </p:cNvPr>
            <p:cNvSpPr/>
            <p:nvPr/>
          </p:nvSpPr>
          <p:spPr>
            <a:xfrm>
              <a:off x="4200750" y="6026640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월 예상 물류비 입력</a:t>
              </a:r>
            </a:p>
          </p:txBody>
        </p:sp>
        <p:cxnSp>
          <p:nvCxnSpPr>
            <p:cNvPr id="280" name="직선 화살표 연결선 279">
              <a:extLst>
                <a:ext uri="{FF2B5EF4-FFF2-40B4-BE49-F238E27FC236}">
                  <a16:creationId xmlns:a16="http://schemas.microsoft.com/office/drawing/2014/main" id="{B2170C6D-215B-97DE-69F4-4E15A770C777}"/>
                </a:ext>
              </a:extLst>
            </p:cNvPr>
            <p:cNvCxnSpPr>
              <a:cxnSpLocks/>
              <a:stCxn id="264" idx="3"/>
              <a:endCxn id="279" idx="1"/>
            </p:cNvCxnSpPr>
            <p:nvPr/>
          </p:nvCxnSpPr>
          <p:spPr>
            <a:xfrm>
              <a:off x="3933274" y="6242640"/>
              <a:ext cx="26747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사각형: 둥근 모서리 284">
              <a:extLst>
                <a:ext uri="{FF2B5EF4-FFF2-40B4-BE49-F238E27FC236}">
                  <a16:creationId xmlns:a16="http://schemas.microsoft.com/office/drawing/2014/main" id="{EA17D92F-376E-78F4-1847-D9F2E666222F}"/>
                </a:ext>
              </a:extLst>
            </p:cNvPr>
            <p:cNvSpPr/>
            <p:nvPr/>
          </p:nvSpPr>
          <p:spPr>
            <a:xfrm>
              <a:off x="5554108" y="6026640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주요 물류 모드</a:t>
              </a:r>
              <a:endParaRPr lang="en-US" altLang="ko-KR" sz="1200" b="1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lang="en-US" altLang="ko-KR" sz="105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</a:t>
              </a:r>
              <a:r>
                <a:rPr lang="ko-KR" altLang="en-US" sz="105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해운</a:t>
              </a:r>
              <a:r>
                <a:rPr lang="en-US" altLang="ko-KR" sz="105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5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항공</a:t>
              </a:r>
              <a:r>
                <a:rPr lang="en-US" altLang="ko-KR" sz="105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05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특송</a:t>
              </a:r>
              <a:r>
                <a:rPr lang="en-US" altLang="ko-KR" sz="1050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ko-KR" altLang="en-US" sz="12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286" name="직선 화살표 연결선 285">
              <a:extLst>
                <a:ext uri="{FF2B5EF4-FFF2-40B4-BE49-F238E27FC236}">
                  <a16:creationId xmlns:a16="http://schemas.microsoft.com/office/drawing/2014/main" id="{18F49EC0-B193-F0CB-4B4A-63DD358AF951}"/>
                </a:ext>
              </a:extLst>
            </p:cNvPr>
            <p:cNvCxnSpPr>
              <a:cxnSpLocks/>
              <a:stCxn id="279" idx="3"/>
              <a:endCxn id="285" idx="1"/>
            </p:cNvCxnSpPr>
            <p:nvPr/>
          </p:nvCxnSpPr>
          <p:spPr>
            <a:xfrm>
              <a:off x="5280750" y="6242640"/>
              <a:ext cx="273358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CCACCD38-698C-F387-F06A-BD02CD7E3857}"/>
                </a:ext>
              </a:extLst>
            </p:cNvPr>
            <p:cNvSpPr txBox="1"/>
            <p:nvPr/>
          </p:nvSpPr>
          <p:spPr>
            <a:xfrm>
              <a:off x="4220224" y="6497606"/>
              <a:ext cx="386008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1,000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만원 이하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1,000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만원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~ 5,000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만원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5,000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만원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~ 1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억원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1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억원 이상</a:t>
              </a:r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(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포워더의 경우에는 예상 매출로 입력 내용 변경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7" name="사각형: 둥근 모서리 296">
              <a:extLst>
                <a:ext uri="{FF2B5EF4-FFF2-40B4-BE49-F238E27FC236}">
                  <a16:creationId xmlns:a16="http://schemas.microsoft.com/office/drawing/2014/main" id="{6E15001D-6B3F-5F93-48B7-CAE5ACDD5EA0}"/>
                </a:ext>
              </a:extLst>
            </p:cNvPr>
            <p:cNvSpPr/>
            <p:nvPr/>
          </p:nvSpPr>
          <p:spPr>
            <a:xfrm>
              <a:off x="6907466" y="6026640"/>
              <a:ext cx="1080000" cy="432000"/>
            </a:xfrm>
            <a:prstGeom prst="roundRect">
              <a:avLst>
                <a:gd name="adj" fmla="val 26768"/>
              </a:avLst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ysClr val="windowText" lastClr="0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가입완료</a:t>
              </a:r>
              <a:endParaRPr lang="ko-KR" altLang="en-US" sz="12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cxnSp>
          <p:nvCxnSpPr>
            <p:cNvPr id="300" name="직선 화살표 연결선 299">
              <a:extLst>
                <a:ext uri="{FF2B5EF4-FFF2-40B4-BE49-F238E27FC236}">
                  <a16:creationId xmlns:a16="http://schemas.microsoft.com/office/drawing/2014/main" id="{A90565E7-C538-785F-B66D-9E10A7180D08}"/>
                </a:ext>
              </a:extLst>
            </p:cNvPr>
            <p:cNvCxnSpPr>
              <a:cxnSpLocks/>
              <a:stCxn id="285" idx="3"/>
              <a:endCxn id="297" idx="1"/>
            </p:cNvCxnSpPr>
            <p:nvPr/>
          </p:nvCxnSpPr>
          <p:spPr>
            <a:xfrm>
              <a:off x="6634108" y="6242640"/>
              <a:ext cx="273358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20087E08-09A1-FDD5-00CF-2473BAA04647}"/>
                </a:ext>
              </a:extLst>
            </p:cNvPr>
            <p:cNvSpPr txBox="1"/>
            <p:nvPr/>
          </p:nvSpPr>
          <p:spPr>
            <a:xfrm>
              <a:off x="5327059" y="4847707"/>
              <a:ext cx="1152000" cy="111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※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업종 목록</a:t>
              </a:r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가구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인테리어자재</a:t>
              </a:r>
            </a:p>
            <a:p>
              <a:pPr marL="128588" indent="-128588"/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산업장비</a:t>
              </a:r>
            </a:p>
            <a:p>
              <a:pPr marL="128588" indent="-128588"/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식음료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소비재</a:t>
              </a:r>
            </a:p>
            <a:p>
              <a:pPr marL="128588" indent="-128588"/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자동차부품 </a:t>
              </a:r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전기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전자</a:t>
              </a:r>
            </a:p>
            <a:p>
              <a:pPr marL="128588" indent="-128588"/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  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철강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금속</a:t>
              </a:r>
            </a:p>
            <a:p>
              <a:pPr marL="128588" indent="-128588"/>
              <a:endPara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18B8A68E-AF8B-1B74-7973-F516C7CAD8DA}"/>
                </a:ext>
              </a:extLst>
            </p:cNvPr>
            <p:cNvSpPr txBox="1"/>
            <p:nvPr/>
          </p:nvSpPr>
          <p:spPr>
            <a:xfrm>
              <a:off x="6509599" y="4838376"/>
              <a:ext cx="828000" cy="936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28588" indent="-128588"/>
              <a:endPara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패션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악세서리</a:t>
              </a: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화장품미용</a:t>
              </a: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화학</a:t>
              </a:r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제약</a:t>
              </a: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물류</a:t>
              </a:r>
            </a:p>
            <a:p>
              <a:pPr marL="128588" indent="-128588"/>
              <a:r>
                <a:rPr lang="en-US" altLang="ko-KR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- </a:t>
              </a:r>
              <a:r>
                <a:rPr lang="ko-KR" altLang="en-US" sz="1000" dirty="0">
                  <a:solidFill>
                    <a:srgbClr val="0066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기타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805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6ECF51-70E9-5594-7958-D20008424F06}"/>
              </a:ext>
            </a:extLst>
          </p:cNvPr>
          <p:cNvSpPr txBox="1"/>
          <p:nvPr/>
        </p:nvSpPr>
        <p:spPr>
          <a:xfrm>
            <a:off x="65521" y="66231"/>
            <a:ext cx="3339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02-02.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 상세 정보 입력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95C2-F89A-C561-B693-C4CF90598E96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1. Business Flowchart (Process)</a:t>
            </a:r>
          </a:p>
        </p:txBody>
      </p:sp>
    </p:spTree>
    <p:extLst>
      <p:ext uri="{BB962C8B-B14F-4D97-AF65-F5344CB8AC3E}">
        <p14:creationId xmlns:p14="http://schemas.microsoft.com/office/powerpoint/2010/main" val="1142426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6ECF51-70E9-5594-7958-D20008424F06}"/>
              </a:ext>
            </a:extLst>
          </p:cNvPr>
          <p:cNvSpPr txBox="1"/>
          <p:nvPr/>
        </p:nvSpPr>
        <p:spPr>
          <a:xfrm>
            <a:off x="65521" y="66231"/>
            <a:ext cx="3608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02-03.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포워더 상세 정보 입력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95C2-F89A-C561-B693-C4CF90598E96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2. Business Flowchart (Process)</a:t>
            </a:r>
          </a:p>
        </p:txBody>
      </p:sp>
    </p:spTree>
    <p:extLst>
      <p:ext uri="{BB962C8B-B14F-4D97-AF65-F5344CB8AC3E}">
        <p14:creationId xmlns:p14="http://schemas.microsoft.com/office/powerpoint/2010/main" val="1771635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6ECF51-70E9-5594-7958-D20008424F06}"/>
              </a:ext>
            </a:extLst>
          </p:cNvPr>
          <p:cNvSpPr txBox="1"/>
          <p:nvPr/>
        </p:nvSpPr>
        <p:spPr>
          <a:xfrm>
            <a:off x="65521" y="66231"/>
            <a:ext cx="3339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02-04.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선사 상세 정보 입력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95C2-F89A-C561-B693-C4CF90598E96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2. Business Flowchart (Process)</a:t>
            </a:r>
          </a:p>
        </p:txBody>
      </p:sp>
    </p:spTree>
    <p:extLst>
      <p:ext uri="{BB962C8B-B14F-4D97-AF65-F5344CB8AC3E}">
        <p14:creationId xmlns:p14="http://schemas.microsoft.com/office/powerpoint/2010/main" val="1818939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6ECF51-70E9-5594-7958-D20008424F06}"/>
              </a:ext>
            </a:extLst>
          </p:cNvPr>
          <p:cNvSpPr txBox="1"/>
          <p:nvPr/>
        </p:nvSpPr>
        <p:spPr>
          <a:xfrm>
            <a:off x="65521" y="66231"/>
            <a:ext cx="2730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03-01.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 운임 견적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95C2-F89A-C561-B693-C4CF90598E96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Business Flowchart (Process)</a:t>
            </a:r>
          </a:p>
        </p:txBody>
      </p:sp>
    </p:spTree>
    <p:extLst>
      <p:ext uri="{BB962C8B-B14F-4D97-AF65-F5344CB8AC3E}">
        <p14:creationId xmlns:p14="http://schemas.microsoft.com/office/powerpoint/2010/main" val="978640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6ECF51-70E9-5594-7958-D20008424F06}"/>
              </a:ext>
            </a:extLst>
          </p:cNvPr>
          <p:cNvSpPr txBox="1"/>
          <p:nvPr/>
        </p:nvSpPr>
        <p:spPr>
          <a:xfrm>
            <a:off x="65521" y="66231"/>
            <a:ext cx="2999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03-02.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포워더 운임 견적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95C2-F89A-C561-B693-C4CF90598E96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 Business Flowchart (Process)</a:t>
            </a:r>
          </a:p>
        </p:txBody>
      </p:sp>
    </p:spTree>
    <p:extLst>
      <p:ext uri="{BB962C8B-B14F-4D97-AF65-F5344CB8AC3E}">
        <p14:creationId xmlns:p14="http://schemas.microsoft.com/office/powerpoint/2010/main" val="2369650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6ECF51-70E9-5594-7958-D20008424F06}"/>
              </a:ext>
            </a:extLst>
          </p:cNvPr>
          <p:cNvSpPr txBox="1"/>
          <p:nvPr/>
        </p:nvSpPr>
        <p:spPr>
          <a:xfrm>
            <a:off x="65521" y="66231"/>
            <a:ext cx="3948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04-01.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 운임 공동구매 신청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95C2-F89A-C561-B693-C4CF90598E96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2. Business Flowchart (Process)</a:t>
            </a:r>
          </a:p>
        </p:txBody>
      </p:sp>
    </p:spTree>
    <p:extLst>
      <p:ext uri="{BB962C8B-B14F-4D97-AF65-F5344CB8AC3E}">
        <p14:creationId xmlns:p14="http://schemas.microsoft.com/office/powerpoint/2010/main" val="3016515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6ECF51-70E9-5594-7958-D20008424F06}"/>
              </a:ext>
            </a:extLst>
          </p:cNvPr>
          <p:cNvSpPr txBox="1"/>
          <p:nvPr/>
        </p:nvSpPr>
        <p:spPr>
          <a:xfrm>
            <a:off x="65521" y="66231"/>
            <a:ext cx="4217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04-02.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포워더 운임 공동구매 신청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95C2-F89A-C561-B693-C4CF90598E96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2. Business Flowchart (Process)</a:t>
            </a:r>
          </a:p>
        </p:txBody>
      </p:sp>
    </p:spTree>
    <p:extLst>
      <p:ext uri="{BB962C8B-B14F-4D97-AF65-F5344CB8AC3E}">
        <p14:creationId xmlns:p14="http://schemas.microsoft.com/office/powerpoint/2010/main" val="3056538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6ECF51-70E9-5594-7958-D20008424F06}"/>
              </a:ext>
            </a:extLst>
          </p:cNvPr>
          <p:cNvSpPr txBox="1"/>
          <p:nvPr/>
        </p:nvSpPr>
        <p:spPr>
          <a:xfrm>
            <a:off x="65521" y="66231"/>
            <a:ext cx="2730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05-01.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선사 운임 입찰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95C2-F89A-C561-B693-C4CF90598E96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2. Business Flowchart (Process)</a:t>
            </a:r>
          </a:p>
        </p:txBody>
      </p:sp>
    </p:spTree>
    <p:extLst>
      <p:ext uri="{BB962C8B-B14F-4D97-AF65-F5344CB8AC3E}">
        <p14:creationId xmlns:p14="http://schemas.microsoft.com/office/powerpoint/2010/main" val="1702835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66ECF51-70E9-5594-7958-D20008424F06}"/>
              </a:ext>
            </a:extLst>
          </p:cNvPr>
          <p:cNvSpPr txBox="1"/>
          <p:nvPr/>
        </p:nvSpPr>
        <p:spPr>
          <a:xfrm>
            <a:off x="65521" y="66231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06-01. //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95C2-F89A-C561-B693-C4CF90598E96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2. Business Flowchart (Process)</a:t>
            </a:r>
          </a:p>
        </p:txBody>
      </p:sp>
    </p:spTree>
    <p:extLst>
      <p:ext uri="{BB962C8B-B14F-4D97-AF65-F5344CB8AC3E}">
        <p14:creationId xmlns:p14="http://schemas.microsoft.com/office/powerpoint/2010/main" val="2024425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E7D223-2D12-35B3-C0B4-A277E7597DE5}"/>
              </a:ext>
            </a:extLst>
          </p:cNvPr>
          <p:cNvSpPr txBox="1"/>
          <p:nvPr/>
        </p:nvSpPr>
        <p:spPr>
          <a:xfrm>
            <a:off x="321013" y="405930"/>
            <a:ext cx="1213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cap="all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Index</a:t>
            </a:r>
            <a:endParaRPr lang="ko-KR" altLang="en-US" sz="3200" b="1" cap="all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9F814B-CE26-21CD-0634-EE3C23F37ACA}"/>
              </a:ext>
            </a:extLst>
          </p:cNvPr>
          <p:cNvCxnSpPr>
            <a:cxnSpLocks/>
          </p:cNvCxnSpPr>
          <p:nvPr/>
        </p:nvCxnSpPr>
        <p:spPr>
          <a:xfrm>
            <a:off x="1534807" y="698318"/>
            <a:ext cx="799613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3674938-EFDF-82D4-3DB4-D55A81BD786D}"/>
              </a:ext>
            </a:extLst>
          </p:cNvPr>
          <p:cNvSpPr txBox="1"/>
          <p:nvPr/>
        </p:nvSpPr>
        <p:spPr>
          <a:xfrm>
            <a:off x="410135" y="1283093"/>
            <a:ext cx="407675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Business Model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Business Flowchart (Process)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3. UML Diagram (Scenario)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설계 </a:t>
            </a: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(UI/UX)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5.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 구성도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6. ERD</a:t>
            </a:r>
            <a:endParaRPr lang="ko-KR" altLang="en-US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84FF3B0-9F04-EB49-46D3-30C135F72B85}"/>
              </a:ext>
            </a:extLst>
          </p:cNvPr>
          <p:cNvSpPr/>
          <p:nvPr/>
        </p:nvSpPr>
        <p:spPr>
          <a:xfrm>
            <a:off x="407972" y="2688874"/>
            <a:ext cx="4166746" cy="5847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9958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AECAA8E-5FA4-D40F-1EB5-93C9379EAFB7}"/>
              </a:ext>
            </a:extLst>
          </p:cNvPr>
          <p:cNvSpPr txBox="1"/>
          <p:nvPr/>
        </p:nvSpPr>
        <p:spPr>
          <a:xfrm>
            <a:off x="152956" y="626035"/>
            <a:ext cx="9638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① 화주는 플랫폼에 가입하고 로그인 후에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물량 정보를 입력하여 운임 견적을 요청함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33CE9-9ECA-93D2-9F86-104A1BC9C57D}"/>
              </a:ext>
            </a:extLst>
          </p:cNvPr>
          <p:cNvSpPr txBox="1"/>
          <p:nvPr/>
        </p:nvSpPr>
        <p:spPr>
          <a:xfrm>
            <a:off x="65521" y="66231"/>
            <a:ext cx="1941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일반 운임 견적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0BDAF-82EC-0BEB-9AAD-968EC0FFDF75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3. UML Diagram (Scenario)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20BBA5B-D51E-54F1-13CA-147F99CA607D}"/>
              </a:ext>
            </a:extLst>
          </p:cNvPr>
          <p:cNvGrpSpPr/>
          <p:nvPr/>
        </p:nvGrpSpPr>
        <p:grpSpPr>
          <a:xfrm>
            <a:off x="240047" y="1584676"/>
            <a:ext cx="661055" cy="984735"/>
            <a:chOff x="240556" y="1789526"/>
            <a:chExt cx="661055" cy="984735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D4263A4-7B7E-4DEC-9386-5774C9F28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556" y="1903430"/>
              <a:ext cx="661055" cy="58285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6D553E-79B9-4772-A787-544DB0008048}"/>
                </a:ext>
              </a:extLst>
            </p:cNvPr>
            <p:cNvSpPr txBox="1"/>
            <p:nvPr/>
          </p:nvSpPr>
          <p:spPr>
            <a:xfrm>
              <a:off x="240556" y="2552588"/>
              <a:ext cx="661055" cy="221673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algn="ctr">
                <a:defRPr sz="1100" b="1" spc="-144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00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BC16FF6-64B3-3886-D49D-B8F7ED2DEC5F}"/>
                </a:ext>
              </a:extLst>
            </p:cNvPr>
            <p:cNvSpPr txBox="1"/>
            <p:nvPr/>
          </p:nvSpPr>
          <p:spPr>
            <a:xfrm>
              <a:off x="240556" y="1789526"/>
              <a:ext cx="661055" cy="10884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algn="ctr">
                <a:defRPr sz="1100" b="1" spc="-144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ko-KR" altLang="en-US" sz="1600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1E69E5E-D5D4-E1A2-AD43-99CA81CBCC02}"/>
              </a:ext>
            </a:extLst>
          </p:cNvPr>
          <p:cNvCxnSpPr>
            <a:cxnSpLocks/>
            <a:stCxn id="2" idx="3"/>
            <a:endCxn id="33" idx="1"/>
          </p:cNvCxnSpPr>
          <p:nvPr/>
        </p:nvCxnSpPr>
        <p:spPr>
          <a:xfrm>
            <a:off x="901102" y="1990008"/>
            <a:ext cx="218383" cy="89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2588DC6-E0F8-8AD1-B8FF-2B1FDF4BF538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2199485" y="1990097"/>
            <a:ext cx="218437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B054CAD-317C-CF4E-D0F6-2E9FCD96FC33}"/>
              </a:ext>
            </a:extLst>
          </p:cNvPr>
          <p:cNvSpPr/>
          <p:nvPr/>
        </p:nvSpPr>
        <p:spPr>
          <a:xfrm>
            <a:off x="3716359" y="1756097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견적 정보 입력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12F72A3-FD74-41B2-06FA-BCB582FD36FF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3497922" y="1990097"/>
            <a:ext cx="218437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40DBFAE-C63A-A6D2-F391-57CA5349EA04}"/>
              </a:ext>
            </a:extLst>
          </p:cNvPr>
          <p:cNvSpPr/>
          <p:nvPr/>
        </p:nvSpPr>
        <p:spPr>
          <a:xfrm>
            <a:off x="1119485" y="1756097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회원가입</a:t>
            </a:r>
            <a:endParaRPr lang="en-US" altLang="ko-KR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정보 입력</a:t>
            </a:r>
            <a:r>
              <a:rPr lang="en-US" altLang="ko-KR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8D75FB3-4057-0019-58D6-7A0D06A5BDB3}"/>
              </a:ext>
            </a:extLst>
          </p:cNvPr>
          <p:cNvSpPr/>
          <p:nvPr/>
        </p:nvSpPr>
        <p:spPr>
          <a:xfrm>
            <a:off x="2417922" y="1756097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BDDB947-3194-66E8-3A66-0F8A11B77DB2}"/>
              </a:ext>
            </a:extLst>
          </p:cNvPr>
          <p:cNvSpPr/>
          <p:nvPr/>
        </p:nvSpPr>
        <p:spPr>
          <a:xfrm>
            <a:off x="6888471" y="1756097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 요청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3E80EE9-2F64-3193-11EE-847871F58F57}"/>
              </a:ext>
            </a:extLst>
          </p:cNvPr>
          <p:cNvCxnSpPr>
            <a:cxnSpLocks/>
            <a:stCxn id="27" idx="3"/>
            <a:endCxn id="42" idx="1"/>
          </p:cNvCxnSpPr>
          <p:nvPr/>
        </p:nvCxnSpPr>
        <p:spPr>
          <a:xfrm>
            <a:off x="4796359" y="1990097"/>
            <a:ext cx="2092112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0E193B0-AF40-AD5D-24CC-A65402DE5076}"/>
              </a:ext>
            </a:extLst>
          </p:cNvPr>
          <p:cNvGrpSpPr/>
          <p:nvPr/>
        </p:nvGrpSpPr>
        <p:grpSpPr>
          <a:xfrm>
            <a:off x="8310724" y="1683683"/>
            <a:ext cx="1079999" cy="612648"/>
            <a:chOff x="4222707" y="2816352"/>
            <a:chExt cx="900000" cy="612648"/>
          </a:xfrm>
          <a:solidFill>
            <a:schemeClr val="bg1">
              <a:lumMod val="95000"/>
            </a:schemeClr>
          </a:solidFill>
        </p:grpSpPr>
        <p:sp>
          <p:nvSpPr>
            <p:cNvPr id="58" name="순서도: 자기 디스크 57">
              <a:extLst>
                <a:ext uri="{FF2B5EF4-FFF2-40B4-BE49-F238E27FC236}">
                  <a16:creationId xmlns:a16="http://schemas.microsoft.com/office/drawing/2014/main" id="{3709F3DB-62D0-E6B3-4F5F-534F24A7C479}"/>
                </a:ext>
              </a:extLst>
            </p:cNvPr>
            <p:cNvSpPr/>
            <p:nvPr/>
          </p:nvSpPr>
          <p:spPr>
            <a:xfrm>
              <a:off x="4222707" y="2816352"/>
              <a:ext cx="900000" cy="612648"/>
            </a:xfrm>
            <a:prstGeom prst="flowChartMagneticDisk">
              <a:avLst/>
            </a:prstGeom>
            <a:grp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12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FAD3355D-8F32-8F98-78E8-022E877C9B1A}"/>
                </a:ext>
              </a:extLst>
            </p:cNvPr>
            <p:cNvSpPr/>
            <p:nvPr/>
          </p:nvSpPr>
          <p:spPr>
            <a:xfrm>
              <a:off x="4222707" y="3059860"/>
              <a:ext cx="900000" cy="27293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플랫폼</a:t>
              </a:r>
            </a:p>
          </p:txBody>
        </p:sp>
      </p:grp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C109737-BC4B-F136-BDF9-71B30666F503}"/>
              </a:ext>
            </a:extLst>
          </p:cNvPr>
          <p:cNvCxnSpPr>
            <a:cxnSpLocks/>
            <a:stCxn id="42" idx="3"/>
            <a:endCxn id="58" idx="2"/>
          </p:cNvCxnSpPr>
          <p:nvPr/>
        </p:nvCxnSpPr>
        <p:spPr>
          <a:xfrm flipV="1">
            <a:off x="7968471" y="1990007"/>
            <a:ext cx="342253" cy="9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9B74DE4-5787-4444-A067-134B74B04A28}"/>
              </a:ext>
            </a:extLst>
          </p:cNvPr>
          <p:cNvSpPr/>
          <p:nvPr/>
        </p:nvSpPr>
        <p:spPr>
          <a:xfrm>
            <a:off x="1343391" y="1049287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상세 운임 견적 결과 출력</a:t>
            </a:r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0A5531CA-5681-1A65-34BA-D7EBE8C34717}"/>
              </a:ext>
            </a:extLst>
          </p:cNvPr>
          <p:cNvCxnSpPr>
            <a:cxnSpLocks/>
            <a:stCxn id="67" idx="1"/>
            <a:endCxn id="81" idx="0"/>
          </p:cNvCxnSpPr>
          <p:nvPr/>
        </p:nvCxnSpPr>
        <p:spPr>
          <a:xfrm rot="10800000" flipV="1">
            <a:off x="570575" y="1283286"/>
            <a:ext cx="772816" cy="301389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23078B0B-1658-0ECB-AE07-644BDB045895}"/>
              </a:ext>
            </a:extLst>
          </p:cNvPr>
          <p:cNvCxnSpPr>
            <a:cxnSpLocks/>
            <a:stCxn id="58" idx="1"/>
            <a:endCxn id="67" idx="3"/>
          </p:cNvCxnSpPr>
          <p:nvPr/>
        </p:nvCxnSpPr>
        <p:spPr>
          <a:xfrm rot="16200000" flipV="1">
            <a:off x="5436860" y="-1730182"/>
            <a:ext cx="400396" cy="6427333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A5D66223-5E57-3717-7003-8A3DD8F1DA6F}"/>
              </a:ext>
            </a:extLst>
          </p:cNvPr>
          <p:cNvSpPr txBox="1"/>
          <p:nvPr/>
        </p:nvSpPr>
        <p:spPr>
          <a:xfrm>
            <a:off x="145336" y="3978602"/>
            <a:ext cx="9638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② 화주는 플랫폼에 가입하지 않고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기업 정보 및 물량 정보를 입력하여 운임 견적을 요청함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342BEDDF-DAC2-C17C-3790-CBB380BD4631}"/>
              </a:ext>
            </a:extLst>
          </p:cNvPr>
          <p:cNvGrpSpPr/>
          <p:nvPr/>
        </p:nvGrpSpPr>
        <p:grpSpPr>
          <a:xfrm>
            <a:off x="232427" y="4986841"/>
            <a:ext cx="661055" cy="984735"/>
            <a:chOff x="240556" y="1789526"/>
            <a:chExt cx="661055" cy="984735"/>
          </a:xfrm>
        </p:grpSpPr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8BDD06A2-686D-FF0D-665B-2113FF64B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556" y="1903430"/>
              <a:ext cx="661055" cy="582855"/>
            </a:xfrm>
            <a:prstGeom prst="rect">
              <a:avLst/>
            </a:prstGeom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C6E9CA1-524D-19F4-93B3-BAAC9EE14A5E}"/>
                </a:ext>
              </a:extLst>
            </p:cNvPr>
            <p:cNvSpPr txBox="1"/>
            <p:nvPr/>
          </p:nvSpPr>
          <p:spPr>
            <a:xfrm>
              <a:off x="240556" y="2552588"/>
              <a:ext cx="661055" cy="221673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algn="ctr">
                <a:defRPr sz="1100" b="1" spc="-144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00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B29C25B-C7D6-33B1-681E-88575CEB2492}"/>
                </a:ext>
              </a:extLst>
            </p:cNvPr>
            <p:cNvSpPr txBox="1"/>
            <p:nvPr/>
          </p:nvSpPr>
          <p:spPr>
            <a:xfrm>
              <a:off x="240556" y="1789526"/>
              <a:ext cx="661055" cy="10884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algn="ctr">
                <a:defRPr sz="1100" b="1" spc="-144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ko-KR" altLang="en-US" sz="1600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9335266-4A71-BE58-440E-D4A449D00B2B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893482" y="5392173"/>
            <a:ext cx="436767" cy="89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2AB00987-B08D-093D-0895-04BC65BC3AD3}"/>
              </a:ext>
            </a:extLst>
          </p:cNvPr>
          <p:cNvCxnSpPr>
            <a:cxnSpLocks/>
            <a:stCxn id="101" idx="3"/>
            <a:endCxn id="102" idx="1"/>
          </p:cNvCxnSpPr>
          <p:nvPr/>
        </p:nvCxnSpPr>
        <p:spPr>
          <a:xfrm>
            <a:off x="2410249" y="5392262"/>
            <a:ext cx="1648045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2A92276E-2727-5B06-7065-0BF7102B1301}"/>
              </a:ext>
            </a:extLst>
          </p:cNvPr>
          <p:cNvCxnSpPr>
            <a:cxnSpLocks/>
            <a:stCxn id="102" idx="3"/>
            <a:endCxn id="103" idx="1"/>
          </p:cNvCxnSpPr>
          <p:nvPr/>
        </p:nvCxnSpPr>
        <p:spPr>
          <a:xfrm>
            <a:off x="5138294" y="5392262"/>
            <a:ext cx="1042406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36FE284D-140E-8080-4A7C-026467EE03CA}"/>
              </a:ext>
            </a:extLst>
          </p:cNvPr>
          <p:cNvSpPr/>
          <p:nvPr/>
        </p:nvSpPr>
        <p:spPr>
          <a:xfrm>
            <a:off x="1330249" y="5158262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견적 정보 입력</a:t>
            </a:r>
            <a:endParaRPr lang="en-US" altLang="ko-KR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B038450F-F713-EC6F-672D-0EDC29A8FE91}"/>
              </a:ext>
            </a:extLst>
          </p:cNvPr>
          <p:cNvSpPr/>
          <p:nvPr/>
        </p:nvSpPr>
        <p:spPr>
          <a:xfrm>
            <a:off x="4058294" y="5158262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 정보 입력</a:t>
            </a:r>
            <a:endParaRPr lang="en-US" altLang="ko-KR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3A2CDC9D-F4CE-8DA1-3CE8-7265DF3A61DB}"/>
              </a:ext>
            </a:extLst>
          </p:cNvPr>
          <p:cNvSpPr/>
          <p:nvPr/>
        </p:nvSpPr>
        <p:spPr>
          <a:xfrm>
            <a:off x="6180700" y="5158262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 요청</a:t>
            </a: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A0FD5E1F-45DA-CF74-C5B1-D62F7FECD0E3}"/>
              </a:ext>
            </a:extLst>
          </p:cNvPr>
          <p:cNvGrpSpPr/>
          <p:nvPr/>
        </p:nvGrpSpPr>
        <p:grpSpPr>
          <a:xfrm>
            <a:off x="8303105" y="5085848"/>
            <a:ext cx="1079999" cy="612648"/>
            <a:chOff x="4222707" y="2816352"/>
            <a:chExt cx="900000" cy="612648"/>
          </a:xfrm>
          <a:solidFill>
            <a:schemeClr val="bg1">
              <a:lumMod val="95000"/>
            </a:schemeClr>
          </a:solidFill>
        </p:grpSpPr>
        <p:sp>
          <p:nvSpPr>
            <p:cNvPr id="106" name="순서도: 자기 디스크 105">
              <a:extLst>
                <a:ext uri="{FF2B5EF4-FFF2-40B4-BE49-F238E27FC236}">
                  <a16:creationId xmlns:a16="http://schemas.microsoft.com/office/drawing/2014/main" id="{AAE60E60-82F4-0AAA-FA43-C849A30840F9}"/>
                </a:ext>
              </a:extLst>
            </p:cNvPr>
            <p:cNvSpPr/>
            <p:nvPr/>
          </p:nvSpPr>
          <p:spPr>
            <a:xfrm>
              <a:off x="4222707" y="2816352"/>
              <a:ext cx="900000" cy="612648"/>
            </a:xfrm>
            <a:prstGeom prst="flowChartMagneticDisk">
              <a:avLst/>
            </a:prstGeom>
            <a:grp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12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40CE129F-4AF4-EBF6-E2AD-B4F3E3B87EAE}"/>
                </a:ext>
              </a:extLst>
            </p:cNvPr>
            <p:cNvSpPr/>
            <p:nvPr/>
          </p:nvSpPr>
          <p:spPr>
            <a:xfrm>
              <a:off x="4222707" y="3059860"/>
              <a:ext cx="900000" cy="27293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플랫폼</a:t>
              </a:r>
            </a:p>
          </p:txBody>
        </p:sp>
      </p:grp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6FD98077-B168-7126-1AAD-FED69D79F5A9}"/>
              </a:ext>
            </a:extLst>
          </p:cNvPr>
          <p:cNvCxnSpPr>
            <a:cxnSpLocks/>
            <a:stCxn id="103" idx="3"/>
            <a:endCxn id="106" idx="2"/>
          </p:cNvCxnSpPr>
          <p:nvPr/>
        </p:nvCxnSpPr>
        <p:spPr>
          <a:xfrm flipV="1">
            <a:off x="7260700" y="5392172"/>
            <a:ext cx="1042405" cy="9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0C093F26-D49F-C5AB-9E2E-58541B1AD44B}"/>
              </a:ext>
            </a:extLst>
          </p:cNvPr>
          <p:cNvSpPr/>
          <p:nvPr/>
        </p:nvSpPr>
        <p:spPr>
          <a:xfrm>
            <a:off x="1330249" y="4407762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간단 운임 견적 결과 출력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B58E8628-95C7-E6A3-BC62-156770FA12EA}"/>
              </a:ext>
            </a:extLst>
          </p:cNvPr>
          <p:cNvCxnSpPr>
            <a:cxnSpLocks/>
            <a:stCxn id="110" idx="1"/>
            <a:endCxn id="96" idx="0"/>
          </p:cNvCxnSpPr>
          <p:nvPr/>
        </p:nvCxnSpPr>
        <p:spPr>
          <a:xfrm rot="10800000" flipV="1">
            <a:off x="562955" y="4641761"/>
            <a:ext cx="767294" cy="345079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0DED8A03-03A2-D00A-34DE-79C47BDB4239}"/>
              </a:ext>
            </a:extLst>
          </p:cNvPr>
          <p:cNvCxnSpPr>
            <a:cxnSpLocks/>
            <a:stCxn id="106" idx="1"/>
            <a:endCxn id="110" idx="3"/>
          </p:cNvCxnSpPr>
          <p:nvPr/>
        </p:nvCxnSpPr>
        <p:spPr>
          <a:xfrm rot="16200000" flipV="1">
            <a:off x="5404634" y="1647377"/>
            <a:ext cx="444086" cy="6432856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01357AE9-3EC1-D6A2-9561-90EA8302F892}"/>
              </a:ext>
            </a:extLst>
          </p:cNvPr>
          <p:cNvSpPr txBox="1"/>
          <p:nvPr/>
        </p:nvSpPr>
        <p:spPr>
          <a:xfrm>
            <a:off x="4056677" y="5671438"/>
            <a:ext cx="24706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성명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이메일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전화번호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회사명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약관 동의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4D7C805-AC56-01C6-014F-3FFDA9866E9E}"/>
              </a:ext>
            </a:extLst>
          </p:cNvPr>
          <p:cNvSpPr txBox="1"/>
          <p:nvPr/>
        </p:nvSpPr>
        <p:spPr>
          <a:xfrm>
            <a:off x="1330250" y="5671438"/>
            <a:ext cx="1684022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운송 모드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해운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항공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특송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출발지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도착지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[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해운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컨테이너 운송 방식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(FCL, LCL),</a:t>
            </a:r>
          </a:p>
          <a:p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물량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(20’, 40’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컨테이너 기준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[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항공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[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특송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화물 정보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(KG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기준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      </a:t>
            </a:r>
            <a:endParaRPr lang="ko-KR" altLang="en-US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84C3567-3CF9-B4E4-3030-F66B93EE67B4}"/>
              </a:ext>
            </a:extLst>
          </p:cNvPr>
          <p:cNvSpPr txBox="1"/>
          <p:nvPr/>
        </p:nvSpPr>
        <p:spPr>
          <a:xfrm>
            <a:off x="1330249" y="4909897"/>
            <a:ext cx="41195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터미널 화물 처리 비용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항만 사용료 등 모든 부대비용이 포함된 금액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DD534FF-FC96-6B5E-A046-CA441D2DFFE5}"/>
              </a:ext>
            </a:extLst>
          </p:cNvPr>
          <p:cNvSpPr txBox="1"/>
          <p:nvPr/>
        </p:nvSpPr>
        <p:spPr>
          <a:xfrm>
            <a:off x="6215757" y="5631641"/>
            <a:ext cx="20736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이용 약관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필수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개인정보 수집 및 이용 동의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필수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개인정보 국외이전에 동의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필수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만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14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세 이상 확인하고 동의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필수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개인정보 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 제공에 동의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필수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마케팅 활용에 동의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선택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  <a:p>
            <a:pPr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-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마케팅 정보 수신에 동의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선택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24CAD21-D777-9093-3B7E-2CDBE6C16AD0}"/>
              </a:ext>
            </a:extLst>
          </p:cNvPr>
          <p:cNvCxnSpPr>
            <a:cxnSpLocks/>
          </p:cNvCxnSpPr>
          <p:nvPr/>
        </p:nvCxnSpPr>
        <p:spPr>
          <a:xfrm>
            <a:off x="196940" y="3902416"/>
            <a:ext cx="949688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65A6790-EE21-E9E0-BB38-E4D34A9218DB}"/>
              </a:ext>
            </a:extLst>
          </p:cNvPr>
          <p:cNvSpPr txBox="1"/>
          <p:nvPr/>
        </p:nvSpPr>
        <p:spPr>
          <a:xfrm>
            <a:off x="3715574" y="2267556"/>
            <a:ext cx="178068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운송 모드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해운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항공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특송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출발지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도착지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출발 요청일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426BF0-1423-58A4-4D09-3EB181097259}"/>
              </a:ext>
            </a:extLst>
          </p:cNvPr>
          <p:cNvSpPr txBox="1"/>
          <p:nvPr/>
        </p:nvSpPr>
        <p:spPr>
          <a:xfrm>
            <a:off x="1881448" y="2593274"/>
            <a:ext cx="3201055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해운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컨테이너 운송 방식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en-US" altLang="ko-KR" sz="10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FCL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LCL)</a:t>
            </a:r>
          </a:p>
          <a:p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컨테이너 종류 및 수량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중량 화물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(20’ 16Ton↑, 40’ 20Ton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↑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- 20 FT Normal Dry, High Cubic,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Reefer,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High Cubic Reefer, 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        Tanker, Dangerous Cargo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- 22 FT Tanker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- 40 FT Normal Dry, High Cubic, Reefer,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High Cubic Reefer, 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             Tanker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- 45 FT High Cubic Reefer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5F0CB3-0D85-A210-D339-C131E7ED47E7}"/>
              </a:ext>
            </a:extLst>
          </p:cNvPr>
          <p:cNvSpPr txBox="1"/>
          <p:nvPr/>
        </p:nvSpPr>
        <p:spPr>
          <a:xfrm>
            <a:off x="5102050" y="2593274"/>
            <a:ext cx="320105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해운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컨테이너 운송 방식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(FCL, </a:t>
            </a:r>
            <a:r>
              <a:rPr lang="en-US" altLang="ko-KR" sz="10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LCL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항공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], [</a:t>
            </a:r>
            <a:r>
              <a:rPr lang="ko-KR" altLang="en-US" sz="1000" b="1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특송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14DA995-1BBC-B442-3C0E-6E01E8848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903" y="2756670"/>
            <a:ext cx="2012227" cy="915774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31AAE35-5336-942E-DB59-98EFB087A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370" y="2759164"/>
            <a:ext cx="2032956" cy="92157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45B9646-E3B4-8962-C7F8-E21EAA30363E}"/>
              </a:ext>
            </a:extLst>
          </p:cNvPr>
          <p:cNvSpPr txBox="1"/>
          <p:nvPr/>
        </p:nvSpPr>
        <p:spPr>
          <a:xfrm>
            <a:off x="5112210" y="3665285"/>
            <a:ext cx="460701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해운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LCL]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항공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패키지 종류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박스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카톤박스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팔레트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피스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특송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패키지 분류 없음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8D65E1-1DEA-0A10-4CE0-8C56A2D866E1}"/>
              </a:ext>
            </a:extLst>
          </p:cNvPr>
          <p:cNvSpPr txBox="1"/>
          <p:nvPr/>
        </p:nvSpPr>
        <p:spPr>
          <a:xfrm>
            <a:off x="1119485" y="2267556"/>
            <a:ext cx="178068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사업자등록증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대표자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주소 등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7933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AECAA8E-5FA4-D40F-1EB5-93C9379EAFB7}"/>
              </a:ext>
            </a:extLst>
          </p:cNvPr>
          <p:cNvSpPr txBox="1"/>
          <p:nvPr/>
        </p:nvSpPr>
        <p:spPr>
          <a:xfrm>
            <a:off x="152956" y="626035"/>
            <a:ext cx="9638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① 화주는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회원 가입 시</a:t>
            </a:r>
            <a:r>
              <a:rPr lang="en-US" altLang="ko-KR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모든 추가 정보를</a:t>
            </a:r>
            <a:r>
              <a:rPr lang="en-US" altLang="ko-KR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입력한 경우</a:t>
            </a:r>
            <a:r>
              <a:rPr lang="en-US" altLang="ko-KR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신청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이 가능함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33CE9-9ECA-93D2-9F86-104A1BC9C57D}"/>
              </a:ext>
            </a:extLst>
          </p:cNvPr>
          <p:cNvSpPr txBox="1"/>
          <p:nvPr/>
        </p:nvSpPr>
        <p:spPr>
          <a:xfrm>
            <a:off x="65521" y="66231"/>
            <a:ext cx="2550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신청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0BDAF-82EC-0BEB-9AAD-968EC0FFDF75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3. UML Diagram (Scenario)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20BBA5B-D51E-54F1-13CA-147F99CA607D}"/>
              </a:ext>
            </a:extLst>
          </p:cNvPr>
          <p:cNvGrpSpPr/>
          <p:nvPr/>
        </p:nvGrpSpPr>
        <p:grpSpPr>
          <a:xfrm>
            <a:off x="240047" y="1462846"/>
            <a:ext cx="661055" cy="984735"/>
            <a:chOff x="240556" y="1789526"/>
            <a:chExt cx="661055" cy="984735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D4263A4-7B7E-4DEC-9386-5774C9F28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556" y="1903430"/>
              <a:ext cx="661055" cy="58285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6D553E-79B9-4772-A787-544DB0008048}"/>
                </a:ext>
              </a:extLst>
            </p:cNvPr>
            <p:cNvSpPr txBox="1"/>
            <p:nvPr/>
          </p:nvSpPr>
          <p:spPr>
            <a:xfrm>
              <a:off x="240556" y="2552588"/>
              <a:ext cx="661055" cy="221673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algn="ctr">
                <a:defRPr sz="1100" b="1" spc="-144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00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BC16FF6-64B3-3886-D49D-B8F7ED2DEC5F}"/>
                </a:ext>
              </a:extLst>
            </p:cNvPr>
            <p:cNvSpPr txBox="1"/>
            <p:nvPr/>
          </p:nvSpPr>
          <p:spPr>
            <a:xfrm>
              <a:off x="240556" y="1789526"/>
              <a:ext cx="661055" cy="10884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algn="ctr">
                <a:defRPr sz="1100" b="1" spc="-144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ko-KR" altLang="en-US" sz="1600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1E69E5E-D5D4-E1A2-AD43-99CA81CBCC02}"/>
              </a:ext>
            </a:extLst>
          </p:cNvPr>
          <p:cNvCxnSpPr>
            <a:cxnSpLocks/>
            <a:stCxn id="2" idx="3"/>
            <a:endCxn id="33" idx="1"/>
          </p:cNvCxnSpPr>
          <p:nvPr/>
        </p:nvCxnSpPr>
        <p:spPr>
          <a:xfrm>
            <a:off x="901102" y="1868178"/>
            <a:ext cx="218383" cy="89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2588DC6-E0F8-8AD1-B8FF-2B1FDF4BF538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2199485" y="1868267"/>
            <a:ext cx="218437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B054CAD-317C-CF4E-D0F6-2E9FCD96FC33}"/>
              </a:ext>
            </a:extLst>
          </p:cNvPr>
          <p:cNvSpPr/>
          <p:nvPr/>
        </p:nvSpPr>
        <p:spPr>
          <a:xfrm>
            <a:off x="3716359" y="1634267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신청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12F72A3-FD74-41B2-06FA-BCB582FD36FF}"/>
              </a:ext>
            </a:extLst>
          </p:cNvPr>
          <p:cNvCxnSpPr>
            <a:cxnSpLocks/>
            <a:stCxn id="34" idx="3"/>
            <a:endCxn id="27" idx="1"/>
          </p:cNvCxnSpPr>
          <p:nvPr/>
        </p:nvCxnSpPr>
        <p:spPr>
          <a:xfrm>
            <a:off x="3497922" y="1868267"/>
            <a:ext cx="218437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40DBFAE-C63A-A6D2-F391-57CA5349EA04}"/>
              </a:ext>
            </a:extLst>
          </p:cNvPr>
          <p:cNvSpPr/>
          <p:nvPr/>
        </p:nvSpPr>
        <p:spPr>
          <a:xfrm>
            <a:off x="1119485" y="1634267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회원가입</a:t>
            </a:r>
            <a:endParaRPr lang="en-US" altLang="ko-KR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정보 포함</a:t>
            </a:r>
            <a:r>
              <a:rPr lang="en-US" altLang="ko-KR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8D75FB3-4057-0019-58D6-7A0D06A5BDB3}"/>
              </a:ext>
            </a:extLst>
          </p:cNvPr>
          <p:cNvSpPr/>
          <p:nvPr/>
        </p:nvSpPr>
        <p:spPr>
          <a:xfrm>
            <a:off x="2417922" y="1634267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3E80EE9-2F64-3193-11EE-847871F58F57}"/>
              </a:ext>
            </a:extLst>
          </p:cNvPr>
          <p:cNvCxnSpPr>
            <a:cxnSpLocks/>
            <a:stCxn id="27" idx="3"/>
            <a:endCxn id="58" idx="2"/>
          </p:cNvCxnSpPr>
          <p:nvPr/>
        </p:nvCxnSpPr>
        <p:spPr>
          <a:xfrm flipV="1">
            <a:off x="4796359" y="1868177"/>
            <a:ext cx="3514365" cy="9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0E193B0-AF40-AD5D-24CC-A65402DE5076}"/>
              </a:ext>
            </a:extLst>
          </p:cNvPr>
          <p:cNvGrpSpPr/>
          <p:nvPr/>
        </p:nvGrpSpPr>
        <p:grpSpPr>
          <a:xfrm>
            <a:off x="8310724" y="1561853"/>
            <a:ext cx="1079999" cy="612648"/>
            <a:chOff x="4222707" y="2816352"/>
            <a:chExt cx="900000" cy="612648"/>
          </a:xfrm>
          <a:solidFill>
            <a:schemeClr val="bg1">
              <a:lumMod val="95000"/>
            </a:schemeClr>
          </a:solidFill>
        </p:grpSpPr>
        <p:sp>
          <p:nvSpPr>
            <p:cNvPr id="58" name="순서도: 자기 디스크 57">
              <a:extLst>
                <a:ext uri="{FF2B5EF4-FFF2-40B4-BE49-F238E27FC236}">
                  <a16:creationId xmlns:a16="http://schemas.microsoft.com/office/drawing/2014/main" id="{3709F3DB-62D0-E6B3-4F5F-534F24A7C479}"/>
                </a:ext>
              </a:extLst>
            </p:cNvPr>
            <p:cNvSpPr/>
            <p:nvPr/>
          </p:nvSpPr>
          <p:spPr>
            <a:xfrm>
              <a:off x="4222707" y="2816352"/>
              <a:ext cx="900000" cy="612648"/>
            </a:xfrm>
            <a:prstGeom prst="flowChartMagneticDisk">
              <a:avLst/>
            </a:prstGeom>
            <a:grp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12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FAD3355D-8F32-8F98-78E8-022E877C9B1A}"/>
                </a:ext>
              </a:extLst>
            </p:cNvPr>
            <p:cNvSpPr/>
            <p:nvPr/>
          </p:nvSpPr>
          <p:spPr>
            <a:xfrm>
              <a:off x="4222707" y="3059860"/>
              <a:ext cx="900000" cy="27293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플랫폼</a:t>
              </a:r>
            </a:p>
          </p:txBody>
        </p:sp>
      </p:grp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9B74DE4-5787-4444-A067-134B74B04A28}"/>
              </a:ext>
            </a:extLst>
          </p:cNvPr>
          <p:cNvSpPr/>
          <p:nvPr/>
        </p:nvSpPr>
        <p:spPr>
          <a:xfrm>
            <a:off x="1343391" y="1053921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신청 내역 출력</a:t>
            </a:r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0A5531CA-5681-1A65-34BA-D7EBE8C34717}"/>
              </a:ext>
            </a:extLst>
          </p:cNvPr>
          <p:cNvCxnSpPr>
            <a:cxnSpLocks/>
            <a:stCxn id="67" idx="1"/>
            <a:endCxn id="81" idx="0"/>
          </p:cNvCxnSpPr>
          <p:nvPr/>
        </p:nvCxnSpPr>
        <p:spPr>
          <a:xfrm rot="10800000" flipV="1">
            <a:off x="570575" y="1287920"/>
            <a:ext cx="772816" cy="174925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23078B0B-1658-0ECB-AE07-644BDB045895}"/>
              </a:ext>
            </a:extLst>
          </p:cNvPr>
          <p:cNvCxnSpPr>
            <a:cxnSpLocks/>
            <a:stCxn id="58" idx="1"/>
            <a:endCxn id="67" idx="3"/>
          </p:cNvCxnSpPr>
          <p:nvPr/>
        </p:nvCxnSpPr>
        <p:spPr>
          <a:xfrm rot="16200000" flipV="1">
            <a:off x="5500092" y="-1788780"/>
            <a:ext cx="273932" cy="6427333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A5D66223-5E57-3717-7003-8A3DD8F1DA6F}"/>
              </a:ext>
            </a:extLst>
          </p:cNvPr>
          <p:cNvSpPr txBox="1"/>
          <p:nvPr/>
        </p:nvSpPr>
        <p:spPr>
          <a:xfrm>
            <a:off x="145336" y="3895684"/>
            <a:ext cx="96464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3838" indent="-223838">
              <a:tabLst>
                <a:tab pos="0" algn="l"/>
              </a:tabLst>
            </a:pP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② 포워더는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회원 가입 시</a:t>
            </a:r>
            <a:r>
              <a:rPr lang="en-US" altLang="ko-KR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모든 추가를 정보</a:t>
            </a:r>
            <a:r>
              <a:rPr lang="en-US" altLang="ko-KR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입력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하고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</a:p>
          <a:p>
            <a:pPr marL="223838" indent="-223838">
              <a:tabLst>
                <a:tab pos="0" algn="l"/>
              </a:tabLst>
            </a:pP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화주들의 통합 물류 서비스 요청 건에 대한 입찰에 성공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할 경우 경우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신청이 가능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함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24CAD21-D777-9093-3B7E-2CDBE6C16AD0}"/>
              </a:ext>
            </a:extLst>
          </p:cNvPr>
          <p:cNvCxnSpPr>
            <a:cxnSpLocks/>
          </p:cNvCxnSpPr>
          <p:nvPr/>
        </p:nvCxnSpPr>
        <p:spPr>
          <a:xfrm>
            <a:off x="196940" y="3819498"/>
            <a:ext cx="949688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65A6790-EE21-E9E0-BB38-E4D34A9218DB}"/>
              </a:ext>
            </a:extLst>
          </p:cNvPr>
          <p:cNvSpPr txBox="1"/>
          <p:nvPr/>
        </p:nvSpPr>
        <p:spPr>
          <a:xfrm>
            <a:off x="3715573" y="2145726"/>
            <a:ext cx="301933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운송 모드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해운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항공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특송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출발지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도착지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출발 요청일 구간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신청 기준일 설정 필요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5F0CB3-0D85-A210-D339-C131E7ED47E7}"/>
              </a:ext>
            </a:extLst>
          </p:cNvPr>
          <p:cNvSpPr txBox="1"/>
          <p:nvPr/>
        </p:nvSpPr>
        <p:spPr>
          <a:xfrm>
            <a:off x="5102050" y="2510356"/>
            <a:ext cx="320105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해운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컨테이너 운송 방식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(FCL, </a:t>
            </a:r>
            <a:r>
              <a:rPr lang="en-US" altLang="ko-KR" sz="10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LCL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항공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], [</a:t>
            </a:r>
            <a:r>
              <a:rPr lang="ko-KR" altLang="en-US" sz="1000" b="1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특송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14DA995-1BBC-B442-3C0E-6E01E8848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903" y="2673752"/>
            <a:ext cx="2012227" cy="915774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31AAE35-5336-942E-DB59-98EFB087A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370" y="2676246"/>
            <a:ext cx="2032956" cy="92157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45B9646-E3B4-8962-C7F8-E21EAA30363E}"/>
              </a:ext>
            </a:extLst>
          </p:cNvPr>
          <p:cNvSpPr txBox="1"/>
          <p:nvPr/>
        </p:nvSpPr>
        <p:spPr>
          <a:xfrm>
            <a:off x="5112210" y="3582367"/>
            <a:ext cx="460701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해운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LCL]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항공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패키지 종류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박스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카톤박스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팔레트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피스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 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 err="1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특송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패키지 분류 없음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8D65E1-1DEA-0A10-4CE0-8C56A2D866E1}"/>
              </a:ext>
            </a:extLst>
          </p:cNvPr>
          <p:cNvSpPr txBox="1"/>
          <p:nvPr/>
        </p:nvSpPr>
        <p:spPr>
          <a:xfrm>
            <a:off x="1119485" y="2145726"/>
            <a:ext cx="178068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사업자등록증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대표자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주소 등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8EFF5646-FC78-3CEE-E710-CA451DBBE7DF}"/>
              </a:ext>
            </a:extLst>
          </p:cNvPr>
          <p:cNvGrpSpPr/>
          <p:nvPr/>
        </p:nvGrpSpPr>
        <p:grpSpPr>
          <a:xfrm>
            <a:off x="240047" y="4939348"/>
            <a:ext cx="661055" cy="984735"/>
            <a:chOff x="240556" y="1789526"/>
            <a:chExt cx="661055" cy="984735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6C0DC973-A7C4-6D80-55FA-481258758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556" y="1903430"/>
              <a:ext cx="661055" cy="582855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B854D5D-0E0C-071A-9EE1-74543C4E3BCE}"/>
                </a:ext>
              </a:extLst>
            </p:cNvPr>
            <p:cNvSpPr txBox="1"/>
            <p:nvPr/>
          </p:nvSpPr>
          <p:spPr>
            <a:xfrm>
              <a:off x="240556" y="2552588"/>
              <a:ext cx="661055" cy="221673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algn="ctr">
                <a:defRPr sz="1100" b="1" spc="-144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00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포워더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FB72144-6BAF-8397-D34B-F0A80B8C6D99}"/>
                </a:ext>
              </a:extLst>
            </p:cNvPr>
            <p:cNvSpPr txBox="1"/>
            <p:nvPr/>
          </p:nvSpPr>
          <p:spPr>
            <a:xfrm>
              <a:off x="240556" y="1789526"/>
              <a:ext cx="661055" cy="10884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algn="ctr">
                <a:defRPr sz="1100" b="1" spc="-144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ko-KR" altLang="en-US" sz="1600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9C88C99-0149-6D4F-C897-CCB1F2EB9EAF}"/>
              </a:ext>
            </a:extLst>
          </p:cNvPr>
          <p:cNvCxnSpPr>
            <a:cxnSpLocks/>
            <a:stCxn id="55" idx="3"/>
            <a:endCxn id="66" idx="1"/>
          </p:cNvCxnSpPr>
          <p:nvPr/>
        </p:nvCxnSpPr>
        <p:spPr>
          <a:xfrm>
            <a:off x="901102" y="5344680"/>
            <a:ext cx="218383" cy="89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00972AB-A719-97B9-BFA1-1B1F023E918A}"/>
              </a:ext>
            </a:extLst>
          </p:cNvPr>
          <p:cNvCxnSpPr>
            <a:cxnSpLocks/>
            <a:stCxn id="66" idx="3"/>
            <a:endCxn id="68" idx="1"/>
          </p:cNvCxnSpPr>
          <p:nvPr/>
        </p:nvCxnSpPr>
        <p:spPr>
          <a:xfrm>
            <a:off x="2199485" y="5344769"/>
            <a:ext cx="218437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BA83E5A-EC33-697D-B1E0-84932AF952BB}"/>
              </a:ext>
            </a:extLst>
          </p:cNvPr>
          <p:cNvSpPr/>
          <p:nvPr/>
        </p:nvSpPr>
        <p:spPr>
          <a:xfrm>
            <a:off x="5932519" y="5110769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신청</a:t>
            </a: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612E221A-DDD6-3991-C32D-2B25152F8721}"/>
              </a:ext>
            </a:extLst>
          </p:cNvPr>
          <p:cNvCxnSpPr>
            <a:cxnSpLocks/>
            <a:stCxn id="68" idx="3"/>
            <a:endCxn id="88" idx="1"/>
          </p:cNvCxnSpPr>
          <p:nvPr/>
        </p:nvCxnSpPr>
        <p:spPr>
          <a:xfrm>
            <a:off x="3497922" y="5344769"/>
            <a:ext cx="217651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F6ACB2EE-D834-C9AE-B09C-1C9576871F9D}"/>
              </a:ext>
            </a:extLst>
          </p:cNvPr>
          <p:cNvSpPr/>
          <p:nvPr/>
        </p:nvSpPr>
        <p:spPr>
          <a:xfrm>
            <a:off x="1119485" y="5110769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회원가입</a:t>
            </a:r>
            <a:endParaRPr lang="en-US" altLang="ko-KR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정보 포함</a:t>
            </a:r>
            <a:r>
              <a:rPr lang="en-US" altLang="ko-KR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4C5003F6-AC93-D4A5-06B0-9DF8DD11ED02}"/>
              </a:ext>
            </a:extLst>
          </p:cNvPr>
          <p:cNvSpPr/>
          <p:nvPr/>
        </p:nvSpPr>
        <p:spPr>
          <a:xfrm>
            <a:off x="2417922" y="5110769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FCDE8E31-7D59-A131-1D07-9731EE56179C}"/>
              </a:ext>
            </a:extLst>
          </p:cNvPr>
          <p:cNvCxnSpPr>
            <a:cxnSpLocks/>
            <a:stCxn id="64" idx="3"/>
            <a:endCxn id="72" idx="2"/>
          </p:cNvCxnSpPr>
          <p:nvPr/>
        </p:nvCxnSpPr>
        <p:spPr>
          <a:xfrm flipV="1">
            <a:off x="7012519" y="5344679"/>
            <a:ext cx="1298205" cy="9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5F484DE-0EBC-22BE-329E-AB5E073AE538}"/>
              </a:ext>
            </a:extLst>
          </p:cNvPr>
          <p:cNvGrpSpPr/>
          <p:nvPr/>
        </p:nvGrpSpPr>
        <p:grpSpPr>
          <a:xfrm>
            <a:off x="8310724" y="5038355"/>
            <a:ext cx="1079999" cy="612648"/>
            <a:chOff x="4222707" y="2816352"/>
            <a:chExt cx="900000" cy="612648"/>
          </a:xfrm>
          <a:solidFill>
            <a:schemeClr val="bg1">
              <a:lumMod val="95000"/>
            </a:schemeClr>
          </a:solidFill>
        </p:grpSpPr>
        <p:sp>
          <p:nvSpPr>
            <p:cNvPr id="72" name="순서도: 자기 디스크 71">
              <a:extLst>
                <a:ext uri="{FF2B5EF4-FFF2-40B4-BE49-F238E27FC236}">
                  <a16:creationId xmlns:a16="http://schemas.microsoft.com/office/drawing/2014/main" id="{AAB051D1-F1C4-EFB9-4937-DF34FE62D54B}"/>
                </a:ext>
              </a:extLst>
            </p:cNvPr>
            <p:cNvSpPr/>
            <p:nvPr/>
          </p:nvSpPr>
          <p:spPr>
            <a:xfrm>
              <a:off x="4222707" y="2816352"/>
              <a:ext cx="900000" cy="612648"/>
            </a:xfrm>
            <a:prstGeom prst="flowChartMagneticDisk">
              <a:avLst/>
            </a:prstGeom>
            <a:grp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12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391FE616-2CF6-8378-F99E-FBE38019C4B4}"/>
                </a:ext>
              </a:extLst>
            </p:cNvPr>
            <p:cNvSpPr/>
            <p:nvPr/>
          </p:nvSpPr>
          <p:spPr>
            <a:xfrm>
              <a:off x="4222707" y="3059860"/>
              <a:ext cx="900000" cy="27293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플랫폼</a:t>
              </a:r>
            </a:p>
          </p:txBody>
        </p:sp>
      </p:grp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B447723-A762-5A8C-1FC4-F32C112973E3}"/>
              </a:ext>
            </a:extLst>
          </p:cNvPr>
          <p:cNvSpPr/>
          <p:nvPr/>
        </p:nvSpPr>
        <p:spPr>
          <a:xfrm>
            <a:off x="1343391" y="4530423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신청 내역 출력</a:t>
            </a:r>
          </a:p>
        </p:txBody>
      </p: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01C9FBBE-080A-8A22-651C-EDD384BAC11F}"/>
              </a:ext>
            </a:extLst>
          </p:cNvPr>
          <p:cNvCxnSpPr>
            <a:cxnSpLocks/>
            <a:stCxn id="74" idx="1"/>
            <a:endCxn id="57" idx="0"/>
          </p:cNvCxnSpPr>
          <p:nvPr/>
        </p:nvCxnSpPr>
        <p:spPr>
          <a:xfrm rot="10800000" flipV="1">
            <a:off x="570575" y="4764422"/>
            <a:ext cx="772816" cy="174925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BE5B68E9-5B2F-ED73-D906-2104C5A75A9C}"/>
              </a:ext>
            </a:extLst>
          </p:cNvPr>
          <p:cNvCxnSpPr>
            <a:cxnSpLocks/>
            <a:stCxn id="72" idx="1"/>
            <a:endCxn id="74" idx="3"/>
          </p:cNvCxnSpPr>
          <p:nvPr/>
        </p:nvCxnSpPr>
        <p:spPr>
          <a:xfrm rot="16200000" flipV="1">
            <a:off x="5500092" y="1687722"/>
            <a:ext cx="273932" cy="6427333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A1E1DF4-E80D-6B54-B1A0-239CFD7773D9}"/>
              </a:ext>
            </a:extLst>
          </p:cNvPr>
          <p:cNvSpPr txBox="1"/>
          <p:nvPr/>
        </p:nvSpPr>
        <p:spPr>
          <a:xfrm>
            <a:off x="1119485" y="5622228"/>
            <a:ext cx="178068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사업자등록증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대표자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주소 등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EC08AF76-9C0D-298F-C190-14B2D3162083}"/>
              </a:ext>
            </a:extLst>
          </p:cNvPr>
          <p:cNvSpPr/>
          <p:nvPr/>
        </p:nvSpPr>
        <p:spPr>
          <a:xfrm>
            <a:off x="3715573" y="5110769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화주의 통합 물류 서비스 요청 낙찰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97916199-935E-6E65-D8F0-5B75AF3DC7F5}"/>
              </a:ext>
            </a:extLst>
          </p:cNvPr>
          <p:cNvCxnSpPr>
            <a:cxnSpLocks/>
            <a:stCxn id="88" idx="3"/>
            <a:endCxn id="64" idx="1"/>
          </p:cNvCxnSpPr>
          <p:nvPr/>
        </p:nvCxnSpPr>
        <p:spPr>
          <a:xfrm>
            <a:off x="4795573" y="5344769"/>
            <a:ext cx="1136946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F04334A5-CD15-6C5B-C566-DAE980A975DD}"/>
              </a:ext>
            </a:extLst>
          </p:cNvPr>
          <p:cNvSpPr txBox="1"/>
          <p:nvPr/>
        </p:nvSpPr>
        <p:spPr>
          <a:xfrm>
            <a:off x="5932287" y="5616306"/>
            <a:ext cx="373366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운송 모드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해운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항공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특송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),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출발지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도착지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출발 요청일 구간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신청 기준일 설정 필요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pPr marL="209550" indent="-209550"/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*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공동구매 종료 이후의 계약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화물 이동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행정처리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선적 등을 고려한 기준일 설정이 중요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F93DDE-9AA9-379F-CFDC-274A0226E574}"/>
              </a:ext>
            </a:extLst>
          </p:cNvPr>
          <p:cNvSpPr txBox="1"/>
          <p:nvPr/>
        </p:nvSpPr>
        <p:spPr>
          <a:xfrm>
            <a:off x="1883391" y="2510356"/>
            <a:ext cx="3201055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해운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컨테이너 운송 방식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en-US" altLang="ko-KR" sz="1000" b="1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FCL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LCL)</a:t>
            </a:r>
          </a:p>
          <a:p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컨테이너 종류 및 수량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중량 화물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(20’ 16Ton↑, 40’ 20Ton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↑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- 20 FT Normal Dry, High Cubic,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Reefer,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High Cubic Reefer 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- 40 FT Normal Dry, High Cubic, Reefer,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High Cubic Reefer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        - 45 FT High Cubic Reefer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A5068BE-647A-8604-98E2-EF1B92DA3FB9}"/>
              </a:ext>
            </a:extLst>
          </p:cNvPr>
          <p:cNvSpPr txBox="1"/>
          <p:nvPr/>
        </p:nvSpPr>
        <p:spPr>
          <a:xfrm>
            <a:off x="5932287" y="6258777"/>
            <a:ext cx="301933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화주의 운임 공동구매와 동일 방식으로 진행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화주의 운임 공동구매에 참여 가능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C5F3F02-AF47-1032-2873-D4963022804D}"/>
              </a:ext>
            </a:extLst>
          </p:cNvPr>
          <p:cNvSpPr txBox="1"/>
          <p:nvPr/>
        </p:nvSpPr>
        <p:spPr>
          <a:xfrm>
            <a:off x="3715573" y="5616305"/>
            <a:ext cx="2124000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화주의 통합 물류 서비스 요청 건은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동일한 운송 모드와 컨테이너 종류로만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구성되어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신청 시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자동으로 운송 모드 및 컨테이너 운송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방식이 결정됨 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8175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EE33CE9-9ECA-93D2-9F86-104A1BC9C57D}"/>
              </a:ext>
            </a:extLst>
          </p:cNvPr>
          <p:cNvSpPr txBox="1"/>
          <p:nvPr/>
        </p:nvSpPr>
        <p:spPr>
          <a:xfrm>
            <a:off x="65521" y="66231"/>
            <a:ext cx="2480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참여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0BDAF-82EC-0BEB-9AAD-968EC0FFDF75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3. UML Diagram (Scenario)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C2241-0335-2288-7F8A-033B591AF9FE}"/>
              </a:ext>
            </a:extLst>
          </p:cNvPr>
          <p:cNvSpPr txBox="1"/>
          <p:nvPr/>
        </p:nvSpPr>
        <p:spPr>
          <a:xfrm>
            <a:off x="152956" y="626035"/>
            <a:ext cx="9638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① 회원 가입 시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모든 추가 정보를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입력한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화주가 일반 운임을 신청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할 때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</a:p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플랫폼은 해당 운임 견적 요청과 관련성이 높은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 진행 중인 운임 공동구매를 화주에게 추천 또는 확인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하고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화주는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 중인 운임 견적 요청 정보를 기반으로 운임 공동구매에 참여 가능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함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C4CAEA5-F183-9433-A353-DC4AADB8AD05}"/>
              </a:ext>
            </a:extLst>
          </p:cNvPr>
          <p:cNvGrpSpPr/>
          <p:nvPr/>
        </p:nvGrpSpPr>
        <p:grpSpPr>
          <a:xfrm>
            <a:off x="240047" y="2033163"/>
            <a:ext cx="661055" cy="984735"/>
            <a:chOff x="240556" y="1789526"/>
            <a:chExt cx="661055" cy="98473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0724210-5D46-E0F2-DDD2-FA3819CF5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556" y="1903430"/>
              <a:ext cx="661055" cy="58285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C1719E-2BD4-14DA-BF84-0C7C1ACCE165}"/>
                </a:ext>
              </a:extLst>
            </p:cNvPr>
            <p:cNvSpPr txBox="1"/>
            <p:nvPr/>
          </p:nvSpPr>
          <p:spPr>
            <a:xfrm>
              <a:off x="240556" y="2552588"/>
              <a:ext cx="661055" cy="221673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algn="ctr">
                <a:defRPr sz="1100" b="1" spc="-144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sz="1600" u="sng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화주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A57021-D9D0-C213-EBC0-BABB92B8563E}"/>
                </a:ext>
              </a:extLst>
            </p:cNvPr>
            <p:cNvSpPr txBox="1"/>
            <p:nvPr/>
          </p:nvSpPr>
          <p:spPr>
            <a:xfrm>
              <a:off x="240556" y="1789526"/>
              <a:ext cx="661055" cy="108842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algn="ctr">
                <a:defRPr sz="1100" b="1" spc="-144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ko-KR" altLang="en-US" sz="1600" u="sng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B95A74B-ADCE-7209-DB01-BEDE61241A27}"/>
              </a:ext>
            </a:extLst>
          </p:cNvPr>
          <p:cNvCxnSpPr>
            <a:cxnSpLocks/>
            <a:stCxn id="6" idx="3"/>
            <a:endCxn id="20" idx="1"/>
          </p:cNvCxnSpPr>
          <p:nvPr/>
        </p:nvCxnSpPr>
        <p:spPr>
          <a:xfrm>
            <a:off x="901102" y="2438495"/>
            <a:ext cx="218383" cy="89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BB2428A-3CF9-41F0-9543-80169CB8ABE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2199485" y="2438584"/>
            <a:ext cx="218437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7772970-CC13-F26B-0454-78B2DB772358}"/>
              </a:ext>
            </a:extLst>
          </p:cNvPr>
          <p:cNvSpPr/>
          <p:nvPr/>
        </p:nvSpPr>
        <p:spPr>
          <a:xfrm>
            <a:off x="3716359" y="2204584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견적 정보 입력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41E500A-CFEC-86C3-55BC-73DB7B00E2EE}"/>
              </a:ext>
            </a:extLst>
          </p:cNvPr>
          <p:cNvCxnSpPr>
            <a:cxnSpLocks/>
            <a:stCxn id="21" idx="3"/>
            <a:endCxn id="17" idx="1"/>
          </p:cNvCxnSpPr>
          <p:nvPr/>
        </p:nvCxnSpPr>
        <p:spPr>
          <a:xfrm>
            <a:off x="3497922" y="2438584"/>
            <a:ext cx="218437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7574F5E-3C67-E73C-706F-BDACD426B8FE}"/>
              </a:ext>
            </a:extLst>
          </p:cNvPr>
          <p:cNvSpPr/>
          <p:nvPr/>
        </p:nvSpPr>
        <p:spPr>
          <a:xfrm>
            <a:off x="1119485" y="2204584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회원가입</a:t>
            </a:r>
            <a:endParaRPr lang="en-US" altLang="ko-KR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정보 입력</a:t>
            </a:r>
            <a:r>
              <a:rPr lang="en-US" altLang="ko-KR" sz="105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536666B-C097-8F78-ADD9-E847D5DDDA78}"/>
              </a:ext>
            </a:extLst>
          </p:cNvPr>
          <p:cNvSpPr/>
          <p:nvPr/>
        </p:nvSpPr>
        <p:spPr>
          <a:xfrm>
            <a:off x="2417922" y="2204584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990A244-E68C-F108-292E-AC9CB4A17C1F}"/>
              </a:ext>
            </a:extLst>
          </p:cNvPr>
          <p:cNvSpPr/>
          <p:nvPr/>
        </p:nvSpPr>
        <p:spPr>
          <a:xfrm>
            <a:off x="5013955" y="2204584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견적 요청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464339D-C83B-3D67-BB07-59C6621EFA76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4796359" y="2438584"/>
            <a:ext cx="217596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5FBFD76-CAB3-64A7-6EDA-DD03F3025E0F}"/>
              </a:ext>
            </a:extLst>
          </p:cNvPr>
          <p:cNvGrpSpPr/>
          <p:nvPr/>
        </p:nvGrpSpPr>
        <p:grpSpPr>
          <a:xfrm>
            <a:off x="8310724" y="2132170"/>
            <a:ext cx="1079999" cy="612648"/>
            <a:chOff x="4222707" y="2816352"/>
            <a:chExt cx="900000" cy="612648"/>
          </a:xfrm>
          <a:solidFill>
            <a:schemeClr val="bg1">
              <a:lumMod val="95000"/>
            </a:schemeClr>
          </a:solidFill>
        </p:grpSpPr>
        <p:sp>
          <p:nvSpPr>
            <p:cNvPr id="26" name="순서도: 자기 디스크 25">
              <a:extLst>
                <a:ext uri="{FF2B5EF4-FFF2-40B4-BE49-F238E27FC236}">
                  <a16:creationId xmlns:a16="http://schemas.microsoft.com/office/drawing/2014/main" id="{CAF9E631-4547-6966-DB35-5F01C3290254}"/>
                </a:ext>
              </a:extLst>
            </p:cNvPr>
            <p:cNvSpPr/>
            <p:nvPr/>
          </p:nvSpPr>
          <p:spPr>
            <a:xfrm>
              <a:off x="4222707" y="2816352"/>
              <a:ext cx="900000" cy="612648"/>
            </a:xfrm>
            <a:prstGeom prst="flowChartMagneticDisk">
              <a:avLst/>
            </a:prstGeom>
            <a:grp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12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611A8443-A69F-9A72-70FF-2FDA976104AC}"/>
                </a:ext>
              </a:extLst>
            </p:cNvPr>
            <p:cNvSpPr/>
            <p:nvPr/>
          </p:nvSpPr>
          <p:spPr>
            <a:xfrm>
              <a:off x="4222707" y="3059860"/>
              <a:ext cx="900000" cy="272938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플랫폼</a:t>
              </a: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6C12E3A-1CE9-2457-83BB-9CA9DB12C157}"/>
              </a:ext>
            </a:extLst>
          </p:cNvPr>
          <p:cNvSpPr/>
          <p:nvPr/>
        </p:nvSpPr>
        <p:spPr>
          <a:xfrm>
            <a:off x="1343391" y="1599592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</a:t>
            </a:r>
            <a:endParaRPr lang="en-US" altLang="ko-KR" sz="1200" b="1" dirty="0">
              <a:solidFill>
                <a:schemeClr val="tx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참여 결과 출력</a:t>
            </a: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7D13881E-2510-D862-39E0-C0DBE17ADCE4}"/>
              </a:ext>
            </a:extLst>
          </p:cNvPr>
          <p:cNvCxnSpPr>
            <a:cxnSpLocks/>
            <a:stCxn id="31" idx="1"/>
            <a:endCxn id="9" idx="0"/>
          </p:cNvCxnSpPr>
          <p:nvPr/>
        </p:nvCxnSpPr>
        <p:spPr>
          <a:xfrm rot="10800000" flipV="1">
            <a:off x="570575" y="1833591"/>
            <a:ext cx="772816" cy="199571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1690C53B-F146-DF23-F17B-B55969C21ED5}"/>
              </a:ext>
            </a:extLst>
          </p:cNvPr>
          <p:cNvCxnSpPr>
            <a:cxnSpLocks/>
            <a:stCxn id="26" idx="1"/>
            <a:endCxn id="31" idx="3"/>
          </p:cNvCxnSpPr>
          <p:nvPr/>
        </p:nvCxnSpPr>
        <p:spPr>
          <a:xfrm rot="16200000" flipV="1">
            <a:off x="5487769" y="-1230786"/>
            <a:ext cx="298578" cy="6427333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69F3A56A-6054-A6A1-F88C-B815A42913E7}"/>
              </a:ext>
            </a:extLst>
          </p:cNvPr>
          <p:cNvSpPr/>
          <p:nvPr/>
        </p:nvSpPr>
        <p:spPr>
          <a:xfrm>
            <a:off x="5794211" y="3103560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진행 건 추천</a:t>
            </a: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1BEC28B4-2B34-EB64-E343-410787509222}"/>
              </a:ext>
            </a:extLst>
          </p:cNvPr>
          <p:cNvCxnSpPr>
            <a:cxnSpLocks/>
            <a:stCxn id="26" idx="3"/>
            <a:endCxn id="53" idx="2"/>
          </p:cNvCxnSpPr>
          <p:nvPr/>
        </p:nvCxnSpPr>
        <p:spPr>
          <a:xfrm rot="5400000">
            <a:off x="7179097" y="1899933"/>
            <a:ext cx="826742" cy="2516513"/>
          </a:xfrm>
          <a:prstGeom prst="bentConnector3">
            <a:avLst>
              <a:gd name="adj1" fmla="val 127651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AC049F2F-9293-FBB3-0A1C-EEBB28A1C6A2}"/>
              </a:ext>
            </a:extLst>
          </p:cNvPr>
          <p:cNvSpPr/>
          <p:nvPr/>
        </p:nvSpPr>
        <p:spPr>
          <a:xfrm>
            <a:off x="6574467" y="2204494"/>
            <a:ext cx="1080000" cy="468000"/>
          </a:xfrm>
          <a:prstGeom prst="roundRect">
            <a:avLst>
              <a:gd name="adj" fmla="val 2224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참여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B10236-F8BA-2FAF-89F9-CA5F224BCAFC}"/>
              </a:ext>
            </a:extLst>
          </p:cNvPr>
          <p:cNvSpPr txBox="1"/>
          <p:nvPr/>
        </p:nvSpPr>
        <p:spPr>
          <a:xfrm>
            <a:off x="5758211" y="2738699"/>
            <a:ext cx="1152000" cy="324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운임 공동구매 진행 건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확인 후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참여 결정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75BBBEC0-4C3D-A37A-BD56-95F6C32E23C5}"/>
              </a:ext>
            </a:extLst>
          </p:cNvPr>
          <p:cNvCxnSpPr>
            <a:cxnSpLocks/>
            <a:stCxn id="23" idx="2"/>
            <a:endCxn id="53" idx="1"/>
          </p:cNvCxnSpPr>
          <p:nvPr/>
        </p:nvCxnSpPr>
        <p:spPr>
          <a:xfrm rot="16200000" flipH="1">
            <a:off x="5341595" y="2884944"/>
            <a:ext cx="664976" cy="240256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51173277-0C20-C2FA-AE6F-CE7E2169406B}"/>
              </a:ext>
            </a:extLst>
          </p:cNvPr>
          <p:cNvCxnSpPr>
            <a:cxnSpLocks/>
            <a:stCxn id="53" idx="3"/>
            <a:endCxn id="85" idx="2"/>
          </p:cNvCxnSpPr>
          <p:nvPr/>
        </p:nvCxnSpPr>
        <p:spPr>
          <a:xfrm flipV="1">
            <a:off x="6874211" y="2672494"/>
            <a:ext cx="240256" cy="665066"/>
          </a:xfrm>
          <a:prstGeom prst="bentConnector2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B06C1E24-2D4B-90C1-EA09-82CD6F30B580}"/>
              </a:ext>
            </a:extLst>
          </p:cNvPr>
          <p:cNvCxnSpPr>
            <a:cxnSpLocks/>
            <a:stCxn id="85" idx="3"/>
            <a:endCxn id="26" idx="2"/>
          </p:cNvCxnSpPr>
          <p:nvPr/>
        </p:nvCxnSpPr>
        <p:spPr>
          <a:xfrm>
            <a:off x="7654467" y="2438494"/>
            <a:ext cx="656257" cy="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E49F282-9475-056A-7AC3-E9A472CD284B}"/>
              </a:ext>
            </a:extLst>
          </p:cNvPr>
          <p:cNvCxnSpPr>
            <a:cxnSpLocks/>
            <a:stCxn id="23" idx="3"/>
            <a:endCxn id="85" idx="1"/>
          </p:cNvCxnSpPr>
          <p:nvPr/>
        </p:nvCxnSpPr>
        <p:spPr>
          <a:xfrm flipV="1">
            <a:off x="6093955" y="2438494"/>
            <a:ext cx="480512" cy="90"/>
          </a:xfrm>
          <a:prstGeom prst="straightConnector1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1FBAEF96-9398-9685-C8F3-18C3ACDA0CD6}"/>
              </a:ext>
            </a:extLst>
          </p:cNvPr>
          <p:cNvSpPr txBox="1"/>
          <p:nvPr/>
        </p:nvSpPr>
        <p:spPr>
          <a:xfrm>
            <a:off x="7318723" y="2738699"/>
            <a:ext cx="1152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해당 운임 공동구매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업데이트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53FAF03-3997-79EE-A209-2B2D07E3D208}"/>
              </a:ext>
            </a:extLst>
          </p:cNvPr>
          <p:cNvSpPr txBox="1"/>
          <p:nvPr/>
        </p:nvSpPr>
        <p:spPr>
          <a:xfrm>
            <a:off x="6437307" y="3835979"/>
            <a:ext cx="227625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화주가 신청한 운임 견적 요청과 동일 물성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컨테이너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종류의 운임 공동구매 진행 건 중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선적 일자가 중복되는 운임 공동구매 건 매칭</a:t>
            </a:r>
            <a:endParaRPr lang="en-US" altLang="ko-KR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6B25AD5-74A5-6C8E-0FCF-A278A9E41754}"/>
              </a:ext>
            </a:extLst>
          </p:cNvPr>
          <p:cNvSpPr txBox="1"/>
          <p:nvPr/>
        </p:nvSpPr>
        <p:spPr>
          <a:xfrm>
            <a:off x="152956" y="4388251"/>
            <a:ext cx="9638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① 회원 가입 시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모든 추가 정보를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입력한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화주가 일반 운임을 신청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할 때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</a:p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플랫폼은 해당 운임 견적 요청과 관련성이 높은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 진행 중인 운임 공동구매를 화주에게 추천 또는 확인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하고</a:t>
            </a:r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</a:p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  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화주는 </a:t>
            </a:r>
            <a:r>
              <a:rPr lang="ko-KR" altLang="en-US" sz="1600" b="1" dirty="0">
                <a:highlight>
                  <a:srgbClr val="FFFF00"/>
                </a:highlight>
                <a:latin typeface="Arial Narrow" panose="020B0606020202030204" pitchFamily="34" charset="0"/>
                <a:ea typeface="LG스마트체 Regular" panose="020B0600000101010101" pitchFamily="50" charset="-127"/>
              </a:rPr>
              <a:t>작성 중인 운임 견적 요청 정보를 기반으로 운임 공동구매에 참여 가능</a:t>
            </a:r>
            <a:r>
              <a:rPr lang="ko-KR" altLang="en-US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함</a:t>
            </a:r>
            <a:endParaRPr lang="en-US" altLang="ko-KR" sz="16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350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E7D223-2D12-35B3-C0B4-A277E7597DE5}"/>
              </a:ext>
            </a:extLst>
          </p:cNvPr>
          <p:cNvSpPr txBox="1"/>
          <p:nvPr/>
        </p:nvSpPr>
        <p:spPr>
          <a:xfrm>
            <a:off x="321013" y="405930"/>
            <a:ext cx="1213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cap="all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Index</a:t>
            </a:r>
            <a:endParaRPr lang="ko-KR" altLang="en-US" sz="3200" b="1" cap="all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9F814B-CE26-21CD-0634-EE3C23F37ACA}"/>
              </a:ext>
            </a:extLst>
          </p:cNvPr>
          <p:cNvCxnSpPr>
            <a:cxnSpLocks/>
          </p:cNvCxnSpPr>
          <p:nvPr/>
        </p:nvCxnSpPr>
        <p:spPr>
          <a:xfrm>
            <a:off x="1534807" y="698318"/>
            <a:ext cx="799613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3674938-EFDF-82D4-3DB4-D55A81BD786D}"/>
              </a:ext>
            </a:extLst>
          </p:cNvPr>
          <p:cNvSpPr txBox="1"/>
          <p:nvPr/>
        </p:nvSpPr>
        <p:spPr>
          <a:xfrm>
            <a:off x="410135" y="1283093"/>
            <a:ext cx="407675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Business Model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Business Flowchart (Process)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UML Diagram (Scenario)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4. </a:t>
            </a:r>
            <a:r>
              <a:rPr lang="ko-KR" altLang="en-US" sz="2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설계 </a:t>
            </a:r>
            <a:r>
              <a:rPr lang="en-US" altLang="ko-KR" sz="2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(UI/UX)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5.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 구성도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6. ERD</a:t>
            </a:r>
            <a:endParaRPr lang="ko-KR" altLang="en-US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84FF3B0-9F04-EB49-46D3-30C135F72B85}"/>
              </a:ext>
            </a:extLst>
          </p:cNvPr>
          <p:cNvSpPr/>
          <p:nvPr/>
        </p:nvSpPr>
        <p:spPr>
          <a:xfrm>
            <a:off x="407972" y="3413185"/>
            <a:ext cx="4166746" cy="5847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7363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1090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FA08A0-E46B-19B2-79FC-808F0C462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90" y="2063417"/>
            <a:ext cx="4581454" cy="366219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3B8DC00-0FFD-F12D-5E23-21CCF119C1CC}"/>
              </a:ext>
            </a:extLst>
          </p:cNvPr>
          <p:cNvSpPr/>
          <p:nvPr/>
        </p:nvSpPr>
        <p:spPr>
          <a:xfrm>
            <a:off x="5119931" y="1768067"/>
            <a:ext cx="2087592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회사 소속 국가 혹은 지역</a:t>
            </a:r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endParaRPr lang="en-US" altLang="ko-KR" sz="1100" b="1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AUSTRALIA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BRAZIL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CHILE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China Mainland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COLOMBIA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EGYPT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GERMANY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HUNGARY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INDIA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KOREA, REPUBLIC OF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MALAYSIA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MEXICO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NETHERLANDS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PANAMA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PERU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PHILIPPINES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POLAND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SINGAPORE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SLOVAKIA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SWEDEN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THAILAND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TURKIYE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UNITED ARAB EMIRATES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UNITED STATES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VIETNAM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847A97-950E-162D-8DB9-C7EA84964E71}"/>
              </a:ext>
            </a:extLst>
          </p:cNvPr>
          <p:cNvSpPr/>
          <p:nvPr/>
        </p:nvSpPr>
        <p:spPr>
          <a:xfrm>
            <a:off x="3656891" y="1123132"/>
            <a:ext cx="162956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언어 선택</a:t>
            </a:r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endParaRPr lang="en-US" altLang="ko-KR" sz="1100" b="1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한국어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3655152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B2B84D-3A57-4989-B759-038B6089CD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1" t="1618" r="764" b="1828"/>
          <a:stretch/>
        </p:blipFill>
        <p:spPr>
          <a:xfrm>
            <a:off x="478609" y="2335045"/>
            <a:ext cx="3110458" cy="28896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28F2832-4928-B6CF-AE0A-B7C2E8EF3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744" y="2244648"/>
            <a:ext cx="3110458" cy="288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543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157D784-7C1E-2DDA-833F-DF5CD961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11" y="1420442"/>
            <a:ext cx="5141343" cy="31932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DF4545F-C92B-8802-461E-955F6AAC7B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504"/>
          <a:stretch/>
        </p:blipFill>
        <p:spPr>
          <a:xfrm>
            <a:off x="373812" y="4444842"/>
            <a:ext cx="5132716" cy="303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29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DC5DCF-F20F-3627-373B-686AA98F2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738" y="2392571"/>
            <a:ext cx="2562498" cy="24051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C46B812-4415-701A-3EA8-3819F9F40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08" y="1470183"/>
            <a:ext cx="2549249" cy="238587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8B831EE-98F7-980A-555F-4599D1DA2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709" y="3334201"/>
            <a:ext cx="2549248" cy="238566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96253BD-8A33-5EA0-51FF-8988FD550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7737" y="4256370"/>
            <a:ext cx="2549248" cy="23826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3D6F08-2EAA-5337-2FAA-DD5D68EA1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065" y="5175574"/>
            <a:ext cx="2545013" cy="237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04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541C0C0-97B3-77F1-6005-15C2D0D85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3956" y="1740004"/>
            <a:ext cx="4693669" cy="32256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631BFC4-D442-A812-E2F1-5DE33AFBD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633" y="1740004"/>
            <a:ext cx="2586997" cy="22497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5E2DCC-E428-E0EE-F693-78867E8FE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3956" y="5027103"/>
            <a:ext cx="4693669" cy="267278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A8F3692-0EB1-CAA1-2289-C6BB0DA6B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995" y="5850461"/>
            <a:ext cx="3092426" cy="18494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F784F5B-D05B-0F03-33B7-C1FCFA155C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5738" y="4077141"/>
            <a:ext cx="3680603" cy="171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49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36CB220-63AA-81A1-82E5-E3B1DE806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99815" y="1439816"/>
            <a:ext cx="4528635" cy="38289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D31A011-C3A2-74E1-990C-2F17B5B39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219" y="3429000"/>
            <a:ext cx="4319528" cy="396815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2C9D3E-FEAD-91FF-BFA3-1E5C053C8762}"/>
              </a:ext>
            </a:extLst>
          </p:cNvPr>
          <p:cNvSpPr/>
          <p:nvPr/>
        </p:nvSpPr>
        <p:spPr>
          <a:xfrm>
            <a:off x="-1984245" y="5216365"/>
            <a:ext cx="1370881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업종  선택</a:t>
            </a:r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endParaRPr lang="en-US" altLang="ko-KR" sz="1100" b="1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가구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인테리어자재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산업장비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식음료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소비재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자동차부품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전기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전자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철강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금속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패션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악세서리</a:t>
            </a:r>
          </a:p>
          <a:p>
            <a:r>
              <a:rPr lang="ko-KR" altLang="en-US" sz="1100" dirty="0" err="1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화장품미용</a:t>
            </a:r>
            <a:endParaRPr lang="ko-KR" altLang="en-US" sz="1100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화학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제약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물류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기타</a:t>
            </a:r>
            <a:endParaRPr lang="ko-KR" altLang="en-US" sz="1100" b="0" i="0" dirty="0">
              <a:solidFill>
                <a:srgbClr val="333333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C8BFB6-1102-3B78-AE6B-60F837ABC312}"/>
              </a:ext>
            </a:extLst>
          </p:cNvPr>
          <p:cNvSpPr/>
          <p:nvPr/>
        </p:nvSpPr>
        <p:spPr>
          <a:xfrm>
            <a:off x="-613364" y="5216365"/>
            <a:ext cx="1370881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월 예상 </a:t>
            </a:r>
            <a:r>
              <a:rPr lang="ko-KR" altLang="en-US" sz="1100" b="1" dirty="0" err="1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물류비</a:t>
            </a:r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endParaRPr lang="en-US" altLang="ko-KR" sz="1100" b="1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1,000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만원 이하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1,000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만원 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 5,000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만원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5,000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만원 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~ 1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억원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억원 이상</a:t>
            </a:r>
            <a:endParaRPr lang="ko-KR" altLang="en-US" sz="1100" b="0" i="0" dirty="0">
              <a:solidFill>
                <a:srgbClr val="333333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0A8279-0568-9AE0-8E8D-12288DE0F159}"/>
              </a:ext>
            </a:extLst>
          </p:cNvPr>
          <p:cNvSpPr/>
          <p:nvPr/>
        </p:nvSpPr>
        <p:spPr>
          <a:xfrm>
            <a:off x="609363" y="5216365"/>
            <a:ext cx="181945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유입 경로</a:t>
            </a:r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endParaRPr lang="en-US" altLang="ko-KR" sz="1100" b="1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TV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광고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박람회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전시</a:t>
            </a:r>
          </a:p>
          <a:p>
            <a:r>
              <a:rPr lang="ko-KR" altLang="en-US" sz="1100" dirty="0" err="1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웨비나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세미나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컨퍼런스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디지털광고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/SNS/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검색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이벤트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프로모션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엘리베이터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옥외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지면광고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영업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업체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지인소개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기타</a:t>
            </a:r>
            <a:endParaRPr lang="ko-KR" altLang="en-US" sz="1100" b="0" i="0" dirty="0">
              <a:solidFill>
                <a:srgbClr val="333333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89314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D91FEE0-8C3E-6113-6F0C-69E35A05E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2049" y="1470183"/>
            <a:ext cx="4718327" cy="282381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CE4F690-3946-140F-5384-0A140C031F9F}"/>
              </a:ext>
            </a:extLst>
          </p:cNvPr>
          <p:cNvSpPr/>
          <p:nvPr/>
        </p:nvSpPr>
        <p:spPr>
          <a:xfrm>
            <a:off x="2314302" y="1733271"/>
            <a:ext cx="137088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언어 선택</a:t>
            </a:r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endParaRPr lang="en-US" altLang="ko-KR" sz="1100" b="1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한국어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English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中文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Deutsch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Español</a:t>
            </a: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Tiếng Việt</a:t>
            </a:r>
          </a:p>
          <a:p>
            <a:r>
              <a:rPr lang="en-US" altLang="ko-KR" sz="1100" dirty="0" err="1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Português</a:t>
            </a:r>
            <a:endParaRPr lang="en-US" altLang="ko-KR" sz="1100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Hungarian</a:t>
            </a:r>
          </a:p>
          <a:p>
            <a:r>
              <a:rPr lang="en-US" altLang="ko-KR" sz="1100" dirty="0" err="1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Polski</a:t>
            </a:r>
            <a:endParaRPr lang="en-US" altLang="ko-KR" sz="1100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1100" dirty="0" err="1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slovenský</a:t>
            </a:r>
            <a:endParaRPr lang="ko-KR" altLang="en-US" sz="1100" b="0" i="0" dirty="0">
              <a:solidFill>
                <a:srgbClr val="333333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E78AF73-D40F-1692-7B3F-78F56D716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92049" y="4404029"/>
            <a:ext cx="4718327" cy="276045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D3EE65B-A7C0-965B-1F6B-51FA903A9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721" y="4404027"/>
            <a:ext cx="4703932" cy="276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14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329A809-619B-2CE1-759A-1F418D5B24A6}"/>
              </a:ext>
            </a:extLst>
          </p:cNvPr>
          <p:cNvGrpSpPr/>
          <p:nvPr/>
        </p:nvGrpSpPr>
        <p:grpSpPr>
          <a:xfrm>
            <a:off x="2595364" y="916185"/>
            <a:ext cx="4031860" cy="3806593"/>
            <a:chOff x="130883" y="719505"/>
            <a:chExt cx="5917153" cy="611333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C51AE56-F2B9-0DA1-CFF3-5E967EF4D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649" y="719505"/>
              <a:ext cx="5901387" cy="25844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A0A98B8-950A-DFC1-F69B-56B9C4395B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01"/>
            <a:stretch/>
          </p:blipFill>
          <p:spPr>
            <a:xfrm>
              <a:off x="146648" y="3064742"/>
              <a:ext cx="5901387" cy="1859881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B59CAD17-5032-E544-752C-E6800F5B1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883" y="4867294"/>
              <a:ext cx="5909272" cy="1965544"/>
            </a:xfrm>
            <a:prstGeom prst="rect">
              <a:avLst/>
            </a:prstGeom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879A7718-4B55-CF45-3FEB-A3163A28951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34" r="534"/>
          <a:stretch/>
        </p:blipFill>
        <p:spPr>
          <a:xfrm>
            <a:off x="-278675" y="3524984"/>
            <a:ext cx="4395243" cy="11977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82FC27D-232D-4613-3FC9-982A6BF4E6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71367" y="4520227"/>
            <a:ext cx="4387937" cy="121251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8DDC7AC-8E13-24E9-A42D-C2389BBB328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868"/>
          <a:stretch/>
        </p:blipFill>
        <p:spPr>
          <a:xfrm>
            <a:off x="-271367" y="5718021"/>
            <a:ext cx="4399674" cy="136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205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F1DFD38-3A92-B563-6830-E996F443D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028" y="5564030"/>
            <a:ext cx="2151308" cy="8030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1924885-0A9B-0ABB-96F1-CE60DD102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142" y="4333810"/>
            <a:ext cx="2161995" cy="14707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4DF3F47-2514-D470-CC04-2810B87B5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86" y="1190533"/>
            <a:ext cx="3924300" cy="237468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FFD32B0-4EBF-2272-290F-7CDAD345D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9340" y="4026890"/>
            <a:ext cx="2161995" cy="7745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056CB45-280B-ADFC-BC5F-DEA0E399B2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3636" y="6232509"/>
            <a:ext cx="1668899" cy="7572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4EAA6CD-45EF-6B60-853B-DC91A50893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6292" y="6587266"/>
            <a:ext cx="1978561" cy="108487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1568FB9-C567-4E2F-0A7A-6F44E9BE73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1497" y="3459137"/>
            <a:ext cx="1914881" cy="77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99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6AFD190-C88D-8821-F9CA-354E4010570C}"/>
              </a:ext>
            </a:extLst>
          </p:cNvPr>
          <p:cNvGrpSpPr>
            <a:grpSpLocks noChangeAspect="1"/>
          </p:cNvGrpSpPr>
          <p:nvPr/>
        </p:nvGrpSpPr>
        <p:grpSpPr>
          <a:xfrm>
            <a:off x="-2744316" y="897228"/>
            <a:ext cx="3693779" cy="2029539"/>
            <a:chOff x="4506433" y="1393000"/>
            <a:chExt cx="8957307" cy="6721549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6CEEB49-7408-B6C2-3CB0-448818E39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6433" y="1393000"/>
              <a:ext cx="8957307" cy="3119696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C9E7414-E36F-6B8D-62D2-F7834CC9A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6433" y="4485132"/>
              <a:ext cx="8957307" cy="3629417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97F029D-DDD3-E3B3-99AC-4B182A79611B}"/>
              </a:ext>
            </a:extLst>
          </p:cNvPr>
          <p:cNvGrpSpPr>
            <a:grpSpLocks noChangeAspect="1"/>
          </p:cNvGrpSpPr>
          <p:nvPr/>
        </p:nvGrpSpPr>
        <p:grpSpPr>
          <a:xfrm>
            <a:off x="-3486505" y="3931234"/>
            <a:ext cx="3668033" cy="2235049"/>
            <a:chOff x="681486" y="2085858"/>
            <a:chExt cx="8583283" cy="5230066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127B186-A832-1935-7383-276742A10F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880" r="6473"/>
            <a:stretch/>
          </p:blipFill>
          <p:spPr>
            <a:xfrm>
              <a:off x="681486" y="2085858"/>
              <a:ext cx="8583283" cy="2686283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A8B349B-1469-B2CD-D0E2-DA4696789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1486" y="4772141"/>
              <a:ext cx="8583283" cy="2543783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5250B9F-8E28-5F3A-0623-56B7C74AB2FE}"/>
              </a:ext>
            </a:extLst>
          </p:cNvPr>
          <p:cNvGrpSpPr/>
          <p:nvPr/>
        </p:nvGrpSpPr>
        <p:grpSpPr>
          <a:xfrm>
            <a:off x="182879" y="1470183"/>
            <a:ext cx="5708639" cy="5832273"/>
            <a:chOff x="2528330" y="719505"/>
            <a:chExt cx="7130019" cy="6407984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73F90E3-9BC0-B914-F024-010681954E27}"/>
                </a:ext>
              </a:extLst>
            </p:cNvPr>
            <p:cNvGrpSpPr/>
            <p:nvPr/>
          </p:nvGrpSpPr>
          <p:grpSpPr>
            <a:xfrm>
              <a:off x="2531706" y="719505"/>
              <a:ext cx="7126643" cy="4547820"/>
              <a:chOff x="4506433" y="1393000"/>
              <a:chExt cx="8957307" cy="6721549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7EEA4D2-25E4-521C-5063-41A0212C74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06433" y="1393000"/>
                <a:ext cx="8957307" cy="3119696"/>
              </a:xfrm>
              <a:prstGeom prst="rect">
                <a:avLst/>
              </a:prstGeom>
            </p:spPr>
          </p:pic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0640D1A0-9EB7-EDD7-E362-90A399FB63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06433" y="4485132"/>
                <a:ext cx="8957307" cy="3629417"/>
              </a:xfrm>
              <a:prstGeom prst="rect">
                <a:avLst/>
              </a:prstGeom>
            </p:spPr>
          </p:pic>
        </p:grp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F9A77F9-3EE9-0681-40BA-883B0E64B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28330" y="5227806"/>
              <a:ext cx="7126643" cy="18996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9584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02D1C7-E1AF-4151-B24A-62D0213CD402}"/>
              </a:ext>
            </a:extLst>
          </p:cNvPr>
          <p:cNvSpPr txBox="1"/>
          <p:nvPr/>
        </p:nvSpPr>
        <p:spPr>
          <a:xfrm>
            <a:off x="65521" y="66231"/>
            <a:ext cx="7396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03.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 후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홈 화면 상세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(2/5) –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Dashboard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기능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(4/4)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410925D-EF19-4E3F-B853-DF6D90B80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1" y="719505"/>
            <a:ext cx="9336910" cy="261317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C0CA680-CA62-4956-8DEC-4E1061B7B2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89" b="2270"/>
          <a:stretch/>
        </p:blipFill>
        <p:spPr>
          <a:xfrm>
            <a:off x="6375551" y="3524292"/>
            <a:ext cx="1086299" cy="136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828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02D1C7-E1AF-4151-B24A-62D0213CD402}"/>
              </a:ext>
            </a:extLst>
          </p:cNvPr>
          <p:cNvSpPr txBox="1"/>
          <p:nvPr/>
        </p:nvSpPr>
        <p:spPr>
          <a:xfrm>
            <a:off x="65521" y="66231"/>
            <a:ext cx="3903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03.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 후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홈 화면 상세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(3/5)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A8A2AAE-D827-4C78-8D3A-7E765AFE74A4}"/>
              </a:ext>
            </a:extLst>
          </p:cNvPr>
          <p:cNvGrpSpPr/>
          <p:nvPr/>
        </p:nvGrpSpPr>
        <p:grpSpPr>
          <a:xfrm>
            <a:off x="131407" y="719505"/>
            <a:ext cx="5720753" cy="5828576"/>
            <a:chOff x="130883" y="719505"/>
            <a:chExt cx="5917153" cy="6113333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53060329-A4E2-46BC-A1FE-E2C573383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649" y="719505"/>
              <a:ext cx="5901387" cy="2584411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6269DF0-4BB7-4808-A859-0A08CB85A8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01"/>
            <a:stretch/>
          </p:blipFill>
          <p:spPr>
            <a:xfrm>
              <a:off x="146648" y="3064742"/>
              <a:ext cx="5901387" cy="1859881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C493CE9-DBC0-4781-B551-5DB568AD4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883" y="4867294"/>
              <a:ext cx="5909272" cy="1965544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7C794A98-E899-4B68-8984-7AFC415DC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9545" y="877202"/>
            <a:ext cx="3682042" cy="26554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3D0B5D-CBE2-4771-93B5-C5225AB048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926" y="3532604"/>
            <a:ext cx="3682042" cy="3137099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0FE7F8-3E55-4A4F-8A51-606D7F7A403B}"/>
              </a:ext>
            </a:extLst>
          </p:cNvPr>
          <p:cNvSpPr/>
          <p:nvPr/>
        </p:nvSpPr>
        <p:spPr>
          <a:xfrm>
            <a:off x="2932980" y="923026"/>
            <a:ext cx="767751" cy="181156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05E7127D-33D9-4297-956A-C105A8A1A445}"/>
              </a:ext>
            </a:extLst>
          </p:cNvPr>
          <p:cNvCxnSpPr>
            <a:stCxn id="10" idx="0"/>
            <a:endCxn id="8" idx="0"/>
          </p:cNvCxnSpPr>
          <p:nvPr/>
        </p:nvCxnSpPr>
        <p:spPr>
          <a:xfrm rot="5400000" flipH="1" flipV="1">
            <a:off x="5545799" y="-1351741"/>
            <a:ext cx="45824" cy="4503710"/>
          </a:xfrm>
          <a:prstGeom prst="bentConnector3">
            <a:avLst>
              <a:gd name="adj1" fmla="val 598865"/>
            </a:avLst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50AD74C-9FC5-45F7-8970-8E3909A33681}"/>
              </a:ext>
            </a:extLst>
          </p:cNvPr>
          <p:cNvSpPr/>
          <p:nvPr/>
        </p:nvSpPr>
        <p:spPr>
          <a:xfrm>
            <a:off x="3759200" y="923026"/>
            <a:ext cx="1401121" cy="181156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1A42B538-359C-4904-80E4-3BBA9C89289E}"/>
              </a:ext>
            </a:extLst>
          </p:cNvPr>
          <p:cNvCxnSpPr>
            <a:cxnSpLocks/>
            <a:stCxn id="14" idx="2"/>
            <a:endCxn id="9" idx="1"/>
          </p:cNvCxnSpPr>
          <p:nvPr/>
        </p:nvCxnSpPr>
        <p:spPr>
          <a:xfrm rot="16200000" flipH="1">
            <a:off x="3217357" y="2346585"/>
            <a:ext cx="3996972" cy="1512165"/>
          </a:xfrm>
          <a:prstGeom prst="bentConnector2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755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02D1C7-E1AF-4151-B24A-62D0213CD402}"/>
              </a:ext>
            </a:extLst>
          </p:cNvPr>
          <p:cNvSpPr txBox="1"/>
          <p:nvPr/>
        </p:nvSpPr>
        <p:spPr>
          <a:xfrm>
            <a:off x="65521" y="66231"/>
            <a:ext cx="3903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03.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 후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홈 화면 상세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(4/5)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0FE7F8-3E55-4A4F-8A51-606D7F7A403B}"/>
              </a:ext>
            </a:extLst>
          </p:cNvPr>
          <p:cNvSpPr/>
          <p:nvPr/>
        </p:nvSpPr>
        <p:spPr>
          <a:xfrm>
            <a:off x="2932980" y="923026"/>
            <a:ext cx="767751" cy="181156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3484C3-BAC4-41DE-BDDA-7ABF74375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9" y="719504"/>
            <a:ext cx="5187353" cy="2064495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41AF1100-91C8-487B-A4C1-ECC35072AEC6}"/>
              </a:ext>
            </a:extLst>
          </p:cNvPr>
          <p:cNvGrpSpPr/>
          <p:nvPr/>
        </p:nvGrpSpPr>
        <p:grpSpPr>
          <a:xfrm>
            <a:off x="5560486" y="719505"/>
            <a:ext cx="3963214" cy="5922835"/>
            <a:chOff x="5120401" y="719505"/>
            <a:chExt cx="4170248" cy="6219165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579EE46-7F1C-4297-AB60-3D2BD178A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0401" y="719505"/>
              <a:ext cx="4170248" cy="3413678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67C9618-C0CB-4699-AD04-A68B08A7C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23408" y="4133183"/>
              <a:ext cx="4167241" cy="2805487"/>
            </a:xfrm>
            <a:prstGeom prst="rect">
              <a:avLst/>
            </a:prstGeom>
          </p:spPr>
        </p:pic>
      </p:grp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944E6B0-6735-4CDF-A669-97D48419D307}"/>
              </a:ext>
            </a:extLst>
          </p:cNvPr>
          <p:cNvSpPr/>
          <p:nvPr/>
        </p:nvSpPr>
        <p:spPr>
          <a:xfrm>
            <a:off x="497698" y="1049547"/>
            <a:ext cx="4493402" cy="830054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F58C54C-E0CD-40BB-974F-D623D2E0CEE5}"/>
              </a:ext>
            </a:extLst>
          </p:cNvPr>
          <p:cNvCxnSpPr>
            <a:cxnSpLocks/>
          </p:cNvCxnSpPr>
          <p:nvPr/>
        </p:nvCxnSpPr>
        <p:spPr>
          <a:xfrm>
            <a:off x="4991100" y="1406105"/>
            <a:ext cx="569386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851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02D1C7-E1AF-4151-B24A-62D0213CD402}"/>
              </a:ext>
            </a:extLst>
          </p:cNvPr>
          <p:cNvSpPr txBox="1"/>
          <p:nvPr/>
        </p:nvSpPr>
        <p:spPr>
          <a:xfrm>
            <a:off x="65521" y="66231"/>
            <a:ext cx="5923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03.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 후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홈 화면 상세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(5/5) –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나의 현황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(1/4)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EACE0A-A926-4EC5-86A8-16C75604C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2" y="719505"/>
            <a:ext cx="4129353" cy="11265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68185BA-5B57-4093-A291-A66C2115C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229" y="2697271"/>
            <a:ext cx="5296619" cy="1840113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CFBBAC0-B4C9-4EE2-A4EC-BC6CD6410EE0}"/>
              </a:ext>
            </a:extLst>
          </p:cNvPr>
          <p:cNvSpPr/>
          <p:nvPr/>
        </p:nvSpPr>
        <p:spPr>
          <a:xfrm>
            <a:off x="379564" y="1224951"/>
            <a:ext cx="224286" cy="203800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015B97-5084-4E94-BF17-57169396C322}"/>
              </a:ext>
            </a:extLst>
          </p:cNvPr>
          <p:cNvSpPr/>
          <p:nvPr/>
        </p:nvSpPr>
        <p:spPr>
          <a:xfrm>
            <a:off x="1319364" y="1456355"/>
            <a:ext cx="363386" cy="18702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C1DE794-ABB8-4DA2-9924-010CD497BCA7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548557" y="1662430"/>
            <a:ext cx="0" cy="278257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EFE78EC5-24F2-4F27-A642-8773380E5A6C}"/>
              </a:ext>
            </a:extLst>
          </p:cNvPr>
          <p:cNvCxnSpPr>
            <a:cxnSpLocks/>
            <a:stCxn id="18" idx="2"/>
          </p:cNvCxnSpPr>
          <p:nvPr/>
        </p:nvCxnSpPr>
        <p:spPr>
          <a:xfrm rot="16200000" flipH="1">
            <a:off x="1907270" y="1237166"/>
            <a:ext cx="2137744" cy="2950171"/>
          </a:xfrm>
          <a:prstGeom prst="bentConnector2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E31AF5C9-3C5A-47F0-8CBE-C30590D5D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8" y="4537384"/>
            <a:ext cx="5296619" cy="2081714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3791C4C-91DE-4207-BB87-21E3D1816A76}"/>
              </a:ext>
            </a:extLst>
          </p:cNvPr>
          <p:cNvSpPr/>
          <p:nvPr/>
        </p:nvSpPr>
        <p:spPr>
          <a:xfrm>
            <a:off x="366864" y="1475405"/>
            <a:ext cx="363386" cy="18702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BE62039-EF7E-4132-B96F-9D7E2A846CE9}"/>
              </a:ext>
            </a:extLst>
          </p:cNvPr>
          <p:cNvSpPr/>
          <p:nvPr/>
        </p:nvSpPr>
        <p:spPr>
          <a:xfrm>
            <a:off x="5860824" y="3523814"/>
            <a:ext cx="2476726" cy="784402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C8E585-9D9B-4F18-BDF2-184B735AE063}"/>
              </a:ext>
            </a:extLst>
          </p:cNvPr>
          <p:cNvSpPr txBox="1"/>
          <p:nvPr/>
        </p:nvSpPr>
        <p:spPr>
          <a:xfrm>
            <a:off x="6334733" y="4537384"/>
            <a:ext cx="3413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i="1" u="sng" dirty="0">
                <a:solidFill>
                  <a:srgbClr val="00B0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동일한 내역</a:t>
            </a:r>
            <a:endParaRPr lang="en-US" altLang="ko-KR" sz="1600" b="1" i="1" u="sng" dirty="0">
              <a:solidFill>
                <a:srgbClr val="00B0F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 algn="ctr"/>
            <a:r>
              <a:rPr lang="en-US" altLang="ko-KR" sz="1600" b="1" i="1" u="sng" dirty="0">
                <a:solidFill>
                  <a:srgbClr val="00B0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600" b="1" i="1" u="sng" dirty="0">
                <a:solidFill>
                  <a:srgbClr val="00B0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유효한 견적 현황 </a:t>
            </a:r>
            <a:r>
              <a:rPr lang="en-US" altLang="ko-KR" sz="1600" b="1" i="1" u="sng" dirty="0">
                <a:solidFill>
                  <a:srgbClr val="00B0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= </a:t>
            </a:r>
            <a:r>
              <a:rPr lang="ko-KR" altLang="en-US" sz="1600" b="1" i="1" u="sng" dirty="0">
                <a:solidFill>
                  <a:srgbClr val="00B0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새로운 예약 대상 건</a:t>
            </a:r>
            <a:r>
              <a:rPr lang="en-US" altLang="ko-KR" sz="1600" b="1" i="1" u="sng" dirty="0">
                <a:solidFill>
                  <a:srgbClr val="00B0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1600" b="1" i="1" u="sng" dirty="0">
              <a:solidFill>
                <a:srgbClr val="00B0F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AC694BF-B282-4CB0-9B4C-10633A5355EC}"/>
              </a:ext>
            </a:extLst>
          </p:cNvPr>
          <p:cNvGrpSpPr/>
          <p:nvPr/>
        </p:nvGrpSpPr>
        <p:grpSpPr>
          <a:xfrm>
            <a:off x="4451228" y="586526"/>
            <a:ext cx="5296619" cy="2059795"/>
            <a:chOff x="4451228" y="2751227"/>
            <a:chExt cx="5296619" cy="2059795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48AE8C6-D863-4C03-8925-9133D7976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51228" y="2751227"/>
              <a:ext cx="5296619" cy="2059795"/>
            </a:xfrm>
            <a:prstGeom prst="rect">
              <a:avLst/>
            </a:prstGeom>
          </p:spPr>
        </p:pic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142FAD6-0142-431E-B030-502518E4BF9B}"/>
                </a:ext>
              </a:extLst>
            </p:cNvPr>
            <p:cNvSpPr/>
            <p:nvPr/>
          </p:nvSpPr>
          <p:spPr>
            <a:xfrm>
              <a:off x="4622460" y="3866848"/>
              <a:ext cx="5001600" cy="784402"/>
            </a:xfrm>
            <a:prstGeom prst="roundRect">
              <a:avLst>
                <a:gd name="adj" fmla="val 6497"/>
              </a:avLst>
            </a:prstGeom>
            <a:noFill/>
            <a:ln w="28575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89682E9-DB3D-49FD-81D2-E13F653BEA74}"/>
              </a:ext>
            </a:extLst>
          </p:cNvPr>
          <p:cNvCxnSpPr>
            <a:cxnSpLocks/>
          </p:cNvCxnSpPr>
          <p:nvPr/>
        </p:nvCxnSpPr>
        <p:spPr>
          <a:xfrm>
            <a:off x="638822" y="1346279"/>
            <a:ext cx="3744000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6961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02D1C7-E1AF-4151-B24A-62D0213CD402}"/>
              </a:ext>
            </a:extLst>
          </p:cNvPr>
          <p:cNvSpPr txBox="1"/>
          <p:nvPr/>
        </p:nvSpPr>
        <p:spPr>
          <a:xfrm>
            <a:off x="65521" y="66231"/>
            <a:ext cx="5923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03.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 후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홈 화면 상세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(5/5) –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나의 현황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(2/4)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EACE0A-A926-4EC5-86A8-16C75604C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2" y="719505"/>
            <a:ext cx="4129353" cy="112654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145F2D-77E6-4FB9-994B-1C84286EE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22" y="2196945"/>
            <a:ext cx="9533878" cy="3941550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4A110A3-846E-4F20-8881-6889BE42783C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1409617" y="1394973"/>
            <a:ext cx="0" cy="723387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DB777BD-3873-4027-94A2-54EFAECBA151}"/>
              </a:ext>
            </a:extLst>
          </p:cNvPr>
          <p:cNvSpPr/>
          <p:nvPr/>
        </p:nvSpPr>
        <p:spPr>
          <a:xfrm>
            <a:off x="1227924" y="1207948"/>
            <a:ext cx="363386" cy="18702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404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02D1C7-E1AF-4151-B24A-62D0213CD402}"/>
              </a:ext>
            </a:extLst>
          </p:cNvPr>
          <p:cNvSpPr txBox="1"/>
          <p:nvPr/>
        </p:nvSpPr>
        <p:spPr>
          <a:xfrm>
            <a:off x="65521" y="66231"/>
            <a:ext cx="5923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03.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 후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홈 화면 상세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(5/5) –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나의 현황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(3/4)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EACE0A-A926-4EC5-86A8-16C75604C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2" y="719505"/>
            <a:ext cx="4129353" cy="11265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1840FBE-A5F4-474A-AA14-16399CF9F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22" y="2196945"/>
            <a:ext cx="9533878" cy="3912894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92D05AE-57AE-4BD3-A92F-2F8526E9657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354497" y="1394973"/>
            <a:ext cx="0" cy="723387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1B26C42-DC08-4D12-A29B-2EB0967101A7}"/>
              </a:ext>
            </a:extLst>
          </p:cNvPr>
          <p:cNvSpPr/>
          <p:nvPr/>
        </p:nvSpPr>
        <p:spPr>
          <a:xfrm>
            <a:off x="2172804" y="1207948"/>
            <a:ext cx="363386" cy="18702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146F769-867A-4F67-AF20-37006C7B5B18}"/>
              </a:ext>
            </a:extLst>
          </p:cNvPr>
          <p:cNvSpPr/>
          <p:nvPr/>
        </p:nvSpPr>
        <p:spPr>
          <a:xfrm>
            <a:off x="312724" y="4478565"/>
            <a:ext cx="1639685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선적 구분</a:t>
            </a:r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endParaRPr lang="en-US" altLang="ko-KR" sz="1100" b="1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첼로스퀘어 선적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타사 선적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첼로스퀘어 선적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_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파트너</a:t>
            </a:r>
            <a:endParaRPr lang="ko-KR" altLang="en-US" sz="1100" b="0" i="0" dirty="0">
              <a:solidFill>
                <a:srgbClr val="333333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B5551FA-47F0-47CD-8BBE-9F343F471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962" y="4478565"/>
            <a:ext cx="163968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364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02D1C7-E1AF-4151-B24A-62D0213CD402}"/>
              </a:ext>
            </a:extLst>
          </p:cNvPr>
          <p:cNvSpPr txBox="1"/>
          <p:nvPr/>
        </p:nvSpPr>
        <p:spPr>
          <a:xfrm>
            <a:off x="65521" y="66231"/>
            <a:ext cx="5923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03.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 후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홈 화면 상세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(5/5) –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나의 현황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(4/4)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EACE0A-A926-4EC5-86A8-16C75604C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22" y="719505"/>
            <a:ext cx="4129353" cy="11265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4042FE-67E4-4ED9-9889-09ED4F457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22" y="2196945"/>
            <a:ext cx="9533878" cy="3912894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CDAE1BE-ADD6-420C-8FC0-7AFB6606680E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306997" y="1394973"/>
            <a:ext cx="0" cy="723387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E44B655-4BD9-4BB7-B547-77E858FA6AE7}"/>
              </a:ext>
            </a:extLst>
          </p:cNvPr>
          <p:cNvSpPr/>
          <p:nvPr/>
        </p:nvSpPr>
        <p:spPr>
          <a:xfrm>
            <a:off x="3125304" y="1207948"/>
            <a:ext cx="363386" cy="18702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30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ADB806C-6F34-FA3D-F3C6-E9D48D6F5A2A}"/>
              </a:ext>
            </a:extLst>
          </p:cNvPr>
          <p:cNvGrpSpPr>
            <a:grpSpLocks noChangeAspect="1"/>
          </p:cNvGrpSpPr>
          <p:nvPr/>
        </p:nvGrpSpPr>
        <p:grpSpPr>
          <a:xfrm>
            <a:off x="1184565" y="1420442"/>
            <a:ext cx="3768435" cy="4928820"/>
            <a:chOff x="146649" y="719505"/>
            <a:chExt cx="4406307" cy="576310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4481681-C012-07A1-3D4C-711D5C3C3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649" y="3241672"/>
              <a:ext cx="4406307" cy="324094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B2A27D-9B72-9ABA-E54F-6FA017A99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650" y="719505"/>
              <a:ext cx="4403299" cy="25221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24519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4E45B264-ADEF-4178-9625-0ED96E0DFBA4}"/>
              </a:ext>
            </a:extLst>
          </p:cNvPr>
          <p:cNvGrpSpPr>
            <a:grpSpLocks noChangeAspect="1"/>
          </p:cNvGrpSpPr>
          <p:nvPr/>
        </p:nvGrpSpPr>
        <p:grpSpPr>
          <a:xfrm>
            <a:off x="146649" y="719506"/>
            <a:ext cx="3768435" cy="4928820"/>
            <a:chOff x="146649" y="719505"/>
            <a:chExt cx="4406307" cy="5763107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E7FC620C-6507-40EF-B31C-384A510A7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649" y="3241672"/>
              <a:ext cx="4406307" cy="324094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E3A311D-47B8-4499-990B-A85512CD5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650" y="719505"/>
              <a:ext cx="4403299" cy="252216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D9E4A33-16A7-4337-BE57-9D04D913310C}"/>
              </a:ext>
            </a:extLst>
          </p:cNvPr>
          <p:cNvSpPr txBox="1"/>
          <p:nvPr/>
        </p:nvSpPr>
        <p:spPr>
          <a:xfrm>
            <a:off x="65521" y="66231"/>
            <a:ext cx="3724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04.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 설정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–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추가 정보 입력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A5B37AC-14EB-4198-BEE7-1DB51046A4ED}"/>
              </a:ext>
            </a:extLst>
          </p:cNvPr>
          <p:cNvGrpSpPr/>
          <p:nvPr/>
        </p:nvGrpSpPr>
        <p:grpSpPr>
          <a:xfrm>
            <a:off x="5560486" y="719505"/>
            <a:ext cx="3963214" cy="5922835"/>
            <a:chOff x="5120401" y="719505"/>
            <a:chExt cx="4170248" cy="621916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FA0F4E6-C37E-4475-87D0-9744A7EDC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20401" y="719505"/>
              <a:ext cx="4170248" cy="341367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DCEC3EF-1BAF-4CDF-8252-A83EDDF42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23408" y="4133183"/>
              <a:ext cx="4167241" cy="2805487"/>
            </a:xfrm>
            <a:prstGeom prst="rect">
              <a:avLst/>
            </a:prstGeom>
          </p:spPr>
        </p:pic>
      </p:grp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B532440-CA98-45B2-AA7E-F670757CC7EE}"/>
              </a:ext>
            </a:extLst>
          </p:cNvPr>
          <p:cNvSpPr/>
          <p:nvPr/>
        </p:nvSpPr>
        <p:spPr>
          <a:xfrm>
            <a:off x="129398" y="866775"/>
            <a:ext cx="3775852" cy="885826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09416F1-5FE9-4CEA-91DB-EF8751F5E511}"/>
              </a:ext>
            </a:extLst>
          </p:cNvPr>
          <p:cNvCxnSpPr>
            <a:cxnSpLocks/>
          </p:cNvCxnSpPr>
          <p:nvPr/>
        </p:nvCxnSpPr>
        <p:spPr>
          <a:xfrm>
            <a:off x="3905250" y="1291805"/>
            <a:ext cx="1579036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7F37A94-CC1F-41DB-BEB1-52A5DF6F791D}"/>
              </a:ext>
            </a:extLst>
          </p:cNvPr>
          <p:cNvSpPr/>
          <p:nvPr/>
        </p:nvSpPr>
        <p:spPr>
          <a:xfrm>
            <a:off x="3789617" y="112397"/>
            <a:ext cx="4089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u="sng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03.</a:t>
            </a:r>
            <a:r>
              <a:rPr lang="ko-KR" altLang="en-US" b="1" u="sng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 후</a:t>
            </a:r>
            <a:r>
              <a:rPr lang="en-US" altLang="ko-KR" b="1" u="sng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b="1" u="sng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홈 화면 상세 </a:t>
            </a:r>
            <a:r>
              <a:rPr lang="en-US" altLang="ko-KR" b="1" u="sng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(4/5)</a:t>
            </a:r>
            <a:r>
              <a:rPr lang="ko-KR" altLang="en-US" b="1" u="sng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과 동일 화면</a:t>
            </a:r>
          </a:p>
        </p:txBody>
      </p:sp>
    </p:spTree>
    <p:extLst>
      <p:ext uri="{BB962C8B-B14F-4D97-AF65-F5344CB8AC3E}">
        <p14:creationId xmlns:p14="http://schemas.microsoft.com/office/powerpoint/2010/main" val="42923079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D179A0E-8857-4AA2-9CA4-00C0F7836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339" y="4632723"/>
            <a:ext cx="2930330" cy="20312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9E4A33-16A7-4337-BE57-9D04D913310C}"/>
              </a:ext>
            </a:extLst>
          </p:cNvPr>
          <p:cNvSpPr txBox="1"/>
          <p:nvPr/>
        </p:nvSpPr>
        <p:spPr>
          <a:xfrm>
            <a:off x="65521" y="66231"/>
            <a:ext cx="3114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04.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 설정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–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 정보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F1BDFDF-B9A1-4972-961B-432745245093}"/>
              </a:ext>
            </a:extLst>
          </p:cNvPr>
          <p:cNvGrpSpPr>
            <a:grpSpLocks noChangeAspect="1"/>
          </p:cNvGrpSpPr>
          <p:nvPr/>
        </p:nvGrpSpPr>
        <p:grpSpPr>
          <a:xfrm>
            <a:off x="146649" y="719506"/>
            <a:ext cx="3768435" cy="4928820"/>
            <a:chOff x="146649" y="719505"/>
            <a:chExt cx="4406307" cy="576310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886389F-7C51-4B4C-96C8-B5F906378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649" y="3241672"/>
              <a:ext cx="4406307" cy="324094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FA120B1-252E-446C-9121-694ADCB77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6650" y="719505"/>
              <a:ext cx="4403299" cy="2522167"/>
            </a:xfrm>
            <a:prstGeom prst="rect">
              <a:avLst/>
            </a:prstGeom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FD95CC31-C8CE-48D1-AF84-9C1F45D97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6784" y="2876556"/>
            <a:ext cx="2910577" cy="28239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AC0BBCB-D381-4808-929C-8539017F8B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5339" y="344550"/>
            <a:ext cx="5860661" cy="2436455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A5423F1-019E-4B13-9108-470CFE615CF9}"/>
              </a:ext>
            </a:extLst>
          </p:cNvPr>
          <p:cNvSpPr/>
          <p:nvPr/>
        </p:nvSpPr>
        <p:spPr>
          <a:xfrm>
            <a:off x="119873" y="1933024"/>
            <a:ext cx="1261252" cy="96257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4117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E4A33-16A7-4337-BE57-9D04D913310C}"/>
              </a:ext>
            </a:extLst>
          </p:cNvPr>
          <p:cNvSpPr txBox="1"/>
          <p:nvPr/>
        </p:nvSpPr>
        <p:spPr>
          <a:xfrm>
            <a:off x="65521" y="66231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04.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 설정 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–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비밀번호 재설정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3B795A8-80C5-483E-BF3E-9D2CA8065505}"/>
              </a:ext>
            </a:extLst>
          </p:cNvPr>
          <p:cNvGrpSpPr>
            <a:grpSpLocks noChangeAspect="1"/>
          </p:cNvGrpSpPr>
          <p:nvPr/>
        </p:nvGrpSpPr>
        <p:grpSpPr>
          <a:xfrm>
            <a:off x="146649" y="719506"/>
            <a:ext cx="3768435" cy="4928820"/>
            <a:chOff x="146649" y="719505"/>
            <a:chExt cx="4406307" cy="576310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E8B3842-2E47-413A-8F87-68032563A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649" y="3241672"/>
              <a:ext cx="4406307" cy="324094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A8989F3-8CA1-400A-A1F8-16205FA30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650" y="719505"/>
              <a:ext cx="4403299" cy="2522167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FC351CAE-0183-474D-AD93-E00C5A34B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525" y="726072"/>
            <a:ext cx="5558825" cy="19916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7B37D6D-293E-4DBA-8D13-4D5278F34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525" y="3656709"/>
            <a:ext cx="5558826" cy="2377267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F7DF91D-7B40-4999-A58F-11ECAA2FAD56}"/>
              </a:ext>
            </a:extLst>
          </p:cNvPr>
          <p:cNvSpPr/>
          <p:nvPr/>
        </p:nvSpPr>
        <p:spPr>
          <a:xfrm>
            <a:off x="1386804" y="1933024"/>
            <a:ext cx="1261252" cy="96257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68F5CE5-DAE7-4A41-BD10-6BC60B37F5E3}"/>
              </a:ext>
            </a:extLst>
          </p:cNvPr>
          <p:cNvSpPr/>
          <p:nvPr/>
        </p:nvSpPr>
        <p:spPr>
          <a:xfrm>
            <a:off x="2708088" y="1933024"/>
            <a:ext cx="1261252" cy="96257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4D91176-E03A-4974-8F1F-87B4C03B8E7A}"/>
              </a:ext>
            </a:extLst>
          </p:cNvPr>
          <p:cNvSpPr/>
          <p:nvPr/>
        </p:nvSpPr>
        <p:spPr>
          <a:xfrm>
            <a:off x="5908488" y="4364054"/>
            <a:ext cx="997137" cy="1517521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D5AFC-91D3-4FD7-8473-6213CAFABBCE}"/>
              </a:ext>
            </a:extLst>
          </p:cNvPr>
          <p:cNvSpPr txBox="1"/>
          <p:nvPr/>
        </p:nvSpPr>
        <p:spPr>
          <a:xfrm>
            <a:off x="5729629" y="6004145"/>
            <a:ext cx="1354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i="1" u="sng" dirty="0">
                <a:solidFill>
                  <a:srgbClr val="00B0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약관 확인 가능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9C7C40A-09A0-42CF-96A7-C958D0B812AE}"/>
              </a:ext>
            </a:extLst>
          </p:cNvPr>
          <p:cNvCxnSpPr>
            <a:cxnSpLocks/>
            <a:stCxn id="11" idx="2"/>
            <a:endCxn id="4" idx="1"/>
          </p:cNvCxnSpPr>
          <p:nvPr/>
        </p:nvCxnSpPr>
        <p:spPr>
          <a:xfrm rot="16200000" flipH="1">
            <a:off x="2794747" y="3439565"/>
            <a:ext cx="1949744" cy="861811"/>
          </a:xfrm>
          <a:prstGeom prst="bentConnector2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33273252-3D6B-4AC7-A6D7-CA201E6792BE}"/>
              </a:ext>
            </a:extLst>
          </p:cNvPr>
          <p:cNvCxnSpPr>
            <a:cxnSpLocks/>
            <a:stCxn id="10" idx="0"/>
            <a:endCxn id="3" idx="1"/>
          </p:cNvCxnSpPr>
          <p:nvPr/>
        </p:nvCxnSpPr>
        <p:spPr>
          <a:xfrm rot="5400000" flipH="1" flipV="1">
            <a:off x="3003406" y="735906"/>
            <a:ext cx="211143" cy="2183095"/>
          </a:xfrm>
          <a:prstGeom prst="bentConnector2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DF682EB-F188-471F-9D7F-1FEF196455C7}"/>
              </a:ext>
            </a:extLst>
          </p:cNvPr>
          <p:cNvSpPr txBox="1"/>
          <p:nvPr/>
        </p:nvSpPr>
        <p:spPr>
          <a:xfrm>
            <a:off x="8044205" y="4364054"/>
            <a:ext cx="1354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i="1" u="sng" dirty="0">
                <a:solidFill>
                  <a:srgbClr val="00B0F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동의 철회 가능</a:t>
            </a:r>
          </a:p>
        </p:txBody>
      </p:sp>
    </p:spTree>
    <p:extLst>
      <p:ext uri="{BB962C8B-B14F-4D97-AF65-F5344CB8AC3E}">
        <p14:creationId xmlns:p14="http://schemas.microsoft.com/office/powerpoint/2010/main" val="4513418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E4A33-16A7-4337-BE57-9D04D913310C}"/>
              </a:ext>
            </a:extLst>
          </p:cNvPr>
          <p:cNvSpPr txBox="1"/>
          <p:nvPr/>
        </p:nvSpPr>
        <p:spPr>
          <a:xfrm>
            <a:off x="65521" y="66231"/>
            <a:ext cx="1685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04.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 설정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06D2C69-E87E-4904-85AE-84D07328E9DA}"/>
              </a:ext>
            </a:extLst>
          </p:cNvPr>
          <p:cNvGrpSpPr>
            <a:grpSpLocks noChangeAspect="1"/>
          </p:cNvGrpSpPr>
          <p:nvPr/>
        </p:nvGrpSpPr>
        <p:grpSpPr>
          <a:xfrm>
            <a:off x="146649" y="719506"/>
            <a:ext cx="3768435" cy="4928820"/>
            <a:chOff x="146649" y="719505"/>
            <a:chExt cx="4406307" cy="576310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BCB4639-F2F1-42CE-AF6E-2037056F5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649" y="3241672"/>
              <a:ext cx="4406307" cy="324094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4A867EF-9FBC-4119-84D6-622EBFE37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650" y="719505"/>
              <a:ext cx="4403299" cy="2522167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789A85AC-7171-49A2-8AE5-3C996D332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525" y="719506"/>
            <a:ext cx="5558825" cy="249567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86A7DA0-FEBD-4BD3-86B9-E1FAA89B8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525" y="3329484"/>
            <a:ext cx="2856696" cy="330944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0362D6-36C3-4A38-A621-74C740C62B12}"/>
              </a:ext>
            </a:extLst>
          </p:cNvPr>
          <p:cNvSpPr/>
          <p:nvPr/>
        </p:nvSpPr>
        <p:spPr>
          <a:xfrm>
            <a:off x="7236317" y="3845559"/>
            <a:ext cx="1370881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[</a:t>
            </a:r>
            <a:r>
              <a:rPr lang="ko-KR" altLang="en-US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업종  선택</a:t>
            </a:r>
            <a:r>
              <a:rPr lang="en-US" altLang="ko-KR" sz="1100" b="1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]</a:t>
            </a:r>
          </a:p>
          <a:p>
            <a:endParaRPr lang="en-US" altLang="ko-KR" sz="1100" b="1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가구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인테리어자재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산업장비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식음료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소비재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자동차부품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전기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전자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철강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금속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패션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악세서리</a:t>
            </a:r>
          </a:p>
          <a:p>
            <a:r>
              <a:rPr lang="ko-KR" altLang="en-US" sz="1100" dirty="0" err="1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화장품미용</a:t>
            </a:r>
            <a:endParaRPr lang="ko-KR" altLang="en-US" sz="1100" dirty="0">
              <a:solidFill>
                <a:srgbClr val="333333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화학</a:t>
            </a:r>
            <a:r>
              <a:rPr lang="en-US" altLang="ko-KR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제약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물류</a:t>
            </a:r>
          </a:p>
          <a:p>
            <a:r>
              <a:rPr lang="ko-KR" altLang="en-US" sz="1100" dirty="0">
                <a:solidFill>
                  <a:srgbClr val="333333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기타</a:t>
            </a:r>
            <a:endParaRPr lang="ko-KR" altLang="en-US" sz="1100" b="0" i="0" dirty="0">
              <a:solidFill>
                <a:srgbClr val="333333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E7AA9C1-B734-4950-8ED1-D2D18086DCF9}"/>
              </a:ext>
            </a:extLst>
          </p:cNvPr>
          <p:cNvSpPr/>
          <p:nvPr/>
        </p:nvSpPr>
        <p:spPr>
          <a:xfrm>
            <a:off x="126813" y="2847424"/>
            <a:ext cx="1261252" cy="96257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1C7294C3-CE2A-4E5B-8324-A70B0E247102}"/>
              </a:ext>
            </a:extLst>
          </p:cNvPr>
          <p:cNvCxnSpPr>
            <a:cxnSpLocks/>
            <a:stCxn id="12" idx="0"/>
            <a:endCxn id="3" idx="1"/>
          </p:cNvCxnSpPr>
          <p:nvPr/>
        </p:nvCxnSpPr>
        <p:spPr>
          <a:xfrm rot="5400000" flipH="1" flipV="1">
            <a:off x="2038943" y="685842"/>
            <a:ext cx="880079" cy="3443086"/>
          </a:xfrm>
          <a:prstGeom prst="bentConnector2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2045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E4A33-16A7-4337-BE57-9D04D913310C}"/>
              </a:ext>
            </a:extLst>
          </p:cNvPr>
          <p:cNvSpPr txBox="1"/>
          <p:nvPr/>
        </p:nvSpPr>
        <p:spPr>
          <a:xfrm>
            <a:off x="65521" y="66231"/>
            <a:ext cx="1685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04.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 설정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06D2C69-E87E-4904-85AE-84D07328E9DA}"/>
              </a:ext>
            </a:extLst>
          </p:cNvPr>
          <p:cNvGrpSpPr>
            <a:grpSpLocks noChangeAspect="1"/>
          </p:cNvGrpSpPr>
          <p:nvPr/>
        </p:nvGrpSpPr>
        <p:grpSpPr>
          <a:xfrm>
            <a:off x="146649" y="719506"/>
            <a:ext cx="3768435" cy="4928820"/>
            <a:chOff x="146649" y="719505"/>
            <a:chExt cx="4406307" cy="576310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BCB4639-F2F1-42CE-AF6E-2037056F5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649" y="3241672"/>
              <a:ext cx="4406307" cy="324094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4A867EF-9FBC-4119-84D6-622EBFE37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650" y="719505"/>
              <a:ext cx="4403299" cy="2522167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55F2F3A-A9F0-4A7C-9AD8-53F37BFF8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699" y="719506"/>
            <a:ext cx="5682651" cy="130461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DC10E22-BCAD-4C0A-92C1-3E53FA8D5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699" y="2190750"/>
            <a:ext cx="2905125" cy="3086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360C56-2E99-4D92-9470-81F944B94E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539" y="3031331"/>
            <a:ext cx="2690811" cy="795337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27DB5FE-406A-4B63-8C18-9FAFB2AA1943}"/>
              </a:ext>
            </a:extLst>
          </p:cNvPr>
          <p:cNvSpPr/>
          <p:nvPr/>
        </p:nvSpPr>
        <p:spPr>
          <a:xfrm>
            <a:off x="2651260" y="2847424"/>
            <a:ext cx="1261252" cy="96257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9A6BB4F6-FE01-40F8-B069-EA2FCE554F60}"/>
              </a:ext>
            </a:extLst>
          </p:cNvPr>
          <p:cNvCxnSpPr>
            <a:cxnSpLocks/>
            <a:stCxn id="10" idx="0"/>
            <a:endCxn id="3" idx="1"/>
          </p:cNvCxnSpPr>
          <p:nvPr/>
        </p:nvCxnSpPr>
        <p:spPr>
          <a:xfrm rot="5400000" flipH="1" flipV="1">
            <a:off x="2941487" y="1712213"/>
            <a:ext cx="1475611" cy="794813"/>
          </a:xfrm>
          <a:prstGeom prst="bentConnector2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2317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E4A33-16A7-4337-BE57-9D04D913310C}"/>
              </a:ext>
            </a:extLst>
          </p:cNvPr>
          <p:cNvSpPr txBox="1"/>
          <p:nvPr/>
        </p:nvSpPr>
        <p:spPr>
          <a:xfrm>
            <a:off x="65521" y="66231"/>
            <a:ext cx="1685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04.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 설정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06D2C69-E87E-4904-85AE-84D07328E9DA}"/>
              </a:ext>
            </a:extLst>
          </p:cNvPr>
          <p:cNvGrpSpPr>
            <a:grpSpLocks noChangeAspect="1"/>
          </p:cNvGrpSpPr>
          <p:nvPr/>
        </p:nvGrpSpPr>
        <p:grpSpPr>
          <a:xfrm>
            <a:off x="146649" y="719506"/>
            <a:ext cx="3768435" cy="4928820"/>
            <a:chOff x="146649" y="719505"/>
            <a:chExt cx="4406307" cy="576310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BCB4639-F2F1-42CE-AF6E-2037056F5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649" y="3241672"/>
              <a:ext cx="4406307" cy="324094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4A867EF-9FBC-4119-84D6-622EBFE37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650" y="719505"/>
              <a:ext cx="4403299" cy="2522167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E3025B77-5C7E-427C-A208-BCB19333F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4" y="719506"/>
            <a:ext cx="2295525" cy="16806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2B24ED3-8725-4A16-B40C-9953B11AB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3867" y="2566076"/>
            <a:ext cx="5505450" cy="23346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6C4A218-5E01-4474-AD6E-EB206DCD7C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6685" y="4341487"/>
            <a:ext cx="2690766" cy="2271712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25C354A-4F56-433B-811B-1A01523C104F}"/>
              </a:ext>
            </a:extLst>
          </p:cNvPr>
          <p:cNvSpPr/>
          <p:nvPr/>
        </p:nvSpPr>
        <p:spPr>
          <a:xfrm>
            <a:off x="108085" y="3780874"/>
            <a:ext cx="1261252" cy="96257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2F49CBA3-3F2A-4957-B657-E77BD2BF7B86}"/>
              </a:ext>
            </a:extLst>
          </p:cNvPr>
          <p:cNvCxnSpPr>
            <a:cxnSpLocks/>
            <a:stCxn id="11" idx="0"/>
            <a:endCxn id="3" idx="1"/>
          </p:cNvCxnSpPr>
          <p:nvPr/>
        </p:nvCxnSpPr>
        <p:spPr>
          <a:xfrm rot="5400000" flipH="1" flipV="1">
            <a:off x="1416246" y="882297"/>
            <a:ext cx="2221042" cy="3576113"/>
          </a:xfrm>
          <a:prstGeom prst="bentConnector2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A6B0676-A8ED-46D8-8114-517BABD467C2}"/>
              </a:ext>
            </a:extLst>
          </p:cNvPr>
          <p:cNvSpPr/>
          <p:nvPr/>
        </p:nvSpPr>
        <p:spPr>
          <a:xfrm>
            <a:off x="1423714" y="3780874"/>
            <a:ext cx="1261252" cy="962575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4ACF7381-C180-44E4-93F6-65D6D09454FF}"/>
              </a:ext>
            </a:extLst>
          </p:cNvPr>
          <p:cNvCxnSpPr>
            <a:cxnSpLocks/>
            <a:stCxn id="14" idx="3"/>
            <a:endCxn id="5" idx="1"/>
          </p:cNvCxnSpPr>
          <p:nvPr/>
        </p:nvCxnSpPr>
        <p:spPr>
          <a:xfrm flipV="1">
            <a:off x="2684966" y="3733408"/>
            <a:ext cx="1398901" cy="528754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54DDB8A-F2B0-4FA7-8FFB-4BA942063730}"/>
              </a:ext>
            </a:extLst>
          </p:cNvPr>
          <p:cNvGrpSpPr>
            <a:grpSpLocks noChangeAspect="1"/>
          </p:cNvGrpSpPr>
          <p:nvPr/>
        </p:nvGrpSpPr>
        <p:grpSpPr>
          <a:xfrm>
            <a:off x="7507054" y="244801"/>
            <a:ext cx="2290397" cy="3422890"/>
            <a:chOff x="5120401" y="719505"/>
            <a:chExt cx="4170248" cy="6219165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684A5B6-8004-4A8B-8402-AA6828BCB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20401" y="719505"/>
              <a:ext cx="4170248" cy="3413678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30BFCAE-0197-49CF-A594-9C6D2EE0F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23408" y="4133183"/>
              <a:ext cx="4167241" cy="2805487"/>
            </a:xfrm>
            <a:prstGeom prst="rect">
              <a:avLst/>
            </a:prstGeom>
          </p:spPr>
        </p:pic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4FA763E-5375-4909-A5EA-8C42891B7F7F}"/>
              </a:ext>
            </a:extLst>
          </p:cNvPr>
          <p:cNvSpPr/>
          <p:nvPr/>
        </p:nvSpPr>
        <p:spPr>
          <a:xfrm>
            <a:off x="6470464" y="4354530"/>
            <a:ext cx="663762" cy="207946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7586E4A-9F3A-4036-A2FB-1B29802F6A4D}"/>
              </a:ext>
            </a:extLst>
          </p:cNvPr>
          <p:cNvSpPr/>
          <p:nvPr/>
        </p:nvSpPr>
        <p:spPr>
          <a:xfrm>
            <a:off x="6470464" y="4624421"/>
            <a:ext cx="663762" cy="157129"/>
          </a:xfrm>
          <a:prstGeom prst="roundRect">
            <a:avLst>
              <a:gd name="adj" fmla="val 6497"/>
            </a:avLst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5EE60025-CBA8-487C-985A-F11FF616EA88}"/>
              </a:ext>
            </a:extLst>
          </p:cNvPr>
          <p:cNvCxnSpPr>
            <a:cxnSpLocks/>
            <a:stCxn id="21" idx="0"/>
            <a:endCxn id="19" idx="1"/>
          </p:cNvCxnSpPr>
          <p:nvPr/>
        </p:nvCxnSpPr>
        <p:spPr>
          <a:xfrm rot="5400000" flipH="1" flipV="1">
            <a:off x="5569538" y="2417015"/>
            <a:ext cx="3170323" cy="704709"/>
          </a:xfrm>
          <a:prstGeom prst="bentConnector2">
            <a:avLst/>
          </a:prstGeom>
          <a:ln w="28575">
            <a:solidFill>
              <a:srgbClr val="00B0F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A3E247F8-1E49-4411-BDE3-A812EA8E5568}"/>
              </a:ext>
            </a:extLst>
          </p:cNvPr>
          <p:cNvCxnSpPr>
            <a:cxnSpLocks/>
            <a:stCxn id="22" idx="2"/>
            <a:endCxn id="10" idx="1"/>
          </p:cNvCxnSpPr>
          <p:nvPr/>
        </p:nvCxnSpPr>
        <p:spPr>
          <a:xfrm rot="16200000" flipH="1">
            <a:off x="6606619" y="4977276"/>
            <a:ext cx="695793" cy="304340"/>
          </a:xfrm>
          <a:prstGeom prst="bentConnector2">
            <a:avLst/>
          </a:prstGeom>
          <a:ln w="28575">
            <a:solidFill>
              <a:srgbClr val="00B0F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3771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72973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68835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9648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화면 설계 </a:t>
            </a:r>
            <a:r>
              <a:rPr lang="en-US" altLang="ko-KR" dirty="0"/>
              <a:t>(UI/UX)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7F3F07-0C19-D211-5E96-1721D3EB4D73}"/>
              </a:ext>
            </a:extLst>
          </p:cNvPr>
          <p:cNvSpPr/>
          <p:nvPr/>
        </p:nvSpPr>
        <p:spPr>
          <a:xfrm>
            <a:off x="182880" y="1100851"/>
            <a:ext cx="7272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6AD62-FF94-B096-F05C-5ED22EA37084}"/>
              </a:ext>
            </a:extLst>
          </p:cNvPr>
          <p:cNvSpPr/>
          <p:nvPr/>
        </p:nvSpPr>
        <p:spPr>
          <a:xfrm>
            <a:off x="7563120" y="1100851"/>
            <a:ext cx="2160000" cy="5587331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②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③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④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⑤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⑥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⑦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300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⑧</a:t>
            </a:r>
            <a:endParaRPr lang="en-US" altLang="ko-KR" sz="1300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BB383-05D2-C408-3032-E0F475AD102F}"/>
              </a:ext>
            </a:extLst>
          </p:cNvPr>
          <p:cNvSpPr/>
          <p:nvPr/>
        </p:nvSpPr>
        <p:spPr>
          <a:xfrm>
            <a:off x="182879" y="731519"/>
            <a:ext cx="1080000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</a:t>
            </a:r>
            <a:r>
              <a:rPr lang="en-US" altLang="ko-KR" sz="1300" b="1" u="sng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NO.</a:t>
            </a:r>
            <a:endParaRPr lang="ko-KR" altLang="en-US" sz="1300" b="1" u="sng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A1913C-586E-4E19-F335-4FF4124A6B71}"/>
              </a:ext>
            </a:extLst>
          </p:cNvPr>
          <p:cNvSpPr/>
          <p:nvPr/>
        </p:nvSpPr>
        <p:spPr>
          <a:xfrm>
            <a:off x="7563120" y="731519"/>
            <a:ext cx="2160000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u="sng" dirty="0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F8D39E-E5CC-26B7-FDA6-2CCC5B0A3922}"/>
              </a:ext>
            </a:extLst>
          </p:cNvPr>
          <p:cNvSpPr/>
          <p:nvPr/>
        </p:nvSpPr>
        <p:spPr>
          <a:xfrm>
            <a:off x="1262879" y="731519"/>
            <a:ext cx="6192001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u="sng" dirty="0" err="1">
                <a:solidFill>
                  <a:sysClr val="windowText" lastClr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화면명</a:t>
            </a:r>
            <a:endParaRPr lang="ko-KR" altLang="en-US" sz="1300" b="1" u="sng" dirty="0">
              <a:solidFill>
                <a:sysClr val="windowText" lastClr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560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E7D223-2D12-35B3-C0B4-A277E7597DE5}"/>
              </a:ext>
            </a:extLst>
          </p:cNvPr>
          <p:cNvSpPr txBox="1"/>
          <p:nvPr/>
        </p:nvSpPr>
        <p:spPr>
          <a:xfrm>
            <a:off x="321013" y="405930"/>
            <a:ext cx="1213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cap="all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Index</a:t>
            </a:r>
            <a:endParaRPr lang="ko-KR" altLang="en-US" sz="3200" b="1" cap="all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9F814B-CE26-21CD-0634-EE3C23F37ACA}"/>
              </a:ext>
            </a:extLst>
          </p:cNvPr>
          <p:cNvCxnSpPr>
            <a:cxnSpLocks/>
          </p:cNvCxnSpPr>
          <p:nvPr/>
        </p:nvCxnSpPr>
        <p:spPr>
          <a:xfrm>
            <a:off x="1534807" y="698318"/>
            <a:ext cx="799613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3674938-EFDF-82D4-3DB4-D55A81BD786D}"/>
              </a:ext>
            </a:extLst>
          </p:cNvPr>
          <p:cNvSpPr txBox="1"/>
          <p:nvPr/>
        </p:nvSpPr>
        <p:spPr>
          <a:xfrm>
            <a:off x="410135" y="1283093"/>
            <a:ext cx="407675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Business Model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Business Flowchart (Process)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UML Diagram (Scenario)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설계 </a:t>
            </a: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(UI/UX)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5. </a:t>
            </a:r>
            <a:r>
              <a:rPr lang="ko-KR" altLang="en-US" sz="2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 구성도</a:t>
            </a:r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6. ERD</a:t>
            </a:r>
            <a:endParaRPr lang="ko-KR" altLang="en-US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84FF3B0-9F04-EB49-46D3-30C135F72B85}"/>
              </a:ext>
            </a:extLst>
          </p:cNvPr>
          <p:cNvSpPr/>
          <p:nvPr/>
        </p:nvSpPr>
        <p:spPr>
          <a:xfrm>
            <a:off x="407972" y="4139084"/>
            <a:ext cx="4166746" cy="5847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50269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2890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 전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홈 화면 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5. </a:t>
            </a:r>
            <a:r>
              <a:rPr lang="ko-KR" altLang="en-US" dirty="0"/>
              <a:t>메뉴 구성도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E7DA150-E99E-EECC-2311-851D45C6F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984865"/>
              </p:ext>
            </p:extLst>
          </p:nvPr>
        </p:nvGraphicFramePr>
        <p:xfrm>
          <a:off x="148616" y="699346"/>
          <a:ext cx="9616028" cy="598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83">
                  <a:extLst>
                    <a:ext uri="{9D8B030D-6E8A-4147-A177-3AD203B41FA5}">
                      <a16:colId xmlns:a16="http://schemas.microsoft.com/office/drawing/2014/main" val="3690871553"/>
                    </a:ext>
                  </a:extLst>
                </a:gridCol>
                <a:gridCol w="1187221">
                  <a:extLst>
                    <a:ext uri="{9D8B030D-6E8A-4147-A177-3AD203B41FA5}">
                      <a16:colId xmlns:a16="http://schemas.microsoft.com/office/drawing/2014/main" val="2260689197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1117800617"/>
                    </a:ext>
                  </a:extLst>
                </a:gridCol>
                <a:gridCol w="1182225">
                  <a:extLst>
                    <a:ext uri="{9D8B030D-6E8A-4147-A177-3AD203B41FA5}">
                      <a16:colId xmlns:a16="http://schemas.microsoft.com/office/drawing/2014/main" val="3898417606"/>
                    </a:ext>
                  </a:extLst>
                </a:gridCol>
                <a:gridCol w="4071379">
                  <a:extLst>
                    <a:ext uri="{9D8B030D-6E8A-4147-A177-3AD203B41FA5}">
                      <a16:colId xmlns:a16="http://schemas.microsoft.com/office/drawing/2014/main" val="3417669751"/>
                    </a:ext>
                  </a:extLst>
                </a:gridCol>
              </a:tblGrid>
              <a:tr h="21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1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2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3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Type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Description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276987"/>
                  </a:ext>
                </a:extLst>
              </a:tr>
              <a:tr h="212882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상단 </a:t>
                      </a:r>
                      <a:r>
                        <a:rPr lang="ko-KR" altLang="en-US" sz="14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메뉴</a:t>
                      </a: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공지 사항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Rolling Banner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 공지 사항 출력 → 선택 시 상세 공지 내용으로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338357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로그인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로그인 페이지로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296321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회원 가입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회원 가입 페이지로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136303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언어 선택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Drop Down List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한국어 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English / Chinses / </a:t>
                      </a:r>
                      <a:r>
                        <a:rPr lang="en-US" altLang="ko-KR" sz="1100" kern="1200" baseline="0" dirty="0" err="1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Español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/</a:t>
                      </a:r>
                      <a:r>
                        <a:rPr lang="en-US" altLang="ko-KR" sz="1100" kern="1200" baseline="0" dirty="0" err="1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Tiếng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baseline="0" dirty="0" err="1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Việt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/ Deutsch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190917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검색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검색 화면으로 이동</a:t>
                      </a:r>
                      <a:endParaRPr lang="en-US" altLang="ko-KR" sz="1100" kern="120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433324"/>
                  </a:ext>
                </a:extLst>
              </a:tr>
              <a:tr h="212882">
                <a:tc rowSpan="1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중간 메뉴</a:t>
                      </a: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운임 견적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국제운송 운임 견적 서비스에 대한 설명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157572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공동 운임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공동 운임 제공 서비스에 대한 설명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271541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정보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하위 메뉴 출력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981230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물류 뉴스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물류 뉴스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978670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뉴스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공지 사항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뉴스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공지 사항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880618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물류 용어 사전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물류 용어 사전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434884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 지원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하위 메뉴 출력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439837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문의하기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문의하기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769613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FAQ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FAQ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39635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가이드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이용 가이드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044615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 소개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557157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Platforest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소개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Platfores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소개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077867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소개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소개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05072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파트너십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파트너십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04735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언론 보도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언론보도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65631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이벤트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프로모션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이벤트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프로모션 화면으로 이동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025554"/>
                  </a:ext>
                </a:extLst>
              </a:tr>
              <a:tr h="21288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하단 메뉴</a:t>
                      </a:r>
                      <a:endParaRPr lang="ko-KR" altLang="en-US" sz="13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 메뉴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플랫폼 전체 메뉴를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Spread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하여 제공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926614"/>
                  </a:ext>
                </a:extLst>
              </a:tr>
              <a:tr h="2128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기업 정보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제공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Button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기업 정보 및 이용약관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개인정보처리방침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이메일무단수집거부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표시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36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7879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601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로그인 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5. </a:t>
            </a:r>
            <a:r>
              <a:rPr lang="ko-KR" altLang="en-US" dirty="0"/>
              <a:t>메뉴 구성도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E7DA150-E99E-EECC-2311-851D45C6FABB}"/>
              </a:ext>
            </a:extLst>
          </p:cNvPr>
          <p:cNvGraphicFramePr>
            <a:graphicFrameLocks noGrp="1"/>
          </p:cNvGraphicFramePr>
          <p:nvPr/>
        </p:nvGraphicFramePr>
        <p:xfrm>
          <a:off x="148616" y="699346"/>
          <a:ext cx="9616028" cy="548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83">
                  <a:extLst>
                    <a:ext uri="{9D8B030D-6E8A-4147-A177-3AD203B41FA5}">
                      <a16:colId xmlns:a16="http://schemas.microsoft.com/office/drawing/2014/main" val="3690871553"/>
                    </a:ext>
                  </a:extLst>
                </a:gridCol>
                <a:gridCol w="1187221">
                  <a:extLst>
                    <a:ext uri="{9D8B030D-6E8A-4147-A177-3AD203B41FA5}">
                      <a16:colId xmlns:a16="http://schemas.microsoft.com/office/drawing/2014/main" val="2260689197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1117800617"/>
                    </a:ext>
                  </a:extLst>
                </a:gridCol>
                <a:gridCol w="1182225">
                  <a:extLst>
                    <a:ext uri="{9D8B030D-6E8A-4147-A177-3AD203B41FA5}">
                      <a16:colId xmlns:a16="http://schemas.microsoft.com/office/drawing/2014/main" val="3898417606"/>
                    </a:ext>
                  </a:extLst>
                </a:gridCol>
                <a:gridCol w="4071379">
                  <a:extLst>
                    <a:ext uri="{9D8B030D-6E8A-4147-A177-3AD203B41FA5}">
                      <a16:colId xmlns:a16="http://schemas.microsoft.com/office/drawing/2014/main" val="3417669751"/>
                    </a:ext>
                  </a:extLst>
                </a:gridCol>
              </a:tblGrid>
              <a:tr h="2353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1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2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3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Type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Description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276987"/>
                  </a:ext>
                </a:extLst>
              </a:tr>
              <a:tr h="235334">
                <a:tc rowSpan="2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로그인</a:t>
                      </a: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ID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Input Box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296321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Password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Input Box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136303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로그인 버튼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433324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ID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찾기 버튼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Button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27676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이름 입력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Input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39024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이메일 주소 입력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Input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44055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인증코드 받기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109541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Password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찾기 버튼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Button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646365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이름 입력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Input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663958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이메일 주소 입력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Input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967770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인증코드 받기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590481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회원가입 버튼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Button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157572"/>
                  </a:ext>
                </a:extLst>
              </a:tr>
              <a:tr h="22095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언어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선택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Drop Down List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한국어 </a:t>
                      </a:r>
                      <a:r>
                        <a:rPr lang="en-US" altLang="ko-KR" sz="11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English / Chinses / Español /Tiếng Việt / Deutsch</a:t>
                      </a:r>
                      <a:endParaRPr lang="ko-KR" altLang="en-US" sz="110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271541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개인정보 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처리방침  버튼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Button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981230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History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Drop Down List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207036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PDF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다운로드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303398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확인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246576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서비스 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이용약관 버튼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Button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083786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History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Drop Down List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6679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PDF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다운로드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047920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확인</a:t>
                      </a:r>
                      <a:endParaRPr lang="ko-KR" altLang="en-US" dirty="0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054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7659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2460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회원 가입 메뉴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(1/2)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5. </a:t>
            </a:r>
            <a:r>
              <a:rPr lang="ko-KR" altLang="en-US" dirty="0"/>
              <a:t>메뉴 구성도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E7DA150-E99E-EECC-2311-851D45C6F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06245"/>
              </p:ext>
            </p:extLst>
          </p:nvPr>
        </p:nvGraphicFramePr>
        <p:xfrm>
          <a:off x="148616" y="699346"/>
          <a:ext cx="9615143" cy="436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83">
                  <a:extLst>
                    <a:ext uri="{9D8B030D-6E8A-4147-A177-3AD203B41FA5}">
                      <a16:colId xmlns:a16="http://schemas.microsoft.com/office/drawing/2014/main" val="3690871553"/>
                    </a:ext>
                  </a:extLst>
                </a:gridCol>
                <a:gridCol w="1187221">
                  <a:extLst>
                    <a:ext uri="{9D8B030D-6E8A-4147-A177-3AD203B41FA5}">
                      <a16:colId xmlns:a16="http://schemas.microsoft.com/office/drawing/2014/main" val="2260689197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89971550"/>
                    </a:ext>
                  </a:extLst>
                </a:gridCol>
                <a:gridCol w="1181340">
                  <a:extLst>
                    <a:ext uri="{9D8B030D-6E8A-4147-A177-3AD203B41FA5}">
                      <a16:colId xmlns:a16="http://schemas.microsoft.com/office/drawing/2014/main" val="3898417606"/>
                    </a:ext>
                  </a:extLst>
                </a:gridCol>
                <a:gridCol w="4071379">
                  <a:extLst>
                    <a:ext uri="{9D8B030D-6E8A-4147-A177-3AD203B41FA5}">
                      <a16:colId xmlns:a16="http://schemas.microsoft.com/office/drawing/2014/main" val="3417669751"/>
                    </a:ext>
                  </a:extLst>
                </a:gridCol>
              </a:tblGrid>
              <a:tr h="2353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1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2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3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Type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Description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276987"/>
                  </a:ext>
                </a:extLst>
              </a:tr>
              <a:tr h="235334">
                <a:tc rowSpan="1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기초 정보 입력</a:t>
                      </a: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 소속 국가 및 지역 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Drop Down List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AUSTRALIA / BRAZIL / CHILE / China Mainland / COLOMBIA / EGYPT / GERMANY / HUNGARY / INDIA / KOREA, REPUBLIC OF / MALAYSIA / MEXICO / NETHERLANDS / PANAMA / PERU / PHILIPPINES /  POLAND / SINGAPORE / SLOVAKIA / SWEDEN / THAILAND / TURKIYE / UNITED ARAB EMIRATES / UNITED STATES / VIETNAM</a:t>
                      </a:r>
                      <a:endParaRPr lang="ko-KR" altLang="en-US" sz="1100" kern="120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296321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사업자 번호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Input Box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개인사업자 번호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법인사업자 번호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136303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이메일 주소 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433324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인증 코드 발송 버튼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72423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인증 코드 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Input Box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077408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인증하기 버튼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390462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약관 동의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27676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서비스 이용약관</a:t>
                      </a:r>
                      <a:endParaRPr lang="ko-KR" altLang="en-US" dirty="0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Check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필수 사항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내용 보기를 통해 상세 약관 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Pop-Up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확인 및 동의 가능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39024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필수 개인정보 수집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이용 동의</a:t>
                      </a:r>
                      <a:endParaRPr lang="ko-KR" altLang="en-US" dirty="0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Check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필수 사항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내용 보기를 통해 상세 약관 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Pop-Up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확인 및 동의 가능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44055"/>
                  </a:ext>
                </a:extLst>
              </a:tr>
              <a:tr h="831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선택 개인정보 수집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이용 동의</a:t>
                      </a:r>
                      <a:endParaRPr lang="ko-KR" altLang="en-US" dirty="0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Check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선택 사항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내용 보기를 통해 상세 약관 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Pop-Up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확인 및 동의 가능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309162"/>
                  </a:ext>
                </a:extLst>
              </a:tr>
              <a:tr h="1662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개인정보 제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 제공 동의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Check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필수 사항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내용 보기를 통해 상세 약관 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Pop-Up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확인 및 동의 가능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977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마케팅 정보 제공 동의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Check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선택 사항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내용 보기를 통해 상세 약관 </a:t>
                      </a: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Pop-Up </a:t>
                      </a:r>
                      <a:r>
                        <a:rPr kumimoji="0" lang="ko-KR" alt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확인 및 동의 가능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452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이메일 마케팅 수신 동의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Check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선택 사항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내용 보기를 통해 상세 약관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Pop-Up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확인 및 동의 가능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38362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만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세 이상 동의</a:t>
                      </a:r>
                      <a:endParaRPr lang="ko-KR" altLang="en-US"/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Check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필수 사항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),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내용 보기를 통해 상세 약관 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Pop-Up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확인 및 동의 가능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109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2102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회원 가입 메뉴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(2/2)</a:t>
            </a:r>
            <a:endParaRPr lang="ko-KR" altLang="en-US" sz="2400" b="1" u="sng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5. </a:t>
            </a:r>
            <a:r>
              <a:rPr lang="ko-KR" altLang="en-US" dirty="0"/>
              <a:t>메뉴 구성도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E7DA150-E99E-EECC-2311-851D45C6F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900241"/>
              </p:ext>
            </p:extLst>
          </p:nvPr>
        </p:nvGraphicFramePr>
        <p:xfrm>
          <a:off x="148616" y="699346"/>
          <a:ext cx="9615143" cy="41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83">
                  <a:extLst>
                    <a:ext uri="{9D8B030D-6E8A-4147-A177-3AD203B41FA5}">
                      <a16:colId xmlns:a16="http://schemas.microsoft.com/office/drawing/2014/main" val="3690871553"/>
                    </a:ext>
                  </a:extLst>
                </a:gridCol>
                <a:gridCol w="1187221">
                  <a:extLst>
                    <a:ext uri="{9D8B030D-6E8A-4147-A177-3AD203B41FA5}">
                      <a16:colId xmlns:a16="http://schemas.microsoft.com/office/drawing/2014/main" val="2260689197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89971550"/>
                    </a:ext>
                  </a:extLst>
                </a:gridCol>
                <a:gridCol w="1181340">
                  <a:extLst>
                    <a:ext uri="{9D8B030D-6E8A-4147-A177-3AD203B41FA5}">
                      <a16:colId xmlns:a16="http://schemas.microsoft.com/office/drawing/2014/main" val="3898417606"/>
                    </a:ext>
                  </a:extLst>
                </a:gridCol>
                <a:gridCol w="4071379">
                  <a:extLst>
                    <a:ext uri="{9D8B030D-6E8A-4147-A177-3AD203B41FA5}">
                      <a16:colId xmlns:a16="http://schemas.microsoft.com/office/drawing/2014/main" val="3417669751"/>
                    </a:ext>
                  </a:extLst>
                </a:gridCol>
              </a:tblGrid>
              <a:tr h="2353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1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2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Level 3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Type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Description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276987"/>
                  </a:ext>
                </a:extLst>
              </a:tr>
              <a:tr h="235334">
                <a:tc rowSpan="15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기본 정보 입력</a:t>
                      </a: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ID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Button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ID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입력 값이 중복일 때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값 입력 요청 및 회원 가입 완료 제한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296321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Password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Input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136303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Password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확인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Input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Password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입력 값과 확인 값이 다를 경우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회원 가입 완료 제한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433324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국문 성명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Input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72423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영문 성명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Input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077408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휴대폰 번호 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Input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120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157572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명함 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Input Box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kern="120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699383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 소속 국가 혹은 지역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2000" marR="72000" marT="18000" marB="18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기초 정보 입력 시의 값으로 자동 입력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수정 불가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100" kern="120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87328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사업자 번호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2000" marR="72000" marT="18000" marB="18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</a:t>
                      </a: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기초 정보 입력 시의 값으로 자동 입력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수정 불가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309396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업종 선택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Drop Down List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가구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인테리어자재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산업장비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식음료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소비재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자동차부품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전기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전자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철강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금속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악세서리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화장품미용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화학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제약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물류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기타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267869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온라인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이커머스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판매 여부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Option Box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Yes or No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652630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회사명 국문 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Input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회사명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입력 값이 중복일 때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값 입력 요청 및 회원 가입 완료 제한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690099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회사명 영문 입력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Text Input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회사명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입력 값이 중복일 때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 값 입력 요청 및 회원 가입 완료 제한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76118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예상 물류비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Drop Down List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1,000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만원 이하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1,000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만원 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 5,000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만원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5,000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만원 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~ 1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1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억원 이상</a:t>
                      </a: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537154"/>
                  </a:ext>
                </a:extLst>
              </a:tr>
              <a:tr h="2353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물류 모드</a:t>
                      </a:r>
                    </a:p>
                  </a:txBody>
                  <a:tcPr marL="72000" marR="72000" marT="18000" marB="18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18000" marB="18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Check Box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해운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항공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특송</a:t>
                      </a:r>
                      <a:r>
                        <a:rPr lang="en-US" altLang="ko-KR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>
                          <a:solidFill>
                            <a:srgbClr val="006600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중 중복 선택 가능</a:t>
                      </a:r>
                      <a:endParaRPr lang="en-US" altLang="ko-KR" sz="1100" kern="1200" baseline="0" dirty="0">
                        <a:solidFill>
                          <a:srgbClr val="006600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016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8591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063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홈 화면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5. </a:t>
            </a:r>
            <a:r>
              <a:rPr lang="ko-KR" altLang="en-US" dirty="0"/>
              <a:t>메뉴 구성도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E7DA150-E99E-EECC-2311-851D45C6F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537584"/>
              </p:ext>
            </p:extLst>
          </p:nvPr>
        </p:nvGraphicFramePr>
        <p:xfrm>
          <a:off x="250217" y="770466"/>
          <a:ext cx="9380165" cy="65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033">
                  <a:extLst>
                    <a:ext uri="{9D8B030D-6E8A-4147-A177-3AD203B41FA5}">
                      <a16:colId xmlns:a16="http://schemas.microsoft.com/office/drawing/2014/main" val="60229130"/>
                    </a:ext>
                  </a:extLst>
                </a:gridCol>
                <a:gridCol w="1876033">
                  <a:extLst>
                    <a:ext uri="{9D8B030D-6E8A-4147-A177-3AD203B41FA5}">
                      <a16:colId xmlns:a16="http://schemas.microsoft.com/office/drawing/2014/main" val="3690871553"/>
                    </a:ext>
                  </a:extLst>
                </a:gridCol>
                <a:gridCol w="1876033">
                  <a:extLst>
                    <a:ext uri="{9D8B030D-6E8A-4147-A177-3AD203B41FA5}">
                      <a16:colId xmlns:a16="http://schemas.microsoft.com/office/drawing/2014/main" val="2260689197"/>
                    </a:ext>
                  </a:extLst>
                </a:gridCol>
                <a:gridCol w="1876033">
                  <a:extLst>
                    <a:ext uri="{9D8B030D-6E8A-4147-A177-3AD203B41FA5}">
                      <a16:colId xmlns:a16="http://schemas.microsoft.com/office/drawing/2014/main" val="614678518"/>
                    </a:ext>
                  </a:extLst>
                </a:gridCol>
                <a:gridCol w="1876033">
                  <a:extLst>
                    <a:ext uri="{9D8B030D-6E8A-4147-A177-3AD203B41FA5}">
                      <a16:colId xmlns:a16="http://schemas.microsoft.com/office/drawing/2014/main" val="3417669751"/>
                    </a:ext>
                  </a:extLst>
                </a:gridCol>
              </a:tblGrid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Type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276987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홈 화면</a:t>
                      </a: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로그인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ID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입력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Input Box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296321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Password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입력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Input Box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136303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로그인 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Image Button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433324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ID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찾기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Button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27676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Password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찾기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Button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646365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회원가입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Text Button</a:t>
                      </a:r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157572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회원가입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271541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언어 선택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Korea/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한국어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850819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China/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中文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293845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Europe/English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144167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Singapore/English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906701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USA/English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488557"/>
                  </a:ext>
                </a:extLst>
              </a:tr>
              <a:tr h="27242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Mexico/Español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068805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Vietnam/Tiếng Việt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140149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Indonesia/English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981230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 소개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설명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207036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설명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303398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파트너십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246576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언론 홍보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083786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이벤트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6679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프로모션</a:t>
                      </a: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047920"/>
                  </a:ext>
                </a:extLst>
              </a:tr>
              <a:tr h="186998"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72000" marR="72000" marT="36000" marB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054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88067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E7D223-2D12-35B3-C0B4-A277E7597DE5}"/>
              </a:ext>
            </a:extLst>
          </p:cNvPr>
          <p:cNvSpPr txBox="1"/>
          <p:nvPr/>
        </p:nvSpPr>
        <p:spPr>
          <a:xfrm>
            <a:off x="321013" y="405930"/>
            <a:ext cx="12137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cap="all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Index</a:t>
            </a:r>
            <a:endParaRPr lang="ko-KR" altLang="en-US" sz="3200" b="1" cap="all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9F814B-CE26-21CD-0634-EE3C23F37ACA}"/>
              </a:ext>
            </a:extLst>
          </p:cNvPr>
          <p:cNvCxnSpPr>
            <a:cxnSpLocks/>
          </p:cNvCxnSpPr>
          <p:nvPr/>
        </p:nvCxnSpPr>
        <p:spPr>
          <a:xfrm>
            <a:off x="1534807" y="698318"/>
            <a:ext cx="7996136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3674938-EFDF-82D4-3DB4-D55A81BD786D}"/>
              </a:ext>
            </a:extLst>
          </p:cNvPr>
          <p:cNvSpPr txBox="1"/>
          <p:nvPr/>
        </p:nvSpPr>
        <p:spPr>
          <a:xfrm>
            <a:off x="410135" y="1283093"/>
            <a:ext cx="407675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1. Business Model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2. Business Flowchart (Process)</a:t>
            </a:r>
          </a:p>
          <a:p>
            <a:endParaRPr lang="en-US" altLang="ko-KR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3. UML Diagram (Scenario)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4.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화면 설계 </a:t>
            </a:r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(UI/UX)</a:t>
            </a: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5. </a:t>
            </a:r>
            <a:r>
              <a:rPr lang="ko-KR" altLang="en-US" sz="2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 구성도</a:t>
            </a:r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en-US" altLang="ko-KR" sz="24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en-US" altLang="ko-KR" sz="24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6. ERD</a:t>
            </a:r>
            <a:endParaRPr lang="ko-KR" altLang="en-US" sz="24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84FF3B0-9F04-EB49-46D3-30C135F72B85}"/>
              </a:ext>
            </a:extLst>
          </p:cNvPr>
          <p:cNvSpPr/>
          <p:nvPr/>
        </p:nvSpPr>
        <p:spPr>
          <a:xfrm>
            <a:off x="407972" y="4892214"/>
            <a:ext cx="4166746" cy="58477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06428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0BD911-C382-8E0D-1B55-2138C69F7B8C}"/>
              </a:ext>
            </a:extLst>
          </p:cNvPr>
          <p:cNvSpPr txBox="1"/>
          <p:nvPr/>
        </p:nvSpPr>
        <p:spPr>
          <a:xfrm>
            <a:off x="65521" y="66231"/>
            <a:ext cx="1332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기본</a:t>
            </a:r>
            <a:r>
              <a:rPr lang="en-US" altLang="ko-KR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2400" b="1" u="sng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메뉴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3A67C-701B-DB95-5AD2-8E5B7488D30D}"/>
              </a:ext>
            </a:extLst>
          </p:cNvPr>
          <p:cNvSpPr txBox="1"/>
          <p:nvPr/>
        </p:nvSpPr>
        <p:spPr>
          <a:xfrm>
            <a:off x="6734907" y="42596"/>
            <a:ext cx="3151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6. ERD</a:t>
            </a:r>
          </a:p>
        </p:txBody>
      </p:sp>
    </p:spTree>
    <p:extLst>
      <p:ext uri="{BB962C8B-B14F-4D97-AF65-F5344CB8AC3E}">
        <p14:creationId xmlns:p14="http://schemas.microsoft.com/office/powerpoint/2010/main" val="19350816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E7D223-2D12-35B3-C0B4-A277E7597DE5}"/>
              </a:ext>
            </a:extLst>
          </p:cNvPr>
          <p:cNvSpPr txBox="1"/>
          <p:nvPr/>
        </p:nvSpPr>
        <p:spPr>
          <a:xfrm>
            <a:off x="4290799" y="2998113"/>
            <a:ext cx="132440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cap="all" dirty="0">
                <a:latin typeface="Arial Narrow" panose="020B0606020202030204" pitchFamily="34" charset="0"/>
                <a:ea typeface="맑은 고딕" panose="020B0503020000020004" pitchFamily="50" charset="-127"/>
              </a:rPr>
              <a:t>EOD</a:t>
            </a:r>
            <a:endParaRPr lang="ko-KR" altLang="en-US" sz="5000" b="1" cap="all" dirty="0"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1107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5612</TotalTime>
  <Words>4853</Words>
  <Application>Microsoft Office PowerPoint</Application>
  <PresentationFormat>A4 용지(210x297mm)</PresentationFormat>
  <Paragraphs>1123</Paragraphs>
  <Slides>59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5" baseType="lpstr">
      <vt:lpstr>Calibri Light</vt:lpstr>
      <vt:lpstr>Arial Narrow</vt:lpstr>
      <vt:lpstr>Calibri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안남규(AHN NAM KYU)</dc:creator>
  <cp:lastModifiedBy>안남규(NAM KYU AHN)/전략기획팀</cp:lastModifiedBy>
  <cp:revision>249</cp:revision>
  <cp:lastPrinted>2024-04-05T05:35:16Z</cp:lastPrinted>
  <dcterms:created xsi:type="dcterms:W3CDTF">2023-01-09T03:31:59Z</dcterms:created>
  <dcterms:modified xsi:type="dcterms:W3CDTF">2024-04-11T09:57:40Z</dcterms:modified>
</cp:coreProperties>
</file>